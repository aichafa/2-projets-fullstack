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16"/>
    <p:sldId id="259" r:id="rId5"/>
    <p:sldId id="266" r:id="rId17"/>
    <p:sldId id="260" r:id="rId6"/>
    <p:sldId id="261" r:id="rId7"/>
    <p:sldId id="262" r:id="rId8"/>
    <p:sldId id="267" r:id="rId1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EF3E5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 D U   M A R C H É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Projet Steam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5420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de jeux vidéo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054096"/>
            <a:ext cx="3017520" cy="45720"/>
          </a:xfrm>
          <a:prstGeom prst="rect">
            <a:avLst/>
          </a:prstGeom>
          <a:solidFill>
            <a:srgbClr val="EF3E5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exploratoire pour Ubisoft - Mai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2468880" cy="86868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55 690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720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3977640"/>
            <a:ext cx="2468880" cy="86868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0896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PySpark 4.1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0896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60720" y="3977640"/>
            <a:ext cx="2468880" cy="86868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60720" y="408736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S3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60720" y="4498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données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320040"/>
            <a:ext cx="1783080" cy="1783080"/>
          </a:xfrm>
          <a:prstGeom prst="oval">
            <a:avLst/>
          </a:prstGeom>
          <a:solidFill>
            <a:srgbClr val="14243C"/>
          </a:solidFill>
          <a:ln w="25400">
            <a:solidFill>
              <a:srgbClr val="29A9E0"/>
            </a:solidFill>
            <a:prstDash val="solid"/>
          </a:ln>
        </p:spPr>
        <p:txBody>
          <a:bodyPr/>
          <a:p/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896112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C O N T E X T E   D U   P R O J E T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Ubisoft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3154680"/>
          </a:xfrm>
          <a:prstGeom prst="rect">
            <a:avLst/>
          </a:prstGeom>
          <a:solidFill>
            <a:srgbClr val="1626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840480" cy="64008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 lance un nouveau jeu. Ils ont besoin d'une analyse du marché Steam pour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les tendances actuelles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facteurs de succès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Analyser la concurrence par genre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la stratégie de lancement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154680"/>
          </a:xfrm>
          <a:prstGeom prst="rect">
            <a:avLst/>
          </a:prstGeom>
          <a:solidFill>
            <a:srgbClr val="16263F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4023360" cy="64008"/>
          </a:xfrm>
          <a:prstGeom prst="rect">
            <a:avLst/>
          </a:prstGeom>
          <a:solidFill>
            <a:srgbClr val="F2C71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4.1.0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313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distribué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26609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PySpark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9169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Python pour Spark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3264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des données JSON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4123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 et Visualisations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: s3://full-stack-bigdata-datasets/Big_Data/Project_Steam/steam_game_output.json  |  55 690 jeux  |  JSON imbriqué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 M A C R O   -   1 / 5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 domine le marché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587752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9544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31336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53128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7368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7492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1614145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Laush Studio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965960" y="1659865"/>
            <a:ext cx="783458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9" name="Text 17"/>
          <p:cNvSpPr/>
          <p:nvPr/>
        </p:nvSpPr>
        <p:spPr>
          <a:xfrm>
            <a:off x="2813426" y="1614145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1879321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65960" y="1925041"/>
            <a:ext cx="789676" cy="145847"/>
          </a:xfrm>
          <a:prstGeom prst="rect">
            <a:avLst/>
          </a:prstGeom>
          <a:solidFill>
            <a:srgbClr val="F2C719"/>
          </a:solidFill>
          <a:ln/>
        </p:spPr>
      </p:sp>
      <p:sp>
        <p:nvSpPr>
          <p:cNvPr id="22" name="Text 20"/>
          <p:cNvSpPr/>
          <p:nvPr/>
        </p:nvSpPr>
        <p:spPr>
          <a:xfrm>
            <a:off x="2819644" y="1879321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144497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Sekai Project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65960" y="2190217"/>
            <a:ext cx="820765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5" name="Text 23"/>
          <p:cNvSpPr/>
          <p:nvPr/>
        </p:nvSpPr>
        <p:spPr>
          <a:xfrm>
            <a:off x="2850733" y="2144497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2409673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HH-Games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965960" y="2455393"/>
            <a:ext cx="820765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8" name="Text 26"/>
          <p:cNvSpPr/>
          <p:nvPr/>
        </p:nvSpPr>
        <p:spPr>
          <a:xfrm>
            <a:off x="2850733" y="2409673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2674849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of Games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965960" y="2720569"/>
            <a:ext cx="870509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2900477" y="2674849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2940025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Enix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65960" y="2985745"/>
            <a:ext cx="876727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4" name="Text 32"/>
          <p:cNvSpPr/>
          <p:nvPr/>
        </p:nvSpPr>
        <p:spPr>
          <a:xfrm>
            <a:off x="2906695" y="2940025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3205201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First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965960" y="3250921"/>
            <a:ext cx="938906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7" name="Text 35"/>
          <p:cNvSpPr/>
          <p:nvPr/>
        </p:nvSpPr>
        <p:spPr>
          <a:xfrm>
            <a:off x="2968874" y="3205201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48640" y="3470377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SEGA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965960" y="3516097"/>
            <a:ext cx="1025957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40" name="Text 38"/>
          <p:cNvSpPr/>
          <p:nvPr/>
        </p:nvSpPr>
        <p:spPr>
          <a:xfrm>
            <a:off x="3055925" y="3470377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8640" y="3735553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8floor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965960" y="3781273"/>
            <a:ext cx="1256020" cy="145847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43" name="Text 41"/>
          <p:cNvSpPr/>
          <p:nvPr/>
        </p:nvSpPr>
        <p:spPr>
          <a:xfrm>
            <a:off x="3285988" y="3735553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" y="4000729"/>
            <a:ext cx="13716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Fish Games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965960" y="4046449"/>
            <a:ext cx="2623962" cy="145847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46" name="Text 44"/>
          <p:cNvSpPr/>
          <p:nvPr/>
        </p:nvSpPr>
        <p:spPr>
          <a:xfrm>
            <a:off x="4653930" y="4000729"/>
            <a:ext cx="914400" cy="237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06440" y="1371600"/>
            <a:ext cx="2880360" cy="1371600"/>
          </a:xfrm>
          <a:prstGeom prst="roundRect">
            <a:avLst>
              <a:gd name="adj" fmla="val 3333"/>
            </a:avLst>
          </a:prstGeom>
          <a:solidFill>
            <a:srgbClr val="14243C"/>
          </a:solidFill>
          <a:ln w="19050">
            <a:solidFill>
              <a:srgbClr val="EF3E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71032" y="14904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Numéro 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71032" y="177393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Fish Games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971032" y="213969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422 jeux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06440" y="2926080"/>
            <a:ext cx="2880360" cy="1371600"/>
          </a:xfrm>
          <a:prstGeom prst="roundRect">
            <a:avLst>
              <a:gd name="adj" fmla="val 3333"/>
            </a:avLst>
          </a:prstGeom>
          <a:solidFill>
            <a:srgbClr val="14243C"/>
          </a:solidFill>
          <a:ln w="19050">
            <a:solidFill>
              <a:srgbClr val="F2C71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71032" y="304495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971032" y="33284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9ème éditeur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971032" y="369417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jeux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marché très fragmenté. Aucun éditeur ne domine massivement. Opportunité pour Ubisoft.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 M A C R O   -   3 / 5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L'explosion du marché gaming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4251960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1513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3712464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611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68680" y="3172968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0723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2633472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532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68680" y="2093976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99339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68680" y="1554480"/>
            <a:ext cx="49834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4538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flipH="1">
            <a:off x="868680" y="4225525"/>
            <a:ext cx="332232" cy="9981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>
            <a:off x="1200912" y="4209070"/>
            <a:ext cx="332232" cy="16455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533144" y="4168068"/>
            <a:ext cx="332232" cy="41002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5376" y="4168068"/>
            <a:ext cx="332232" cy="6204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7608" y="4174273"/>
            <a:ext cx="332232" cy="5665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2529840" y="4158897"/>
            <a:ext cx="332232" cy="21040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2862072" y="4124909"/>
            <a:ext cx="332232" cy="33988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3194304" y="3831962"/>
            <a:ext cx="332232" cy="292946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3526536" y="3557359"/>
            <a:ext cx="332232" cy="274603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3858768" y="3123065"/>
            <a:ext cx="332232" cy="434294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4191000" y="2628886"/>
            <a:ext cx="332232" cy="494178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4523232" y="2180835"/>
            <a:ext cx="332232" cy="448051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55464" y="2180835"/>
            <a:ext cx="332232" cy="191521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5187696" y="2011703"/>
            <a:ext cx="332232" cy="360653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5519928" y="1871973"/>
            <a:ext cx="332232" cy="139729"/>
          </a:xfrm>
          <a:prstGeom prst="line">
            <a:avLst/>
          </a:prstGeom>
          <a:noFill/>
          <a:ln w="31750">
            <a:solidFill>
              <a:srgbClr val="29A9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532" y="419435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159764" y="418437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5" name="Shape 33"/>
          <p:cNvSpPr/>
          <p:nvPr/>
        </p:nvSpPr>
        <p:spPr>
          <a:xfrm>
            <a:off x="1491996" y="4167922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6" name="Text 34"/>
          <p:cNvSpPr/>
          <p:nvPr/>
        </p:nvSpPr>
        <p:spPr>
          <a:xfrm>
            <a:off x="1213104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4228" y="4126920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8" name="Shape 36"/>
          <p:cNvSpPr/>
          <p:nvPr/>
        </p:nvSpPr>
        <p:spPr>
          <a:xfrm>
            <a:off x="2156460" y="4133125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39" name="Text 37"/>
          <p:cNvSpPr/>
          <p:nvPr/>
        </p:nvSpPr>
        <p:spPr>
          <a:xfrm>
            <a:off x="1877568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8692" y="4138789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1" name="Shape 39"/>
          <p:cNvSpPr/>
          <p:nvPr/>
        </p:nvSpPr>
        <p:spPr>
          <a:xfrm>
            <a:off x="2820924" y="4117749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2" name="Text 40"/>
          <p:cNvSpPr/>
          <p:nvPr/>
        </p:nvSpPr>
        <p:spPr>
          <a:xfrm>
            <a:off x="2542032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153156" y="4083761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4" name="Shape 42"/>
          <p:cNvSpPr/>
          <p:nvPr/>
        </p:nvSpPr>
        <p:spPr>
          <a:xfrm>
            <a:off x="3485388" y="3790814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5" name="Text 43"/>
          <p:cNvSpPr/>
          <p:nvPr/>
        </p:nvSpPr>
        <p:spPr>
          <a:xfrm>
            <a:off x="3206496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817620" y="3516211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7" name="Shape 45"/>
          <p:cNvSpPr/>
          <p:nvPr/>
        </p:nvSpPr>
        <p:spPr>
          <a:xfrm>
            <a:off x="4149852" y="308191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48" name="Text 46"/>
          <p:cNvSpPr/>
          <p:nvPr/>
        </p:nvSpPr>
        <p:spPr>
          <a:xfrm>
            <a:off x="3870960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482084" y="2587738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0" name="Shape 48"/>
          <p:cNvSpPr/>
          <p:nvPr/>
        </p:nvSpPr>
        <p:spPr>
          <a:xfrm>
            <a:off x="4814316" y="2139687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1" name="Text 49"/>
          <p:cNvSpPr/>
          <p:nvPr/>
        </p:nvSpPr>
        <p:spPr>
          <a:xfrm>
            <a:off x="4535424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146548" y="2331208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3" name="Text 51"/>
          <p:cNvSpPr/>
          <p:nvPr/>
        </p:nvSpPr>
        <p:spPr>
          <a:xfrm>
            <a:off x="4867656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78780" y="1970555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5" name="Text 53"/>
          <p:cNvSpPr/>
          <p:nvPr/>
        </p:nvSpPr>
        <p:spPr>
          <a:xfrm>
            <a:off x="5199888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811012" y="1830825"/>
            <a:ext cx="82296" cy="82296"/>
          </a:xfrm>
          <a:prstGeom prst="oval">
            <a:avLst/>
          </a:prstGeom>
          <a:solidFill>
            <a:srgbClr val="29A9E0"/>
          </a:solidFill>
          <a:ln/>
        </p:spPr>
      </p:sp>
      <p:sp>
        <p:nvSpPr>
          <p:cNvPr id="57" name="Text 55"/>
          <p:cNvSpPr/>
          <p:nvPr/>
        </p:nvSpPr>
        <p:spPr>
          <a:xfrm>
            <a:off x="5532120" y="430682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26480" y="1371600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14243C"/>
          </a:solidFill>
          <a:ln w="19050">
            <a:solidFill>
              <a:srgbClr val="29A9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91072" y="1554480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6291072" y="1920240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2 575 jeux - Steam Greenlight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26480" y="2450592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14243C"/>
          </a:solidFill>
          <a:ln w="19050">
            <a:solidFill>
              <a:srgbClr val="F2C71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1072" y="2633472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6291072" y="2999232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8 305 jeux - COVID = boom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3529584"/>
            <a:ext cx="2560320" cy="960120"/>
          </a:xfrm>
          <a:prstGeom prst="roundRect">
            <a:avLst>
              <a:gd name="adj" fmla="val 4762"/>
            </a:avLst>
          </a:prstGeom>
          <a:solidFill>
            <a:srgbClr val="14243C"/>
          </a:solidFill>
          <a:ln w="19050">
            <a:solidFill>
              <a:srgbClr val="EF3E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91072" y="371246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6291072" y="4078224"/>
            <a:ext cx="22311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8 823 jeux - Record historique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la COVID en 2020 n'a pas freiné les sorties, au contraire +19% vs 2019. Le marché est en croissance continue.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 M A C R O   -   5 / 5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Langues et Âge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langues (chiffres réels)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754880" cy="2880360"/>
          </a:xfrm>
          <a:prstGeom prst="roundRect">
            <a:avLst>
              <a:gd name="adj" fmla="val 1905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884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0228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652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20 000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5572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996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40 000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0" cy="219456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60 000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1905218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Japanese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48840" y="1950938"/>
            <a:ext cx="442423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6" name="Text 14"/>
          <p:cNvSpPr/>
          <p:nvPr/>
        </p:nvSpPr>
        <p:spPr>
          <a:xfrm>
            <a:off x="2655271" y="1905218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10 368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244852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 - Spain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48840" y="2290572"/>
            <a:ext cx="522007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19" name="Text 17"/>
          <p:cNvSpPr/>
          <p:nvPr/>
        </p:nvSpPr>
        <p:spPr>
          <a:xfrm>
            <a:off x="2734855" y="2244852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12 233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584486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Chinese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48840" y="2630206"/>
            <a:ext cx="545434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2" name="Text 20"/>
          <p:cNvSpPr/>
          <p:nvPr/>
        </p:nvSpPr>
        <p:spPr>
          <a:xfrm>
            <a:off x="2758282" y="2584486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12 782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924121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148840" y="2969841"/>
            <a:ext cx="551408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5" name="Text 23"/>
          <p:cNvSpPr/>
          <p:nvPr/>
        </p:nvSpPr>
        <p:spPr>
          <a:xfrm>
            <a:off x="2764256" y="2924121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12 922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263755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French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48840" y="3309475"/>
            <a:ext cx="572914" cy="186799"/>
          </a:xfrm>
          <a:prstGeom prst="rect">
            <a:avLst/>
          </a:prstGeom>
          <a:solidFill>
            <a:srgbClr val="47B25B"/>
          </a:solidFill>
          <a:ln/>
        </p:spPr>
      </p:sp>
      <p:sp>
        <p:nvSpPr>
          <p:cNvPr id="28" name="Text 26"/>
          <p:cNvSpPr/>
          <p:nvPr/>
        </p:nvSpPr>
        <p:spPr>
          <a:xfrm>
            <a:off x="2785762" y="3263755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13 426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3603389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148840" y="3649109"/>
            <a:ext cx="598219" cy="186799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2811067" y="3603389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14 019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943023"/>
            <a:ext cx="155448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148840" y="3988743"/>
            <a:ext cx="2351910" cy="186799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34" name="Text 32"/>
          <p:cNvSpPr/>
          <p:nvPr/>
        </p:nvSpPr>
        <p:spPr>
          <a:xfrm>
            <a:off x="4564758" y="3943023"/>
            <a:ext cx="914400" cy="27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55 116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068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Restrictions d'âge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40680" y="1645920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29A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publics (âge 0)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577840" y="1975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55 029 jeux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175564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98.8%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5440680" y="2386584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F2C71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24597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 15+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577840" y="2715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264 jeux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249631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2C7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0.47%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5440680" y="3127248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EF3E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 18+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77840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223 jeux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323697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F3E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0.40%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5440680" y="3867912"/>
            <a:ext cx="3246120" cy="640080"/>
          </a:xfrm>
          <a:prstGeom prst="roundRect">
            <a:avLst>
              <a:gd name="adj" fmla="val 5714"/>
            </a:avLst>
          </a:prstGeom>
          <a:solidFill>
            <a:srgbClr val="14243C"/>
          </a:solidFill>
          <a:ln w="15240">
            <a:solidFill>
              <a:srgbClr val="C2C7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3941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 restrictions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77840" y="41970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 jeux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3977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2C7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0.31%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German est 2ème (14 019), French est 3ème (13 426). 98.8% des jeux sont accessibles à tous.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 D E S   G E N R E S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Quels genres dominent 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96596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60020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37744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15468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20 000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3192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30 000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74920" y="1554480"/>
            <a:ext cx="0" cy="2468880"/>
          </a:xfrm>
          <a:prstGeom prst="line">
            <a:avLst/>
          </a:prstGeom>
          <a:noFill/>
          <a:ln w="6350">
            <a:solidFill>
              <a:srgbClr val="2A3A5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09160" y="42336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40 000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1639715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65960" y="1685435"/>
            <a:ext cx="741021" cy="208353"/>
          </a:xfrm>
          <a:prstGeom prst="rect">
            <a:avLst/>
          </a:prstGeom>
          <a:solidFill>
            <a:srgbClr val="29A9E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70989" y="1639715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9 534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018538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65960" y="2064258"/>
            <a:ext cx="842217" cy="208353"/>
          </a:xfrm>
          <a:prstGeom prst="rect">
            <a:avLst/>
          </a:prstGeom>
          <a:solidFill>
            <a:srgbClr val="29A9E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872185" y="2018538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10 836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397361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965960" y="2443081"/>
            <a:ext cx="846803" cy="208353"/>
          </a:xfrm>
          <a:prstGeom prst="rect">
            <a:avLst/>
          </a:prstGeom>
          <a:solidFill>
            <a:srgbClr val="29A9E0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876771" y="2397361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10 895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776184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965960" y="2821904"/>
            <a:ext cx="1665703" cy="208353"/>
          </a:xfrm>
          <a:prstGeom prst="rect">
            <a:avLst/>
          </a:prstGeom>
          <a:solidFill>
            <a:srgbClr val="29A9E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95671" y="2776184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21 431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155007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Casual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965960" y="3200727"/>
            <a:ext cx="1716612" cy="208353"/>
          </a:xfrm>
          <a:prstGeom prst="rect">
            <a:avLst/>
          </a:prstGeom>
          <a:solidFill>
            <a:srgbClr val="29A9E0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46580" y="3155007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22 086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533829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65960" y="3579549"/>
            <a:ext cx="1846645" cy="208353"/>
          </a:xfrm>
          <a:prstGeom prst="rect">
            <a:avLst/>
          </a:prstGeom>
          <a:solidFill>
            <a:srgbClr val="29A9E0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876613" y="3533829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23 759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912652"/>
            <a:ext cx="13716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965960" y="3958372"/>
            <a:ext cx="3084166" cy="208353"/>
          </a:xfrm>
          <a:prstGeom prst="rect">
            <a:avLst/>
          </a:prstGeom>
          <a:solidFill>
            <a:srgbClr val="EF3E5C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114134" y="3912652"/>
            <a:ext cx="914400" cy="299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39 681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806440" y="1371600"/>
            <a:ext cx="288036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EF3E5C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71032" y="14904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 : saturé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71032" y="177393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39 681 jeux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71032" y="213969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très concurrentiel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06440" y="2478024"/>
            <a:ext cx="288036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F2C719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71032" y="259689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: lucratif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71032" y="2880360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 milliards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71032" y="3246120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Propriétaires cumulés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06440" y="3584448"/>
            <a:ext cx="288036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47B2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71032" y="3703320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B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 ratio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971032" y="39867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 82%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971032" y="4352544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Dev et Web Publishing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2C7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 : miser sur Action/Adventure - genre porteur avec fort potentiel de ventes et bon ratio d'avis.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A N A L Y S E   D E S   P L A T E F O R M E S   -   1 / 2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Windows règne en maître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3154680"/>
          </a:xfrm>
          <a:prstGeom prst="roundRect">
            <a:avLst>
              <a:gd name="adj" fmla="val 1739"/>
            </a:avLst>
          </a:prstGeom>
          <a:solidFill>
            <a:srgbClr val="16263F"/>
          </a:solidFill>
          <a:ln w="12700">
            <a:solidFill>
              <a:srgbClr val="2434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416052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0599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372618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36255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10 000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60120" y="329184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1912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20 000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60120" y="285750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275691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30 000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60120" y="242316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3225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40 000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0120" y="198882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" y="18882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50 000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60120" y="1554480"/>
            <a:ext cx="4297680" cy="0"/>
          </a:xfrm>
          <a:prstGeom prst="line">
            <a:avLst/>
          </a:prstGeom>
          <a:noFill/>
          <a:ln w="6350">
            <a:solidFill>
              <a:srgbClr val="2336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1453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60 000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383030" y="1742332"/>
            <a:ext cx="868680" cy="2418188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1154430" y="14497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55 675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443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74620" y="3605911"/>
            <a:ext cx="868680" cy="554609"/>
          </a:xfrm>
          <a:prstGeom prst="rect">
            <a:avLst/>
          </a:prstGeom>
          <a:solidFill>
            <a:srgbClr val="C2C7CE"/>
          </a:solidFill>
          <a:ln/>
        </p:spPr>
      </p:sp>
      <p:sp>
        <p:nvSpPr>
          <p:cNvPr id="23" name="Text 21"/>
          <p:cNvSpPr/>
          <p:nvPr/>
        </p:nvSpPr>
        <p:spPr>
          <a:xfrm>
            <a:off x="2446020" y="3313303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12 769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4602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66210" y="3793199"/>
            <a:ext cx="868680" cy="367321"/>
          </a:xfrm>
          <a:prstGeom prst="rect">
            <a:avLst/>
          </a:prstGeom>
          <a:solidFill>
            <a:srgbClr val="717987"/>
          </a:solidFill>
          <a:ln/>
        </p:spPr>
      </p:sp>
      <p:sp>
        <p:nvSpPr>
          <p:cNvPr id="26" name="Text 24"/>
          <p:cNvSpPr/>
          <p:nvPr/>
        </p:nvSpPr>
        <p:spPr>
          <a:xfrm>
            <a:off x="3737610" y="3500591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8 457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37610" y="421538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23560" y="1371600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29A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1490472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88152" y="1773936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 100%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88152" y="2139696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jeux Steam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23560" y="2478024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C2C7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25968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88152" y="2880360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788152" y="324612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jeux Steam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3584448"/>
            <a:ext cx="3063240" cy="1051560"/>
          </a:xfrm>
          <a:prstGeom prst="roundRect">
            <a:avLst>
              <a:gd name="adj" fmla="val 4348"/>
            </a:avLst>
          </a:prstGeom>
          <a:solidFill>
            <a:srgbClr val="14243C"/>
          </a:solidFill>
          <a:ln w="19050">
            <a:solidFill>
              <a:srgbClr val="71798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88152" y="3703320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79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88152" y="3986784"/>
            <a:ext cx="2734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788152" y="4352544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jeux Steam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: Windows incontournable (près de 100%). Mac (23%) = différenciation possible. Linux (15%) = niche fidélisée.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R E C O M M A N D A T I O N S   F I N A L E S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Stratégie pour Ubisoft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EF3E5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21792" y="1536192"/>
            <a:ext cx="566928" cy="457200"/>
          </a:xfrm>
          <a:prstGeom prst="rect">
            <a:avLst/>
          </a:prstGeom>
          <a:solidFill>
            <a:srgbClr val="EF3E5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21792" y="15361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: Action / Adventure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plus lucratif : environ 2,9 milliards de propriétaires.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 ratio d'avis (environ 80%).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potentiel pour une nouvelle IP Ubisoft.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29A9E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828032" y="1536192"/>
            <a:ext cx="566928" cy="457200"/>
          </a:xfrm>
          <a:prstGeom prst="rect">
            <a:avLst/>
          </a:prstGeom>
          <a:solidFill>
            <a:srgbClr val="29A9E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28032" y="153619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 : Windows + Mac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32120" y="19385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(près de 100%) est prioritaire.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 (23%) recommandé pour se différencier.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(15%) optionnel.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F2C71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" y="3182112"/>
            <a:ext cx="566928" cy="457200"/>
          </a:xfrm>
          <a:prstGeom prst="rect">
            <a:avLst/>
          </a:prstGeom>
          <a:solidFill>
            <a:srgbClr val="F2C71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792" y="31821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Prix : Entre 10 et 20 euros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5844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sz="950">
                <a:solidFill>
                  <a:srgbClr val="D7DCE6"/>
                </a:solidFill>
                <a:latin typeface="Arial"/>
              </a:rPr>
              <a:t>Le marché se concentre sous 10 euros (médiane 5,99 €).</a:t>
            </a:r>
            <a:endParaRPr lang="en-US" sz="950" dirty="0"/>
          </a:p>
          <a:p>
            <a:r>
              <a:rPr sz="950">
                <a:solidFill>
                  <a:srgbClr val="D7DCE6"/>
                </a:solidFill>
                <a:latin typeface="Arial"/>
              </a:rPr>
              <a:t>Se positionner juste au-dessus du segment saturé,</a:t>
            </a:r>
          </a:p>
          <a:p>
            <a:r>
              <a:rPr sz="950">
                <a:solidFill>
                  <a:srgbClr val="D7DCE6"/>
                </a:solidFill>
                <a:latin typeface="Arial"/>
              </a:rPr>
              <a:t>tout en restant sous 20 euros comme 93 % des jeux.</a:t>
            </a:r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508760"/>
          </a:xfrm>
          <a:prstGeom prst="rect">
            <a:avLst/>
          </a:prstGeom>
          <a:solidFill>
            <a:srgbClr val="16263F"/>
          </a:solidFill>
          <a:ln w="19050">
            <a:solidFill>
              <a:srgbClr val="47B25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28032" y="3182112"/>
            <a:ext cx="566928" cy="457200"/>
          </a:xfrm>
          <a:prstGeom prst="rect">
            <a:avLst/>
          </a:prstGeom>
          <a:solidFill>
            <a:srgbClr val="47B25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28032" y="31821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Langues : EN + DE + FR + RU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35844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Anglais obligatoire.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Allemand 2ème langue (14k jeux).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7DC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Français 3ème (13k). Russe 4ème (12k).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3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Ubisoft a toutes les cartes en main pour réussir son prochain lancement sur Steam.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F3E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9A9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29A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P R O J E T   S T E A M   -   A N A L Y S E   E D A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Merci !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55 690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Jeux analysés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56032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macro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6344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genres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423160"/>
            <a:ext cx="1874520" cy="1143000"/>
          </a:xfrm>
          <a:prstGeom prst="rect">
            <a:avLst/>
          </a:prstGeom>
          <a:solidFill>
            <a:srgbClr val="14243C"/>
          </a:solidFill>
          <a:ln w="15875">
            <a:solidFill>
              <a:srgbClr val="29A9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53288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A9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76656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 plateformes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 avec PySpark 4.1 sur Databricks - Données Steam via AWS S3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3E5C"/>
                </a:solidFill>
                <a:latin typeface="Arial"/>
              </a:rPr>
              <a:t>A N A L Y S E   M A C R O   -   2 / 5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Les jeux les mieux notés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9A9E0"/>
                </a:solidFill>
                <a:latin typeface="Arial"/>
              </a:rPr>
              <a:t>Top des ratios d'avis positifs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754880" cy="288036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 w="12700">
            <a:solidFill>
              <a:srgbClr val="243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9A9E0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836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Secret Sealing Travel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88366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3B2"/>
                </a:solidFill>
                <a:latin typeface="Arial"/>
              </a:rPr>
              <a:t>218 avis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1343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9A9E0"/>
                </a:solidFill>
                <a:latin typeface="Arial Black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1343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Elasto Mania Remastered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31343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3B2"/>
                </a:solidFill>
                <a:latin typeface="Arial"/>
              </a:rPr>
              <a:t>190 avis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9A9E0"/>
                </a:solidFill>
                <a:latin typeface="Arial Blac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Freshly Frosted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4320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3B2"/>
                </a:solidFill>
                <a:latin typeface="Arial"/>
              </a:rPr>
              <a:t>157 avis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7296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9A9E0"/>
                </a:solidFill>
                <a:latin typeface="Arial Black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7296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FIND ALL 2: Middle 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729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3B2"/>
                </a:solidFill>
                <a:latin typeface="Arial"/>
              </a:rPr>
              <a:t>132 avis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02735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9A9E0"/>
                </a:solidFill>
                <a:latin typeface="Arial Black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602735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Phantasmagoria of Flower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02735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3B2"/>
                </a:solidFill>
                <a:latin typeface="Arial"/>
              </a:rPr>
              <a:t>119 avis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032503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9A9E0"/>
                </a:solidFill>
                <a:latin typeface="Arial Black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32503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Lucy Dreaming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032503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A3B2"/>
                </a:solidFill>
                <a:latin typeface="Arial"/>
              </a:rPr>
              <a:t>118 avis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0680" y="1645920"/>
            <a:ext cx="3246120" cy="896112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29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1805940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9A9E0"/>
                </a:solidFill>
                <a:latin typeface="Arial"/>
              </a:rPr>
              <a:t>Ratio parfait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2061972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6 jeux affichent 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84251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29A9E0"/>
                </a:solidFill>
                <a:latin typeface="Arial Black"/>
              </a:rPr>
              <a:t>100%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2633472"/>
            <a:ext cx="3246120" cy="896112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F2C7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2793491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2C719"/>
                </a:solidFill>
                <a:latin typeface="Arial"/>
              </a:rPr>
              <a:t>Seuil retenu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3049524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Avis minimum par jeu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83006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F2C719"/>
                </a:solidFill>
                <a:latin typeface="Arial Black"/>
              </a:rPr>
              <a:t>100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3621024"/>
            <a:ext cx="3246120" cy="905256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EF3E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86984" y="3730752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F3E5C"/>
                </a:solidFill>
                <a:latin typeface="Arial"/>
              </a:rPr>
              <a:t>À retenir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86984" y="4005072"/>
            <a:ext cx="295351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D7DCE6"/>
                </a:solidFill>
                <a:latin typeface="Arial"/>
              </a:rPr>
              <a:t>Un excellent ratio traduit un petit public conquis, pas un succès commercial.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F3E5C"/>
                </a:solidFill>
                <a:latin typeface="Arial"/>
              </a:rPr>
              <a:t>Insight : les mieux notés sont de petits jeux au public restreint mais conquis. Un excellent ratio d'avis ne signale pas un succès commercial.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F3E5C"/>
                </a:solidFill>
                <a:latin typeface="Arial"/>
              </a:rPr>
              <a:t>A N A L Y S E   M A C R O   -   4 / 5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La distribution des prix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9A9E0"/>
                </a:solidFill>
                <a:latin typeface="Arial"/>
              </a:rPr>
              <a:t>Jeux payants par tranche de prix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754880" cy="288036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 w="12700">
            <a:solidFill>
              <a:srgbClr val="243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94767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Moins de 5 €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984248"/>
            <a:ext cx="2240280" cy="201168"/>
          </a:xfrm>
          <a:prstGeom prst="rect">
            <a:avLst/>
          </a:prstGeom>
          <a:solidFill>
            <a:srgbClr val="EF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7952" y="19476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7DCE6"/>
                </a:solidFill>
                <a:latin typeface="Arial"/>
              </a:rPr>
              <a:t>48,2 %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5973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5 à 10 €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19" y="2496312"/>
            <a:ext cx="1134083" cy="201168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755" y="24597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7DCE6"/>
                </a:solidFill>
                <a:latin typeface="Arial"/>
              </a:rPr>
              <a:t>24,4 %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7180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10 à 20 €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3008376"/>
            <a:ext cx="966759" cy="201168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4431" y="29718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7DCE6"/>
                </a:solidFill>
                <a:latin typeface="Arial"/>
              </a:rPr>
              <a:t>20,8 %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8386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20 à 50 €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19" y="3520440"/>
            <a:ext cx="264929" cy="201168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601" y="34838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7DCE6"/>
                </a:solidFill>
                <a:latin typeface="Arial"/>
              </a:rPr>
              <a:t>5,7 %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9959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50 € et plus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4032504"/>
            <a:ext cx="41830" cy="201168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89502" y="399592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D7DCE6"/>
                </a:solidFill>
                <a:latin typeface="Arial"/>
              </a:rPr>
              <a:t>0,9 %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1645920"/>
            <a:ext cx="3246120" cy="640080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29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677924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9A9E0"/>
                </a:solidFill>
                <a:latin typeface="Arial"/>
              </a:rPr>
              <a:t>Prix médian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1933956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Moitié des jeux en dessous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71450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29A9E0"/>
                </a:solidFill>
                <a:latin typeface="Arial Black"/>
              </a:rPr>
              <a:t>5,99 €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2386584"/>
            <a:ext cx="3246120" cy="640080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29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418588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9A9E0"/>
                </a:solidFill>
                <a:latin typeface="Arial"/>
              </a:rPr>
              <a:t>Prix moyen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674620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Tiré par de rares gros prix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455164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29A9E0"/>
                </a:solidFill>
                <a:latin typeface="Arial Black"/>
              </a:rPr>
              <a:t>9,37 €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3127248"/>
            <a:ext cx="3246120" cy="640080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F2C7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159252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2C719"/>
                </a:solidFill>
                <a:latin typeface="Arial"/>
              </a:rPr>
              <a:t>Sous 10 €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415284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La majorité du marché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19582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F2C719"/>
                </a:solidFill>
                <a:latin typeface="Arial Black"/>
              </a:rPr>
              <a:t>72,6 %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40680" y="3867912"/>
            <a:ext cx="3246120" cy="640080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47B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899916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7B25B"/>
                </a:solidFill>
                <a:latin typeface="Arial"/>
              </a:rPr>
              <a:t>Sous 20 €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4155948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Quasi tout le catalogue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936492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7B25B"/>
                </a:solidFill>
                <a:latin typeface="Arial Black"/>
              </a:rPr>
              <a:t>93,4 %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EF3E5C"/>
                </a:solidFill>
                <a:latin typeface="Arial"/>
              </a:rPr>
              <a:t>Insight : le marché se concentre sous 10 euros (médiane 5,99 €). Un positionnement 10-20 € situe une IP majeure au-dessus du segment saturé, sans quitter les 93 % du marché.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9A9E0"/>
                </a:solidFill>
                <a:latin typeface="Arial"/>
              </a:rPr>
              <a:t>A N A L Y S E   D E S   P L A T E F O R M E S   -   2 / 2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502920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Mac et Linux selon le genre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9A9E0"/>
                </a:solidFill>
                <a:latin typeface="Arial"/>
              </a:rPr>
              <a:t>Part des jeux compatibles (%)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754880" cy="2880360"/>
          </a:xfrm>
          <a:prstGeom prst="roundRect">
            <a:avLst>
              <a:gd name="adj" fmla="val 5000"/>
            </a:avLst>
          </a:prstGeom>
          <a:solidFill>
            <a:srgbClr val="16263F"/>
          </a:solidFill>
          <a:ln w="12700">
            <a:solidFill>
              <a:srgbClr val="243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88366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Game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865376"/>
            <a:ext cx="2219913" cy="141732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0737" y="183794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33 %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2052828"/>
            <a:ext cx="1493520" cy="141732"/>
          </a:xfrm>
          <a:prstGeom prst="rect">
            <a:avLst/>
          </a:prstGeom>
          <a:solidFill>
            <a:srgbClr val="47B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4344" y="2025395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22 %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5915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340864"/>
            <a:ext cx="1873688" cy="141732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4512" y="231343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28 %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528316"/>
            <a:ext cx="1140506" cy="141732"/>
          </a:xfrm>
          <a:prstGeom prst="rect">
            <a:avLst/>
          </a:prstGeom>
          <a:solidFill>
            <a:srgbClr val="47B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1330" y="2500884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17 %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834640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Indie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65960" y="2816352"/>
            <a:ext cx="1697181" cy="141732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8005" y="278892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25 %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003804"/>
            <a:ext cx="1194816" cy="141732"/>
          </a:xfrm>
          <a:prstGeom prst="rect">
            <a:avLst/>
          </a:prstGeom>
          <a:solidFill>
            <a:srgbClr val="47B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5640" y="2976372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18 %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31012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Adventure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3291840"/>
            <a:ext cx="1595350" cy="141732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6174" y="326440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24 %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3479292"/>
            <a:ext cx="1045464" cy="141732"/>
          </a:xfrm>
          <a:prstGeom prst="rect">
            <a:avLst/>
          </a:prstGeom>
          <a:solidFill>
            <a:srgbClr val="47B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6288" y="345186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15 %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785615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3767328"/>
            <a:ext cx="1303435" cy="141732"/>
          </a:xfrm>
          <a:prstGeom prst="rect">
            <a:avLst/>
          </a:prstGeom>
          <a:solidFill>
            <a:srgbClr val="29A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4259" y="3739896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19 %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3954780"/>
            <a:ext cx="963999" cy="141732"/>
          </a:xfrm>
          <a:prstGeom prst="rect">
            <a:avLst/>
          </a:prstGeom>
          <a:solidFill>
            <a:srgbClr val="47B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84823" y="3927348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D7DCE6"/>
                </a:solidFill>
                <a:latin typeface="Arial"/>
              </a:rPr>
              <a:t>14 %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261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9A9E0"/>
                </a:solidFill>
                <a:latin typeface="Arial"/>
              </a:rPr>
              <a:t>Mac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26110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47B25B"/>
                </a:solidFill>
                <a:latin typeface="Arial"/>
              </a:rPr>
              <a:t>Linux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40680" y="1645920"/>
            <a:ext cx="3246120" cy="896112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29A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1805940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9A9E0"/>
                </a:solidFill>
                <a:latin typeface="Arial"/>
              </a:rPr>
              <a:t>Windows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7840" y="2061972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Universel, quel que soit le genre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184251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29A9E0"/>
                </a:solidFill>
                <a:latin typeface="Arial Black"/>
              </a:rPr>
              <a:t>100%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40680" y="2651760"/>
            <a:ext cx="3246120" cy="896112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F2C7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2811779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2C719"/>
                </a:solidFill>
                <a:latin typeface="Arial"/>
              </a:rPr>
              <a:t>Mac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067811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Plus fort sur Strategy et Game Dev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284835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F2C719"/>
                </a:solidFill>
                <a:latin typeface="Arial Black"/>
              </a:rPr>
              <a:t>19-33%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40680" y="3657600"/>
            <a:ext cx="3246120" cy="896112"/>
          </a:xfrm>
          <a:prstGeom prst="roundRect">
            <a:avLst>
              <a:gd name="adj" fmla="val 10000"/>
            </a:avLst>
          </a:prstGeom>
          <a:solidFill>
            <a:srgbClr val="14243C"/>
          </a:solidFill>
          <a:ln w="15240">
            <a:solidFill>
              <a:srgbClr val="47B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817620"/>
            <a:ext cx="1691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47B25B"/>
                </a:solidFill>
                <a:latin typeface="Arial"/>
              </a:rPr>
              <a:t>Linux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4073652"/>
            <a:ext cx="1691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A3B2"/>
                </a:solidFill>
                <a:latin typeface="Arial"/>
              </a:rPr>
              <a:t>Niche fidèle, surtout Indie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4196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7B25B"/>
                </a:solidFill>
                <a:latin typeface="Arial Black"/>
              </a:rPr>
              <a:t>14-22%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29A9E0"/>
                </a:solidFill>
                <a:latin typeface="Arial"/>
              </a:rPr>
              <a:t>Insight : Windows est incontournable partout. Le support Mac et Linux dépend du genre - plus élevé sur la stratégie, plus faible sur l'Action.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2026-06-29T09:59:59Z</dcterms:created>
  <dcterms:modified xsi:type="dcterms:W3CDTF">2026-06-29T09:59:59Z</dcterms:modified>
</cp:coreProperties>
</file>