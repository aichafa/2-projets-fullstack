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4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10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75" y="58783"/>
            <a:ext cx="4114800" cy="4114800"/>
          </a:xfrm>
          <a:prstGeom prst="ellipse">
            <a:avLst/>
          </a:prstGeom>
          <a:solidFill>
            <a:srgbClr val="E94057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132320" y="2926080"/>
            <a:ext cx="2926080" cy="2926080"/>
          </a:xfrm>
          <a:prstGeom prst="ellipse">
            <a:avLst/>
          </a:prstGeom>
          <a:solidFill>
            <a:srgbClr val="F5A7B8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1440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265176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502920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anose="02040502050405020303" pitchFamily="18" charset="0"/>
              </a:rPr>
              <a:t>SPEED DATING (TINDER)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65960" y="93726"/>
            <a:ext cx="5303520" cy="2939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Qu'est-ce qui</a:t>
            </a:r>
            <a:endParaRPr lang="en-US" sz="4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déclenche</a:t>
            </a:r>
            <a:endParaRPr lang="en-US" sz="4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l'étincelle ?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8 378 rencontres de l'expérience Columbia University (2002-2004)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822960"/>
            <a:ext cx="23774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400800" y="8686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8 378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400800" y="14447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Rencontres analysées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2240280"/>
            <a:ext cx="23774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40080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</a:t>
            </a:r>
            <a:r>
              <a:rPr lang="en-US" sz="100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match moyen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0" y="3657600"/>
            <a:ext cx="2377440" cy="114300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40080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4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400800" y="42793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collectées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yeux décident en premier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des critères avec la décision finale : ce qui compte vraiment !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388" y="320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4048" y="13716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Attractivité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423160" y="1435608"/>
            <a:ext cx="4016045" cy="256032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2423160" y="1435608"/>
            <a:ext cx="1851660" cy="256032"/>
          </a:xfrm>
          <a:prstGeom prst="rect">
            <a:avLst/>
          </a:prstGeom>
          <a:solidFill>
            <a:srgbClr val="1A1A2E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512357" y="13716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4048" y="19659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Humour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23160" y="2029968"/>
            <a:ext cx="3390595" cy="256032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2423160" y="2029968"/>
            <a:ext cx="1440180" cy="256032"/>
          </a:xfrm>
          <a:prstGeom prst="rect">
            <a:avLst/>
          </a:prstGeom>
          <a:solidFill>
            <a:srgbClr val="1A1A2E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886907" y="19659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84048" y="2560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communs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423160" y="2624328"/>
            <a:ext cx="3275381" cy="256032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2423160" y="2624328"/>
            <a:ext cx="971093" cy="256032"/>
          </a:xfrm>
          <a:prstGeom prst="rect">
            <a:avLst/>
          </a:prstGeom>
          <a:solidFill>
            <a:srgbClr val="1A1A2E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771693" y="25603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84048" y="3154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423160" y="3218688"/>
            <a:ext cx="1761134" cy="256032"/>
          </a:xfrm>
          <a:prstGeom prst="rect">
            <a:avLst/>
          </a:prstGeom>
          <a:solidFill>
            <a:srgbClr val="B0B8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2423160" y="3218688"/>
            <a:ext cx="1670609" cy="256032"/>
          </a:xfrm>
          <a:prstGeom prst="rect">
            <a:avLst/>
          </a:prstGeom>
          <a:solidFill>
            <a:srgbClr val="9CA3AF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257446" y="31546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84048" y="3749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Sincérité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423160" y="3813048"/>
            <a:ext cx="1711757" cy="256032"/>
          </a:xfrm>
          <a:prstGeom prst="rect">
            <a:avLst/>
          </a:prstGeom>
          <a:solidFill>
            <a:srgbClr val="B0B8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2423160" y="3813048"/>
            <a:ext cx="1431950" cy="256032"/>
          </a:xfrm>
          <a:prstGeom prst="rect">
            <a:avLst/>
          </a:prstGeom>
          <a:solidFill>
            <a:srgbClr val="9CA3AF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208069" y="37490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84048" y="4343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2423160" y="4407408"/>
            <a:ext cx="1506017" cy="256032"/>
          </a:xfrm>
          <a:prstGeom prst="rect">
            <a:avLst/>
          </a:prstGeom>
          <a:solidFill>
            <a:srgbClr val="B0B8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2423160" y="4407408"/>
            <a:ext cx="880567" cy="256032"/>
          </a:xfrm>
          <a:prstGeom prst="rect">
            <a:avLst/>
          </a:prstGeom>
          <a:solidFill>
            <a:srgbClr val="9CA3AF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4002329" y="4343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423160" y="4663440"/>
            <a:ext cx="320040" cy="128016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2788920" y="4599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réel (corr. × 100)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68596" y="4694791"/>
            <a:ext cx="320040" cy="128016"/>
          </a:xfrm>
          <a:prstGeom prst="rect">
            <a:avLst/>
          </a:prstGeom>
          <a:solidFill>
            <a:srgbClr val="2D3142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5120640" y="46222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déclarée (/100)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766560" y="1371600"/>
            <a:ext cx="2103120" cy="35661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6858000" y="1508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94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Insight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0" y="1965960"/>
            <a:ext cx="1920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gens déclarent valoriser la sincérité et l'intelligence...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décident avec leurs yeux (×2.2) et leur rire (×2.4) par rapport à leur discours.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E94057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les genres ne savent pas d'eux-mêmes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Auto-perception vs. réalité : le biais d'auto-complaisance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4630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Attractivité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réelle reçue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2862072"/>
            <a:ext cx="2331720" cy="25603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02920" y="2862072"/>
            <a:ext cx="1441003" cy="256032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02920" y="31363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6.18 / 10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34930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Auto-perception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2920" y="3749040"/>
            <a:ext cx="2331720" cy="25603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02920" y="3749040"/>
            <a:ext cx="1650858" cy="256032"/>
          </a:xfrm>
          <a:prstGeom prst="rect">
            <a:avLst/>
          </a:prstGeom>
          <a:solidFill>
            <a:srgbClr val="F5A7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0292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7.08 / 10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" y="4224528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822960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Surestimation : +0.90 pt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291840" y="1325880"/>
            <a:ext cx="269748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463040"/>
            <a:ext cx="594360" cy="594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83280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Sincérité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429000" y="26060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réelle reçue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429000" y="2862072"/>
            <a:ext cx="2331720" cy="25603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9"/>
          <p:cNvSpPr/>
          <p:nvPr/>
        </p:nvSpPr>
        <p:spPr>
          <a:xfrm>
            <a:off x="3429000" y="2862072"/>
            <a:ext cx="1674175" cy="256032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0"/>
          <p:cNvSpPr/>
          <p:nvPr/>
        </p:nvSpPr>
        <p:spPr>
          <a:xfrm>
            <a:off x="3429000" y="31363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7.18 / 10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29000" y="34930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Auto-perception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429000" y="3749040"/>
            <a:ext cx="2331720" cy="25603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3"/>
          <p:cNvSpPr/>
          <p:nvPr/>
        </p:nvSpPr>
        <p:spPr>
          <a:xfrm>
            <a:off x="3429000" y="3749040"/>
            <a:ext cx="1935328" cy="256032"/>
          </a:xfrm>
          <a:prstGeom prst="rect">
            <a:avLst/>
          </a:prstGeom>
          <a:solidFill>
            <a:srgbClr val="F5A7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4"/>
          <p:cNvSpPr/>
          <p:nvPr/>
        </p:nvSpPr>
        <p:spPr>
          <a:xfrm>
            <a:off x="342900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8.30 / 10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749040" y="4224528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3749040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Surestimation : +1.13 pt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217920" y="1325880"/>
            <a:ext cx="2697480" cy="34747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463040"/>
            <a:ext cx="594360" cy="59436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309360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6355080" y="26060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réelle reçue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355080" y="2862072"/>
            <a:ext cx="2331720" cy="25603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1"/>
          <p:cNvSpPr/>
          <p:nvPr/>
        </p:nvSpPr>
        <p:spPr>
          <a:xfrm>
            <a:off x="6355080" y="2862072"/>
            <a:ext cx="1716146" cy="256032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2"/>
          <p:cNvSpPr/>
          <p:nvPr/>
        </p:nvSpPr>
        <p:spPr>
          <a:xfrm>
            <a:off x="6355080" y="313639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7.36 / 10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355080" y="349300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Auto-perception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355080" y="3749040"/>
            <a:ext cx="2331720" cy="256032"/>
          </a:xfrm>
          <a:prstGeom prst="rect">
            <a:avLst/>
          </a:prstGeom>
          <a:solidFill>
            <a:srgbClr val="2A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5"/>
          <p:cNvSpPr/>
          <p:nvPr/>
        </p:nvSpPr>
        <p:spPr>
          <a:xfrm>
            <a:off x="6355080" y="3749040"/>
            <a:ext cx="1960977" cy="256032"/>
          </a:xfrm>
          <a:prstGeom prst="rect">
            <a:avLst/>
          </a:prstGeom>
          <a:solidFill>
            <a:srgbClr val="F5A7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6"/>
          <p:cNvSpPr/>
          <p:nvPr/>
        </p:nvSpPr>
        <p:spPr>
          <a:xfrm>
            <a:off x="6355080" y="402336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8.41 / 10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675120" y="4224528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8"/>
          <p:cNvSpPr/>
          <p:nvPr/>
        </p:nvSpPr>
        <p:spPr>
          <a:xfrm>
            <a:off x="6675120" y="42245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Surestimation : +1.04 pt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auto-perception / note réelle = 0.175 seulement — les gens sont de mauvais juges d'eux-mêmes.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rapproche vraiment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76809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communs vs. origine raciale et l'effet du timing dans la soirée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Intérêts communs vs. même origine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7647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 différentes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89504" y="181051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4505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origine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80082" y="2488631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1363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d'intérêts comm.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27662" y="319052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38221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très communs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80193" y="3874453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4572000"/>
            <a:ext cx="3840480" cy="347472"/>
          </a:xfrm>
          <a:prstGeom prst="rect">
            <a:avLst/>
          </a:prstGeom>
          <a:solidFill>
            <a:srgbClr val="E94057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5488" y="4572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Les intérêts communs ont un impact 3× supérieur à l'origine raciale (+3.3 pts vs +1.0 pt)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1188720"/>
            <a:ext cx="0" cy="3657600"/>
          </a:xfrm>
          <a:prstGeom prst="line">
            <a:avLst/>
          </a:prstGeom>
          <a:noFill/>
          <a:ln w="12700">
            <a:solidFill>
              <a:srgbClr val="D1D5DB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00600" y="12344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1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Fatigue décisionnelle au fil de la soirée</a:t>
            </a:r>
            <a:endParaRPr lang="en-US" sz="14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1170432"/>
            <a:ext cx="457200" cy="4572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800600" y="1783080"/>
            <a:ext cx="1188720" cy="21945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4800600" y="1807220"/>
            <a:ext cx="1188720" cy="1896100"/>
          </a:xfrm>
          <a:prstGeom prst="rect">
            <a:avLst/>
          </a:prstGeom>
          <a:solidFill>
            <a:srgbClr val="2ECC7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800600" y="14597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43.2%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715168" y="38221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 de soirée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217920" y="1783080"/>
            <a:ext cx="1188720" cy="21945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6217920" y="1802831"/>
            <a:ext cx="1188720" cy="1900489"/>
          </a:xfrm>
          <a:prstGeom prst="rect">
            <a:avLst/>
          </a:prstGeom>
          <a:solidFill>
            <a:srgbClr val="F39C12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6217920" y="1455359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43.3%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152344" y="3839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de soirée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7635240" y="1783080"/>
            <a:ext cx="1188720" cy="2194560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7635240" y="1965228"/>
            <a:ext cx="1188720" cy="1738092"/>
          </a:xfrm>
          <a:prstGeom prst="rect">
            <a:avLst/>
          </a:prstGeom>
          <a:solidFill>
            <a:srgbClr val="E94057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7642915" y="1482791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0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39.6%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589519" y="38169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1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soirée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349240" y="2743200"/>
            <a:ext cx="2560320" cy="411480"/>
          </a:xfrm>
          <a:prstGeom prst="line">
            <a:avLst/>
          </a:prstGeom>
          <a:noFill/>
          <a:ln w="25400">
            <a:solidFill>
              <a:srgbClr val="E94057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4800600" y="4572000"/>
            <a:ext cx="4023360" cy="347472"/>
          </a:xfrm>
          <a:prstGeom prst="rect">
            <a:avLst/>
          </a:prstGeom>
          <a:solidFill>
            <a:srgbClr val="E94057">
              <a:alpha val="12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4892040" y="4572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9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−3.6 pts entre le 1er et le dernier tiers : mieux vaut être rencontré tôt !</a:t>
            </a:r>
            <a:endParaRPr lang="en-US" sz="95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F7651A20-5262-4E17-F8F1-101BFF0797F3}"/>
              </a:ext>
            </a:extLst>
          </p:cNvPr>
          <p:cNvSpPr/>
          <p:nvPr/>
        </p:nvSpPr>
        <p:spPr>
          <a:xfrm>
            <a:off x="1969878" y="1802831"/>
            <a:ext cx="877824" cy="256032"/>
          </a:xfrm>
          <a:prstGeom prst="rect">
            <a:avLst/>
          </a:prstGeom>
          <a:solidFill>
            <a:srgbClr val="B0B8C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F1C80104-3BA5-810B-FFE2-F401A505DB4A}"/>
              </a:ext>
            </a:extLst>
          </p:cNvPr>
          <p:cNvSpPr/>
          <p:nvPr/>
        </p:nvSpPr>
        <p:spPr>
          <a:xfrm>
            <a:off x="1969878" y="2488631"/>
            <a:ext cx="1295835" cy="256032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E712313D-1357-B0F5-1B32-F07F5573DA66}"/>
              </a:ext>
            </a:extLst>
          </p:cNvPr>
          <p:cNvSpPr/>
          <p:nvPr/>
        </p:nvSpPr>
        <p:spPr>
          <a:xfrm>
            <a:off x="1969878" y="3174431"/>
            <a:ext cx="543415" cy="256032"/>
          </a:xfrm>
          <a:prstGeom prst="rect">
            <a:avLst/>
          </a:prstGeom>
          <a:solidFill>
            <a:srgbClr val="F5A7B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D62BF7AF-E896-9FEF-5B2B-FB2D361EFF24}"/>
              </a:ext>
            </a:extLst>
          </p:cNvPr>
          <p:cNvSpPr/>
          <p:nvPr/>
        </p:nvSpPr>
        <p:spPr>
          <a:xfrm>
            <a:off x="1969878" y="3860231"/>
            <a:ext cx="1922853" cy="256032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E94057">
              <a:alpha val="1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73952" y="54864"/>
            <a:ext cx="2560320" cy="2560320"/>
          </a:xfrm>
          <a:prstGeom prst="ellipse">
            <a:avLst/>
          </a:prstGeom>
          <a:solidFill>
            <a:srgbClr val="F5A7B8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recommandations pour Tinder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Fondées sur l'analyse de 8 378 rencontres réelles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34440"/>
            <a:ext cx="411480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502920" cy="1645920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47472" y="17373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399032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399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Valoriser la photo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41832" y="189280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L'attractivité (corr = 0.49) est le premier filtre éliminatoire. 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Aider les utilisateurs à sélectionner la meilleure photo booste directement le taux de match.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809744" y="1234440"/>
            <a:ext cx="411480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809744" y="1234440"/>
            <a:ext cx="502920" cy="1645920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4809744" y="173736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399032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25312" y="13990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Algorithme Passions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404104" y="189280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communs ont un impact 3× plus fort que l'origine raciale partagée (+3.3 pts de match). </a:t>
            </a:r>
          </a:p>
          <a:p>
            <a:pPr marL="0" indent="0" algn="l">
              <a:buNone/>
            </a:pPr>
            <a:r>
              <a:rPr lang="en-US" sz="950" dirty="0" err="1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Pondérer</a:t>
            </a:r>
            <a:r>
              <a:rPr lang="en-US" sz="95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Tags d'intérêts dans le matching améliore significativement les chances.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47472" y="3108960"/>
            <a:ext cx="411480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347472" y="3108960"/>
            <a:ext cx="502920" cy="1645920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6"/>
          <p:cNvSpPr/>
          <p:nvPr/>
        </p:nvSpPr>
        <p:spPr>
          <a:xfrm>
            <a:off x="347472" y="36118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3273552"/>
            <a:ext cx="438912" cy="4389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3273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Limiter le swipe/session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941832" y="376732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fatigue décisionnelle réduit le taux de 'Oui' de 43.2% en début à 39.6% en fin de soirée (−3.6 pts). 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limite quotidienne de swipes préserve la qualité des décisions.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809744" y="3108960"/>
            <a:ext cx="4114800" cy="164592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0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0"/>
          <p:cNvSpPr/>
          <p:nvPr/>
        </p:nvSpPr>
        <p:spPr>
          <a:xfrm>
            <a:off x="4809744" y="3108960"/>
            <a:ext cx="502920" cy="1645920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/>
          <p:nvPr/>
        </p:nvSpPr>
        <p:spPr>
          <a:xfrm>
            <a:off x="4809744" y="361188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104" y="3273552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25312" y="3273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de profil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404104" y="376732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 surestiment leur attractivité de +0.9 pt (corr = 0.175). </a:t>
            </a:r>
          </a:p>
          <a:p>
            <a:pPr marL="0" indent="0" algn="l">
              <a:buNone/>
            </a:pPr>
            <a:r>
              <a:rPr lang="en-US" sz="950" dirty="0">
                <a:solidFill>
                  <a:srgbClr val="F5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feedback anonymisé aide à aligner les attentes sur la réalité du marché.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E940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5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Dating Analysis / Columbia University Dataset (2002-2004)   |   8 378 rencontres   |   195 variables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471</Words>
  <Application>Microsoft Office PowerPoint</Application>
  <PresentationFormat>Affichage à l'écran (16:9)</PresentationFormat>
  <Paragraphs>94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 Dating – Storytelling Tinder</dc:title>
  <dc:subject>PptxGenJS Presentation</dc:subject>
  <dc:creator>PptxGenJS</dc:creator>
  <cp:lastModifiedBy>Aicha FATHELLAH</cp:lastModifiedBy>
  <cp:revision>5</cp:revision>
  <dcterms:created xsi:type="dcterms:W3CDTF">2026-05-06T19:24:55Z</dcterms:created>
  <dcterms:modified xsi:type="dcterms:W3CDTF">2026-05-06T19:37:17Z</dcterms:modified>
</cp:coreProperties>
</file>