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16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011" y="46721"/>
            <a:ext cx="4937760" cy="4937760"/>
          </a:xfrm>
          <a:prstGeom prst="ellipse">
            <a:avLst/>
          </a:prstGeom>
          <a:solidFill>
            <a:srgbClr val="3C1E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949440" y="3840480"/>
            <a:ext cx="2743200" cy="2743200"/>
          </a:xfrm>
          <a:prstGeom prst="ellipse">
            <a:avLst/>
          </a:prstGeom>
          <a:solidFill>
            <a:srgbClr val="3C1E2D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40280" y="411480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qui</a:t>
            </a:r>
            <a:endParaRPr lang="en-US" sz="4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déclenche</a:t>
            </a:r>
            <a:endParaRPr lang="en-US" sz="4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l'étincelle ?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2240280" y="297180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2240280" y="2971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DATING (TINDER)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160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8 378 rencontres de l'expérience Columbia University (2002-2004)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20840" y="502920"/>
            <a:ext cx="1965960" cy="1234440"/>
          </a:xfrm>
          <a:prstGeom prst="rect">
            <a:avLst/>
          </a:prstGeom>
          <a:solidFill>
            <a:srgbClr val="1E2540"/>
          </a:solidFill>
          <a:ln w="15875">
            <a:solidFill>
              <a:srgbClr val="EF45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720840" y="66751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5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8 378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720840" y="12527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Rencontres analysées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20840" y="1984248"/>
            <a:ext cx="1965960" cy="1234440"/>
          </a:xfrm>
          <a:prstGeom prst="rect">
            <a:avLst/>
          </a:prstGeom>
          <a:solidFill>
            <a:srgbClr val="1E2540"/>
          </a:solidFill>
          <a:ln w="15875">
            <a:solidFill>
              <a:srgbClr val="EF45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720840" y="2148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5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16,5 %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720840" y="273405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match moyen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20840" y="3465576"/>
            <a:ext cx="1965960" cy="1234440"/>
          </a:xfrm>
          <a:prstGeom prst="rect">
            <a:avLst/>
          </a:prstGeom>
          <a:solidFill>
            <a:srgbClr val="1E2540"/>
          </a:solidFill>
          <a:ln w="15875">
            <a:solidFill>
              <a:srgbClr val="EF45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720840" y="363016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5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720840" y="421538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collectées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21304A"/>
                </a:solidFill>
                <a:latin typeface="Cambria"/>
              </a:rPr>
              <a:t>Chacun cherche autre chose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E7C90"/>
                </a:solidFill>
                <a:latin typeface="Calibri"/>
              </a:rPr>
              <a:t>Préférences déclarées à l'inscription : 100 points répartis entre six critères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417320"/>
            <a:ext cx="0" cy="2651760"/>
          </a:xfrm>
          <a:prstGeom prst="bentConnector3">
            <a:avLst/>
          </a:prstGeom>
          <a:ln w="12700">
            <a:solidFill>
              <a:srgbClr val="CBD2D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371600"/>
            <a:ext cx="356992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1304A"/>
                </a:solidFill>
                <a:latin typeface="Cambria"/>
              </a:rPr>
              <a:t>Femmes : priorités chez un homme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895520"/>
            <a:ext cx="1354836" cy="168000"/>
          </a:xfrm>
          <a:prstGeom prst="rect">
            <a:avLst/>
          </a:prstGeom>
          <a:solidFill>
            <a:srgbClr val="EF4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10484" y="18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21.0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Sincérité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2195520"/>
            <a:ext cx="1180642" cy="168000"/>
          </a:xfrm>
          <a:prstGeom prst="rect">
            <a:avLst/>
          </a:prstGeom>
          <a:solidFill>
            <a:srgbClr val="9AA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36290" y="21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18.3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Attractivité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2495520"/>
            <a:ext cx="1167739" cy="168000"/>
          </a:xfrm>
          <a:prstGeom prst="rect">
            <a:avLst/>
          </a:prstGeom>
          <a:solidFill>
            <a:srgbClr val="9AA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3387" y="24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18.1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Humour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2795520"/>
            <a:ext cx="1103223" cy="168000"/>
          </a:xfrm>
          <a:prstGeom prst="rect">
            <a:avLst/>
          </a:prstGeom>
          <a:solidFill>
            <a:srgbClr val="9AA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58871" y="27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17.1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Ambition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3095520"/>
            <a:ext cx="825804" cy="168000"/>
          </a:xfrm>
          <a:prstGeom prst="rect">
            <a:avLst/>
          </a:prstGeom>
          <a:solidFill>
            <a:srgbClr val="9AA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81452" y="30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12.8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3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Intérêts communs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3395520"/>
            <a:ext cx="819353" cy="168000"/>
          </a:xfrm>
          <a:prstGeom prst="rect">
            <a:avLst/>
          </a:prstGeom>
          <a:solidFill>
            <a:srgbClr val="9AA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75001" y="33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12.7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371600"/>
            <a:ext cx="356992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1304A"/>
                </a:solidFill>
                <a:latin typeface="Cambria"/>
              </a:rPr>
              <a:t>Hommes : priorités chez une femme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18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Attractivité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895520"/>
            <a:ext cx="1735480" cy="168000"/>
          </a:xfrm>
          <a:prstGeom prst="rect">
            <a:avLst/>
          </a:prstGeom>
          <a:solidFill>
            <a:srgbClr val="EF4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88808" y="18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26.9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1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Intelligence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2195520"/>
            <a:ext cx="1258062" cy="168000"/>
          </a:xfrm>
          <a:prstGeom prst="rect">
            <a:avLst/>
          </a:prstGeom>
          <a:solidFill>
            <a:srgbClr val="9AA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1390" y="21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19.5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4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Humour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2495520"/>
            <a:ext cx="1148384" cy="168000"/>
          </a:xfrm>
          <a:prstGeom prst="rect">
            <a:avLst/>
          </a:prstGeom>
          <a:solidFill>
            <a:srgbClr val="9AA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01712" y="24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17.8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27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Sincérité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2795520"/>
            <a:ext cx="1064514" cy="168000"/>
          </a:xfrm>
          <a:prstGeom prst="rect">
            <a:avLst/>
          </a:prstGeom>
          <a:solidFill>
            <a:srgbClr val="9AA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17842" y="27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16.5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0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Intérêts communs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3095520"/>
            <a:ext cx="709676" cy="168000"/>
          </a:xfrm>
          <a:prstGeom prst="rect">
            <a:avLst/>
          </a:prstGeom>
          <a:solidFill>
            <a:srgbClr val="9AA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63004" y="30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11.0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3374520"/>
            <a:ext cx="118872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4F5A69"/>
                </a:solidFill>
                <a:latin typeface="Calibri"/>
              </a:rPr>
              <a:t>Ambition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395520"/>
            <a:ext cx="554837" cy="168000"/>
          </a:xfrm>
          <a:prstGeom prst="rect">
            <a:avLst/>
          </a:prstGeom>
          <a:solidFill>
            <a:srgbClr val="9AA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08165" y="3374520"/>
            <a:ext cx="42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C6675"/>
                </a:solidFill>
                <a:latin typeface="Calibri"/>
              </a:rPr>
              <a:t>8.6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8491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B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38491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F4565"/>
                </a:solidFill>
                <a:latin typeface="Calibri"/>
              </a:rPr>
              <a:t>L'intelligence (21.0) en tête ; les intérêts communs (12.7) ferment la marche.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54880" y="38491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B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92040" y="38491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F4565"/>
                </a:solidFill>
                <a:latin typeface="Calibri"/>
              </a:rPr>
              <a:t>L'attractivité domine (26.9) ; l'ambition (8.6) ferme la marche.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yeux décident en premier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des critères avec la décision finale : ce qui compte vraiment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926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3807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1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011680" y="1417320"/>
            <a:ext cx="1471041" cy="274320"/>
          </a:xfrm>
          <a:prstGeom prst="rect">
            <a:avLst/>
          </a:prstGeom>
          <a:solidFill>
            <a:srgbClr val="8A2D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3482721" y="1417320"/>
            <a:ext cx="1732559" cy="274320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288432" y="13807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18562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1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011680" y="1892808"/>
            <a:ext cx="1144143" cy="274320"/>
          </a:xfrm>
          <a:prstGeom prst="rect">
            <a:avLst/>
          </a:prstGeom>
          <a:solidFill>
            <a:srgbClr val="8A2D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155823" y="1892808"/>
            <a:ext cx="1536421" cy="274320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765396" y="18562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2331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1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communs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011680" y="2368296"/>
            <a:ext cx="771479" cy="274320"/>
          </a:xfrm>
          <a:prstGeom prst="rect">
            <a:avLst/>
          </a:prstGeom>
          <a:solidFill>
            <a:srgbClr val="8A2D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2783159" y="2368296"/>
            <a:ext cx="1843705" cy="274320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700016" y="2331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0040" y="28072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011680" y="2843784"/>
            <a:ext cx="1327206" cy="274320"/>
          </a:xfrm>
          <a:prstGeom prst="rect">
            <a:avLst/>
          </a:prstGeom>
          <a:solidFill>
            <a:srgbClr val="7E869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3338886" y="2843784"/>
            <a:ext cx="45766" cy="274320"/>
          </a:xfrm>
          <a:prstGeom prst="rect">
            <a:avLst/>
          </a:prstGeom>
          <a:solidFill>
            <a:srgbClr val="C7C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457804" y="28072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0040" y="32826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Sincérité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011680" y="3319272"/>
            <a:ext cx="1137605" cy="274320"/>
          </a:xfrm>
          <a:prstGeom prst="rect">
            <a:avLst/>
          </a:prstGeom>
          <a:solidFill>
            <a:srgbClr val="7E869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3149285" y="3319272"/>
            <a:ext cx="235367" cy="274320"/>
          </a:xfrm>
          <a:prstGeom prst="rect">
            <a:avLst/>
          </a:prstGeom>
          <a:solidFill>
            <a:srgbClr val="C7C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3457804" y="32826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0040" y="37581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011680" y="3794760"/>
            <a:ext cx="699562" cy="274320"/>
          </a:xfrm>
          <a:prstGeom prst="rect">
            <a:avLst/>
          </a:prstGeom>
          <a:solidFill>
            <a:srgbClr val="7E869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2711242" y="3794760"/>
            <a:ext cx="477271" cy="274320"/>
          </a:xfrm>
          <a:prstGeom prst="rect">
            <a:avLst/>
          </a:prstGeom>
          <a:solidFill>
            <a:srgbClr val="C7C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261665" y="3758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9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011680" y="4370832"/>
            <a:ext cx="201168" cy="201168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2267712" y="4334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réel (corr. x 100)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0" y="4370832"/>
            <a:ext cx="201168" cy="201168"/>
          </a:xfrm>
          <a:prstGeom prst="rect">
            <a:avLst/>
          </a:prstGeom>
          <a:solidFill>
            <a:srgbClr val="9AA0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4828032" y="4334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déclarée (/100)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086600" y="1097280"/>
            <a:ext cx="1737360" cy="3154680"/>
          </a:xfrm>
          <a:prstGeom prst="rect">
            <a:avLst/>
          </a:prstGeom>
          <a:solidFill>
            <a:srgbClr val="1E2540"/>
          </a:solidFill>
          <a:ln/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280160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589520" y="1261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5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7269480" y="16916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gens déclarent valoriser la sincérité et l'intelligence...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7269480" y="269748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2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décident avec leurs yeux (x2.2) et leur rire (x2.4) par rapport à leur discours.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743200" cy="2743200"/>
          </a:xfrm>
          <a:prstGeom prst="ellipse">
            <a:avLst/>
          </a:prstGeom>
          <a:solidFill>
            <a:srgbClr val="3C1E2D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les genres ne savent pas d'eux-mêmes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Auto-perception vs. réalité : le biais d'auto-complaisance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063240"/>
          </a:xfrm>
          <a:prstGeom prst="rect">
            <a:avLst/>
          </a:prstGeom>
          <a:solidFill>
            <a:srgbClr val="1E2540"/>
          </a:solidFill>
          <a:ln w="15875">
            <a:solidFill>
              <a:srgbClr val="EF4565"/>
            </a:solidFill>
            <a:prstDash val="solid"/>
          </a:ln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600200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Attractivité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réelle reçue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58368" y="2907792"/>
            <a:ext cx="2249424" cy="182880"/>
          </a:xfrm>
          <a:prstGeom prst="rect">
            <a:avLst/>
          </a:prstGeom>
          <a:solidFill>
            <a:srgbClr val="2B30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58368" y="2907792"/>
            <a:ext cx="1390144" cy="182880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58368" y="31089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6.18 / 10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" y="3401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2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Auto-perception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58368" y="3639312"/>
            <a:ext cx="2249424" cy="182880"/>
          </a:xfrm>
          <a:prstGeom prst="rect">
            <a:avLst/>
          </a:prstGeom>
          <a:solidFill>
            <a:srgbClr val="2B30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658368" y="3639312"/>
            <a:ext cx="1592592" cy="182880"/>
          </a:xfrm>
          <a:prstGeom prst="rect">
            <a:avLst/>
          </a:prstGeom>
          <a:solidFill>
            <a:srgbClr val="F4A6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58368" y="384048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7.08 / 10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4114800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31520" y="41148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Surestimation : +0.90 pt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46120" y="1417320"/>
            <a:ext cx="2651760" cy="3063240"/>
          </a:xfrm>
          <a:prstGeom prst="rect">
            <a:avLst/>
          </a:prstGeom>
          <a:solidFill>
            <a:srgbClr val="1E2540"/>
          </a:solidFill>
          <a:ln w="15875">
            <a:solidFill>
              <a:srgbClr val="EF4565"/>
            </a:solidFill>
            <a:prstDash val="solid"/>
          </a:ln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600200"/>
            <a:ext cx="585216" cy="5852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4612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Sincérité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447288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réelle reçue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447288" y="2907792"/>
            <a:ext cx="2249424" cy="182880"/>
          </a:xfrm>
          <a:prstGeom prst="rect">
            <a:avLst/>
          </a:prstGeom>
          <a:solidFill>
            <a:srgbClr val="2B30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3447288" y="2907792"/>
            <a:ext cx="1615086" cy="182880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3447288" y="31089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7.18 / 10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47288" y="3401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2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Auto-perception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447288" y="3639312"/>
            <a:ext cx="2249424" cy="182880"/>
          </a:xfrm>
          <a:prstGeom prst="rect">
            <a:avLst/>
          </a:prstGeom>
          <a:solidFill>
            <a:srgbClr val="2B30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3"/>
          <p:cNvSpPr/>
          <p:nvPr/>
        </p:nvSpPr>
        <p:spPr>
          <a:xfrm>
            <a:off x="3447288" y="3639312"/>
            <a:ext cx="1867022" cy="182880"/>
          </a:xfrm>
          <a:prstGeom prst="rect">
            <a:avLst/>
          </a:prstGeom>
          <a:solidFill>
            <a:srgbClr val="F4A6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3447288" y="384048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8.30 / 10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520440" y="4114800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3520440" y="41148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Surestimation : +1.13 pt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035040" y="1417320"/>
            <a:ext cx="2651760" cy="3063240"/>
          </a:xfrm>
          <a:prstGeom prst="rect">
            <a:avLst/>
          </a:prstGeom>
          <a:solidFill>
            <a:srgbClr val="1E2540"/>
          </a:solidFill>
          <a:ln w="15875">
            <a:solidFill>
              <a:srgbClr val="EF4565"/>
            </a:solidFill>
            <a:prstDash val="solid"/>
          </a:ln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1600200"/>
            <a:ext cx="585216" cy="58521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03504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6236208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réelle reçue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236208" y="2907792"/>
            <a:ext cx="2249424" cy="182880"/>
          </a:xfrm>
          <a:prstGeom prst="rect">
            <a:avLst/>
          </a:prstGeom>
          <a:solidFill>
            <a:srgbClr val="2B30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1"/>
          <p:cNvSpPr/>
          <p:nvPr/>
        </p:nvSpPr>
        <p:spPr>
          <a:xfrm>
            <a:off x="6236208" y="2907792"/>
            <a:ext cx="1655576" cy="182880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2"/>
          <p:cNvSpPr/>
          <p:nvPr/>
        </p:nvSpPr>
        <p:spPr>
          <a:xfrm>
            <a:off x="6236208" y="31089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7.36 / 10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236208" y="3401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2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Auto-perception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6236208" y="3639312"/>
            <a:ext cx="2249424" cy="182880"/>
          </a:xfrm>
          <a:prstGeom prst="rect">
            <a:avLst/>
          </a:prstGeom>
          <a:solidFill>
            <a:srgbClr val="2B30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5"/>
          <p:cNvSpPr/>
          <p:nvPr/>
        </p:nvSpPr>
        <p:spPr>
          <a:xfrm>
            <a:off x="6236208" y="3639312"/>
            <a:ext cx="1891766" cy="182880"/>
          </a:xfrm>
          <a:prstGeom prst="rect">
            <a:avLst/>
          </a:prstGeom>
          <a:solidFill>
            <a:srgbClr val="F4A6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6"/>
          <p:cNvSpPr/>
          <p:nvPr/>
        </p:nvSpPr>
        <p:spPr>
          <a:xfrm>
            <a:off x="6236208" y="384048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8.41 / 10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309360" y="4114800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8"/>
          <p:cNvSpPr/>
          <p:nvPr/>
        </p:nvSpPr>
        <p:spPr>
          <a:xfrm>
            <a:off x="6309360" y="41148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Surestimation : +1.04 pt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auto-perception / note réelle = 0.175 seulement - les gens sont de mauvais juges d'eux-mêmes.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rapproche vraiment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communs vs. origine raciale et l'effet du timing dans la soirée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0" y="1417320"/>
            <a:ext cx="0" cy="2651760"/>
          </a:xfrm>
          <a:prstGeom prst="line">
            <a:avLst/>
          </a:prstGeom>
          <a:noFill/>
          <a:ln w="12700">
            <a:solidFill>
              <a:srgbClr val="CBD2DC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Intérêts communs vs. même origine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F5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Origines différentes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74520" y="1874520"/>
            <a:ext cx="1589959" cy="274320"/>
          </a:xfrm>
          <a:prstGeom prst="rect">
            <a:avLst/>
          </a:prstGeom>
          <a:solidFill>
            <a:srgbClr val="9AA0A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519343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F5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origine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74520" y="2441448"/>
            <a:ext cx="1688714" cy="274320"/>
          </a:xfrm>
          <a:prstGeom prst="rect">
            <a:avLst/>
          </a:prstGeom>
          <a:solidFill>
            <a:srgbClr val="7E869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18098" y="23957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962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F5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d'intérêts comm.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74520" y="3008376"/>
            <a:ext cx="1510955" cy="274320"/>
          </a:xfrm>
          <a:prstGeom prst="rect">
            <a:avLst/>
          </a:prstGeom>
          <a:solidFill>
            <a:srgbClr val="F4A6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440339" y="29626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5295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F5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très communs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74520" y="3575304"/>
            <a:ext cx="1836847" cy="274320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766231" y="35295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425696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BE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94360" y="442569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intérêts communs ont un impact 3x supérieur à l'origine raciale (+3.3 pts vs +1.0 pt)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 décisionnelle au fil de la soirée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75320" y="1298448"/>
            <a:ext cx="457200" cy="457200"/>
          </a:xfrm>
          <a:prstGeom prst="ellipse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1399032"/>
            <a:ext cx="256032" cy="25603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074920" y="2331720"/>
            <a:ext cx="868680" cy="1527048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5074920" y="2397191"/>
            <a:ext cx="868680" cy="1461577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937760" y="1939991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43.2%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892040" y="39044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de soirée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355080" y="2331720"/>
            <a:ext cx="868680" cy="1527048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6355080" y="2441174"/>
            <a:ext cx="868680" cy="1417594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6217920" y="198397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41.9%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172200" y="39044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de soirée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635240" y="2331720"/>
            <a:ext cx="868680" cy="1527048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7635240" y="2532522"/>
            <a:ext cx="868680" cy="1326246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7498080" y="207532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5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39.2%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452360" y="39044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soirée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486400" y="2651760"/>
            <a:ext cx="2240280" cy="457200"/>
          </a:xfrm>
          <a:prstGeom prst="line">
            <a:avLst/>
          </a:prstGeom>
          <a:noFill/>
          <a:ln w="31750">
            <a:solidFill>
              <a:srgbClr val="EF456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4846320" y="4425696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FBE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4983480" y="442569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Déclin régulier de -4 pts entre le début et la fin : mieux vaut être rencontré tôt 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45720"/>
            <a:ext cx="3108960" cy="3108960"/>
          </a:xfrm>
          <a:prstGeom prst="ellipse">
            <a:avLst/>
          </a:prstGeom>
          <a:solidFill>
            <a:srgbClr val="3C1E2D">
              <a:alpha val="5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recommandations pour Tinder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Fondées sur l'analyse de 8 378 rencontres réelles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86200" cy="1481328"/>
          </a:xfrm>
          <a:prstGeom prst="rect">
            <a:avLst/>
          </a:prstGeom>
          <a:solidFill>
            <a:srgbClr val="1E2540"/>
          </a:solidFill>
          <a:ln w="15875">
            <a:solidFill>
              <a:srgbClr val="EF4565"/>
            </a:solidFill>
            <a:prstDash val="solid"/>
          </a:ln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" cy="1481328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5448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1536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Valoriser la photo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1993392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L'attractivité (corr = 0.49) est le premier filtre éliminatoire. Aider les utilisateurs à sélectionner la meilleure photo booste directement le taux de match.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00600" y="1371600"/>
            <a:ext cx="3886200" cy="1481328"/>
          </a:xfrm>
          <a:prstGeom prst="rect">
            <a:avLst/>
          </a:prstGeom>
          <a:solidFill>
            <a:srgbClr val="1E2540"/>
          </a:solidFill>
          <a:ln w="15875">
            <a:solidFill>
              <a:srgbClr val="EF4565"/>
            </a:solidFill>
            <a:prstDash val="solid"/>
          </a:ln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800600" y="1371600"/>
            <a:ext cx="822960" cy="1481328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800600" y="1371600"/>
            <a:ext cx="822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5544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09360" y="1536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Algorithme Passions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806440" y="1993392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intérêts communs ont un impact 3x plus fort que l'origine raciale partagée (+3.3 pts de match). Pondérer les Tags d'intérêts dans le matching améliore significativement les chances.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" y="2971800"/>
            <a:ext cx="3886200" cy="1481328"/>
          </a:xfrm>
          <a:prstGeom prst="rect">
            <a:avLst/>
          </a:prstGeom>
          <a:solidFill>
            <a:srgbClr val="1E2540"/>
          </a:solidFill>
          <a:ln w="15875">
            <a:solidFill>
              <a:srgbClr val="EF4565"/>
            </a:solidFill>
            <a:prstDash val="solid"/>
          </a:ln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57200" y="2971800"/>
            <a:ext cx="822960" cy="1481328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457200" y="2971800"/>
            <a:ext cx="822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315468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3136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Limiter le swipe/session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463040" y="3593592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fatigue décisionnelle réduit le taux de 'Oui' de 43.2% en début à 39.2% en fin de soirée (-4 pts). Une limite quotidienne de swipes préserve la qualité des décisions.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800600" y="2971800"/>
            <a:ext cx="3886200" cy="1481328"/>
          </a:xfrm>
          <a:prstGeom prst="rect">
            <a:avLst/>
          </a:prstGeom>
          <a:solidFill>
            <a:srgbClr val="1E2540"/>
          </a:solidFill>
          <a:ln w="15875">
            <a:solidFill>
              <a:srgbClr val="EF4565"/>
            </a:solidFill>
            <a:prstDash val="solid"/>
          </a:ln>
          <a:effectLst>
            <a:outerShdw blurRad="889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4800600" y="2971800"/>
            <a:ext cx="822960" cy="1481328"/>
          </a:xfrm>
          <a:prstGeom prst="rect">
            <a:avLst/>
          </a:prstGeom>
          <a:solidFill>
            <a:srgbClr val="EF456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0"/>
          <p:cNvSpPr/>
          <p:nvPr/>
        </p:nvSpPr>
        <p:spPr>
          <a:xfrm>
            <a:off x="4800600" y="2971800"/>
            <a:ext cx="822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315468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09360" y="3136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de profil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806440" y="3593592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 surestiment leur attractivité de +0.9 pt (corr = 0.175). Un feedback anonymisé aide à aligner les attentes sur la réalité du marché.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Dating Analysis  /  Columbia University Dataset (2002-2004)   |   8 378 rencontres   |   195 variables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548</Words>
  <Application>Microsoft Office PowerPoint</Application>
  <PresentationFormat>Affichage à l'écran (16:9)</PresentationFormat>
  <Paragraphs>121</Paragraphs>
  <Slides>6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 Dating - Qu'est-ce qui declenche l'etincelle ?</dc:title>
  <dc:subject>PptxGenJS Presentation</dc:subject>
  <dc:creator>Analyse Speed Dating</dc:creator>
  <cp:lastModifiedBy>Aicha FATHELLAH</cp:lastModifiedBy>
  <cp:revision>3</cp:revision>
  <dcterms:created xsi:type="dcterms:W3CDTF">2026-06-28T21:46:55Z</dcterms:created>
  <dcterms:modified xsi:type="dcterms:W3CDTF">2026-07-03T21:24:50Z</dcterms:modified>
</cp:coreProperties>
</file>