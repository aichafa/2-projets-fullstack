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914400"/>
            <a:ext cx="4937760" cy="4937760"/>
          </a:xfrm>
          <a:prstGeom prst="ellipse">
            <a:avLst/>
          </a:prstGeom>
          <a:solidFill>
            <a:srgbClr val="3C1E2D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3840480"/>
            <a:ext cx="2743200" cy="2743200"/>
          </a:xfrm>
          <a:prstGeom prst="ellipse">
            <a:avLst/>
          </a:prstGeom>
          <a:solidFill>
            <a:srgbClr val="3C1E2D">
              <a:alpha val="45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1554480" cy="1554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240280" y="411480"/>
            <a:ext cx="4297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Qu'est-ce qui</a:t>
            </a:r>
            <a:endParaRPr lang="en-US" sz="40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déclenche</a:t>
            </a:r>
            <a:endParaRPr lang="en-US" sz="40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l'étincelle ?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2240280" y="2971800"/>
            <a:ext cx="2331720" cy="384048"/>
          </a:xfrm>
          <a:prstGeom prst="roundRect">
            <a:avLst>
              <a:gd name="adj" fmla="val 19048"/>
            </a:avLst>
          </a:prstGeom>
          <a:solidFill>
            <a:srgbClr val="EF4565"/>
          </a:solidFill>
          <a:ln/>
        </p:spPr>
      </p:sp>
      <p:sp>
        <p:nvSpPr>
          <p:cNvPr id="7" name="Text 4"/>
          <p:cNvSpPr/>
          <p:nvPr/>
        </p:nvSpPr>
        <p:spPr>
          <a:xfrm>
            <a:off x="2240280" y="2971800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SPEED DATING (TINDER)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02920" y="416052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des 8 378 rencontres de l'expérience Columbia University (2002-2004)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720840" y="502920"/>
            <a:ext cx="1965960" cy="1234440"/>
          </a:xfrm>
          <a:prstGeom prst="rect">
            <a:avLst/>
          </a:prstGeom>
          <a:solidFill>
            <a:srgbClr val="1E2540"/>
          </a:solidFill>
          <a:ln w="15875">
            <a:solidFill>
              <a:srgbClr val="EF456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20840" y="667512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F45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8 378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6720840" y="1252728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7D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Rencontres analysées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720840" y="1984248"/>
            <a:ext cx="1965960" cy="1234440"/>
          </a:xfrm>
          <a:prstGeom prst="rect">
            <a:avLst/>
          </a:prstGeom>
          <a:solidFill>
            <a:srgbClr val="1E2540"/>
          </a:solidFill>
          <a:ln w="15875">
            <a:solidFill>
              <a:srgbClr val="EF456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720840" y="214884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F45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16,5 %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6720840" y="2734056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7D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match moyen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720840" y="3465576"/>
            <a:ext cx="1965960" cy="1234440"/>
          </a:xfrm>
          <a:prstGeom prst="rect">
            <a:avLst/>
          </a:prstGeom>
          <a:solidFill>
            <a:srgbClr val="1E2540"/>
          </a:solidFill>
          <a:ln w="15875">
            <a:solidFill>
              <a:srgbClr val="EF456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720840" y="3630168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F45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195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6720840" y="4215384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7D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collectées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1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yeux décident en premier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7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Corrélation des critères avec la décision finale : ce qui compte vraiment</a:t>
            </a:r>
            <a:endParaRPr lang="en-US" sz="12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0" y="292608"/>
            <a:ext cx="566928" cy="5669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20040" y="1380744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1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Attractivité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2011680" y="1417320"/>
            <a:ext cx="1471041" cy="274320"/>
          </a:xfrm>
          <a:prstGeom prst="rect">
            <a:avLst/>
          </a:prstGeom>
          <a:solidFill>
            <a:srgbClr val="8A2D49"/>
          </a:solidFill>
          <a:ln/>
        </p:spPr>
      </p:sp>
      <p:sp>
        <p:nvSpPr>
          <p:cNvPr id="7" name="Shape 4"/>
          <p:cNvSpPr/>
          <p:nvPr/>
        </p:nvSpPr>
        <p:spPr>
          <a:xfrm>
            <a:off x="3482721" y="1417320"/>
            <a:ext cx="1732559" cy="274320"/>
          </a:xfrm>
          <a:prstGeom prst="rect">
            <a:avLst/>
          </a:prstGeom>
          <a:solidFill>
            <a:srgbClr val="EF4565"/>
          </a:solidFill>
          <a:ln/>
        </p:spPr>
      </p:sp>
      <p:sp>
        <p:nvSpPr>
          <p:cNvPr id="8" name="Text 5"/>
          <p:cNvSpPr/>
          <p:nvPr/>
        </p:nvSpPr>
        <p:spPr>
          <a:xfrm>
            <a:off x="5288432" y="1380744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F4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320040" y="185623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1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Humour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2011680" y="1892808"/>
            <a:ext cx="1144143" cy="274320"/>
          </a:xfrm>
          <a:prstGeom prst="rect">
            <a:avLst/>
          </a:prstGeom>
          <a:solidFill>
            <a:srgbClr val="8A2D49"/>
          </a:solidFill>
          <a:ln/>
        </p:spPr>
      </p:sp>
      <p:sp>
        <p:nvSpPr>
          <p:cNvPr id="11" name="Shape 8"/>
          <p:cNvSpPr/>
          <p:nvPr/>
        </p:nvSpPr>
        <p:spPr>
          <a:xfrm>
            <a:off x="3155823" y="1892808"/>
            <a:ext cx="1536421" cy="274320"/>
          </a:xfrm>
          <a:prstGeom prst="rect">
            <a:avLst/>
          </a:prstGeom>
          <a:solidFill>
            <a:srgbClr val="EF4565"/>
          </a:solidFill>
          <a:ln/>
        </p:spPr>
      </p:sp>
      <p:sp>
        <p:nvSpPr>
          <p:cNvPr id="12" name="Text 9"/>
          <p:cNvSpPr/>
          <p:nvPr/>
        </p:nvSpPr>
        <p:spPr>
          <a:xfrm>
            <a:off x="4765396" y="185623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F4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20040" y="233172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1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Intérêts communs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2011680" y="2368296"/>
            <a:ext cx="771479" cy="274320"/>
          </a:xfrm>
          <a:prstGeom prst="rect">
            <a:avLst/>
          </a:prstGeom>
          <a:solidFill>
            <a:srgbClr val="8A2D49"/>
          </a:solidFill>
          <a:ln/>
        </p:spPr>
      </p:sp>
      <p:sp>
        <p:nvSpPr>
          <p:cNvPr id="15" name="Shape 12"/>
          <p:cNvSpPr/>
          <p:nvPr/>
        </p:nvSpPr>
        <p:spPr>
          <a:xfrm>
            <a:off x="2783159" y="2368296"/>
            <a:ext cx="1843705" cy="274320"/>
          </a:xfrm>
          <a:prstGeom prst="rect">
            <a:avLst/>
          </a:prstGeom>
          <a:solidFill>
            <a:srgbClr val="EF4565"/>
          </a:solidFill>
          <a:ln/>
        </p:spPr>
      </p:sp>
      <p:sp>
        <p:nvSpPr>
          <p:cNvPr id="16" name="Text 13"/>
          <p:cNvSpPr/>
          <p:nvPr/>
        </p:nvSpPr>
        <p:spPr>
          <a:xfrm>
            <a:off x="4700016" y="233172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F4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320040" y="2807208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2011680" y="2843784"/>
            <a:ext cx="1327206" cy="274320"/>
          </a:xfrm>
          <a:prstGeom prst="rect">
            <a:avLst/>
          </a:prstGeom>
          <a:solidFill>
            <a:srgbClr val="7E8694"/>
          </a:solidFill>
          <a:ln/>
        </p:spPr>
      </p:sp>
      <p:sp>
        <p:nvSpPr>
          <p:cNvPr id="19" name="Shape 16"/>
          <p:cNvSpPr/>
          <p:nvPr/>
        </p:nvSpPr>
        <p:spPr>
          <a:xfrm>
            <a:off x="3338886" y="2843784"/>
            <a:ext cx="45766" cy="274320"/>
          </a:xfrm>
          <a:prstGeom prst="rect">
            <a:avLst/>
          </a:prstGeom>
          <a:solidFill>
            <a:srgbClr val="C7CCD4"/>
          </a:solidFill>
          <a:ln/>
        </p:spPr>
      </p:sp>
      <p:sp>
        <p:nvSpPr>
          <p:cNvPr id="20" name="Text 17"/>
          <p:cNvSpPr/>
          <p:nvPr/>
        </p:nvSpPr>
        <p:spPr>
          <a:xfrm>
            <a:off x="3457804" y="2807208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B9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20040" y="3282696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Sincérité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2011680" y="3319272"/>
            <a:ext cx="1137605" cy="274320"/>
          </a:xfrm>
          <a:prstGeom prst="rect">
            <a:avLst/>
          </a:prstGeom>
          <a:solidFill>
            <a:srgbClr val="7E8694"/>
          </a:solidFill>
          <a:ln/>
        </p:spPr>
      </p:sp>
      <p:sp>
        <p:nvSpPr>
          <p:cNvPr id="23" name="Shape 20"/>
          <p:cNvSpPr/>
          <p:nvPr/>
        </p:nvSpPr>
        <p:spPr>
          <a:xfrm>
            <a:off x="3149285" y="3319272"/>
            <a:ext cx="235367" cy="274320"/>
          </a:xfrm>
          <a:prstGeom prst="rect">
            <a:avLst/>
          </a:prstGeom>
          <a:solidFill>
            <a:srgbClr val="C7CCD4"/>
          </a:solidFill>
          <a:ln/>
        </p:spPr>
      </p:sp>
      <p:sp>
        <p:nvSpPr>
          <p:cNvPr id="24" name="Text 21"/>
          <p:cNvSpPr/>
          <p:nvPr/>
        </p:nvSpPr>
        <p:spPr>
          <a:xfrm>
            <a:off x="3457804" y="3282696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B9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320040" y="3758184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Ambition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2011680" y="3794760"/>
            <a:ext cx="699562" cy="274320"/>
          </a:xfrm>
          <a:prstGeom prst="rect">
            <a:avLst/>
          </a:prstGeom>
          <a:solidFill>
            <a:srgbClr val="7E8694"/>
          </a:solidFill>
          <a:ln/>
        </p:spPr>
      </p:sp>
      <p:sp>
        <p:nvSpPr>
          <p:cNvPr id="27" name="Shape 24"/>
          <p:cNvSpPr/>
          <p:nvPr/>
        </p:nvSpPr>
        <p:spPr>
          <a:xfrm>
            <a:off x="2711242" y="3794760"/>
            <a:ext cx="477271" cy="274320"/>
          </a:xfrm>
          <a:prstGeom prst="rect">
            <a:avLst/>
          </a:prstGeom>
          <a:solidFill>
            <a:srgbClr val="C7CCD4"/>
          </a:solidFill>
          <a:ln/>
        </p:spPr>
      </p:sp>
      <p:sp>
        <p:nvSpPr>
          <p:cNvPr id="28" name="Text 25"/>
          <p:cNvSpPr/>
          <p:nvPr/>
        </p:nvSpPr>
        <p:spPr>
          <a:xfrm>
            <a:off x="3261665" y="3758184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B9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2011680" y="4370832"/>
            <a:ext cx="201168" cy="201168"/>
          </a:xfrm>
          <a:prstGeom prst="rect">
            <a:avLst/>
          </a:prstGeom>
          <a:solidFill>
            <a:srgbClr val="EF4565"/>
          </a:solidFill>
          <a:ln/>
        </p:spPr>
      </p:sp>
      <p:sp>
        <p:nvSpPr>
          <p:cNvPr id="30" name="Text 27"/>
          <p:cNvSpPr/>
          <p:nvPr/>
        </p:nvSpPr>
        <p:spPr>
          <a:xfrm>
            <a:off x="2267712" y="43342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réel (corr. x 100)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4572000" y="4370832"/>
            <a:ext cx="201168" cy="201168"/>
          </a:xfrm>
          <a:prstGeom prst="rect">
            <a:avLst/>
          </a:prstGeom>
          <a:solidFill>
            <a:srgbClr val="9AA0AB"/>
          </a:solidFill>
          <a:ln/>
        </p:spPr>
      </p:sp>
      <p:sp>
        <p:nvSpPr>
          <p:cNvPr id="32" name="Text 29"/>
          <p:cNvSpPr/>
          <p:nvPr/>
        </p:nvSpPr>
        <p:spPr>
          <a:xfrm>
            <a:off x="4828032" y="43342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Importance déclarée (/100)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7086600" y="1097280"/>
            <a:ext cx="1737360" cy="3154680"/>
          </a:xfrm>
          <a:prstGeom prst="rect">
            <a:avLst/>
          </a:prstGeom>
          <a:solidFill>
            <a:srgbClr val="1E2540"/>
          </a:solidFill>
          <a:ln/>
          <a:effectLst>
            <a:outerShdw sx="100000" sy="100000" kx="0" ky="0" algn="bl" rotWithShape="0" blurRad="88900" dist="38100" dir="5400000">
              <a:srgbClr val="000000">
                <a:alpha val="25000"/>
              </a:srgbClr>
            </a:outerShdw>
          </a:effectLst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280160"/>
            <a:ext cx="274320" cy="274320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7589520" y="126187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5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Insight</a:t>
            </a:r>
            <a:endParaRPr lang="en-US" sz="1600" dirty="0"/>
          </a:p>
        </p:txBody>
      </p:sp>
      <p:sp>
        <p:nvSpPr>
          <p:cNvPr id="36" name="Text 32"/>
          <p:cNvSpPr/>
          <p:nvPr/>
        </p:nvSpPr>
        <p:spPr>
          <a:xfrm>
            <a:off x="7269480" y="169164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D7D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gens déclarent valoriser la sincérité et l'intelligence...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7269480" y="2697480"/>
            <a:ext cx="1417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2C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décident avec leurs yeux (x2.2) et leur rire (x2.4) par rapport à leur discours.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0" y="-1097280"/>
            <a:ext cx="2743200" cy="2743200"/>
          </a:xfrm>
          <a:prstGeom prst="ellipse">
            <a:avLst/>
          </a:prstGeom>
          <a:solidFill>
            <a:srgbClr val="3C1E2D">
              <a:alpha val="5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les genres ne savent pas d'eux-mêmes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Auto-perception vs. réalité : le biais d'auto-complaisance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651760" cy="3063240"/>
          </a:xfrm>
          <a:prstGeom prst="rect">
            <a:avLst/>
          </a:prstGeom>
          <a:solidFill>
            <a:srgbClr val="1E2540"/>
          </a:solidFill>
          <a:ln w="15875">
            <a:solidFill>
              <a:srgbClr val="EF4565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5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0472" y="1600200"/>
            <a:ext cx="585216" cy="5852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2240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Attractivité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58368" y="267004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F4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réelle reçue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58368" y="2907792"/>
            <a:ext cx="2249424" cy="182880"/>
          </a:xfrm>
          <a:prstGeom prst="rect">
            <a:avLst/>
          </a:prstGeom>
          <a:solidFill>
            <a:srgbClr val="2B3050"/>
          </a:solidFill>
          <a:ln/>
        </p:spPr>
      </p:sp>
      <p:sp>
        <p:nvSpPr>
          <p:cNvPr id="10" name="Shape 7"/>
          <p:cNvSpPr/>
          <p:nvPr/>
        </p:nvSpPr>
        <p:spPr>
          <a:xfrm>
            <a:off x="658368" y="2907792"/>
            <a:ext cx="1390144" cy="182880"/>
          </a:xfrm>
          <a:prstGeom prst="rect">
            <a:avLst/>
          </a:prstGeom>
          <a:solidFill>
            <a:srgbClr val="EF4565"/>
          </a:solidFill>
          <a:ln/>
        </p:spPr>
      </p:sp>
      <p:sp>
        <p:nvSpPr>
          <p:cNvPr id="11" name="Text 8"/>
          <p:cNvSpPr/>
          <p:nvPr/>
        </p:nvSpPr>
        <p:spPr>
          <a:xfrm>
            <a:off x="658368" y="3108960"/>
            <a:ext cx="2249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4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6.18 / 10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58368" y="340156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C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Auto-perception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58368" y="3639312"/>
            <a:ext cx="2249424" cy="182880"/>
          </a:xfrm>
          <a:prstGeom prst="rect">
            <a:avLst/>
          </a:prstGeom>
          <a:solidFill>
            <a:srgbClr val="2B3050"/>
          </a:solidFill>
          <a:ln/>
        </p:spPr>
      </p:sp>
      <p:sp>
        <p:nvSpPr>
          <p:cNvPr id="14" name="Shape 11"/>
          <p:cNvSpPr/>
          <p:nvPr/>
        </p:nvSpPr>
        <p:spPr>
          <a:xfrm>
            <a:off x="658368" y="3639312"/>
            <a:ext cx="1592592" cy="182880"/>
          </a:xfrm>
          <a:prstGeom prst="rect">
            <a:avLst/>
          </a:prstGeom>
          <a:solidFill>
            <a:srgbClr val="F4A6B6"/>
          </a:solidFill>
          <a:ln/>
        </p:spPr>
      </p:sp>
      <p:sp>
        <p:nvSpPr>
          <p:cNvPr id="15" name="Text 12"/>
          <p:cNvSpPr/>
          <p:nvPr/>
        </p:nvSpPr>
        <p:spPr>
          <a:xfrm>
            <a:off x="658368" y="3840480"/>
            <a:ext cx="2249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8E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7.08 / 10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31520" y="4114800"/>
            <a:ext cx="2103120" cy="310896"/>
          </a:xfrm>
          <a:prstGeom prst="roundRect">
            <a:avLst>
              <a:gd name="adj" fmla="val 14706"/>
            </a:avLst>
          </a:prstGeom>
          <a:solidFill>
            <a:srgbClr val="EF4565"/>
          </a:solidFill>
          <a:ln/>
        </p:spPr>
      </p:sp>
      <p:sp>
        <p:nvSpPr>
          <p:cNvPr id="17" name="Text 14"/>
          <p:cNvSpPr/>
          <p:nvPr/>
        </p:nvSpPr>
        <p:spPr>
          <a:xfrm>
            <a:off x="731520" y="41148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Surestimation : +0.90 pt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3246120" y="1417320"/>
            <a:ext cx="2651760" cy="3063240"/>
          </a:xfrm>
          <a:prstGeom prst="rect">
            <a:avLst/>
          </a:prstGeom>
          <a:solidFill>
            <a:srgbClr val="1E2540"/>
          </a:solidFill>
          <a:ln w="15875">
            <a:solidFill>
              <a:srgbClr val="EF4565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5000"/>
              </a:srgbClr>
            </a:outerShdw>
          </a:effectLst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9392" y="1600200"/>
            <a:ext cx="585216" cy="585216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3246120" y="2240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Sincérité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3447288" y="267004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F4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réelle reçue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3447288" y="2907792"/>
            <a:ext cx="2249424" cy="182880"/>
          </a:xfrm>
          <a:prstGeom prst="rect">
            <a:avLst/>
          </a:prstGeom>
          <a:solidFill>
            <a:srgbClr val="2B3050"/>
          </a:solidFill>
          <a:ln/>
        </p:spPr>
      </p:sp>
      <p:sp>
        <p:nvSpPr>
          <p:cNvPr id="23" name="Shape 19"/>
          <p:cNvSpPr/>
          <p:nvPr/>
        </p:nvSpPr>
        <p:spPr>
          <a:xfrm>
            <a:off x="3447288" y="2907792"/>
            <a:ext cx="1615086" cy="182880"/>
          </a:xfrm>
          <a:prstGeom prst="rect">
            <a:avLst/>
          </a:prstGeom>
          <a:solidFill>
            <a:srgbClr val="EF4565"/>
          </a:solidFill>
          <a:ln/>
        </p:spPr>
      </p:sp>
      <p:sp>
        <p:nvSpPr>
          <p:cNvPr id="24" name="Text 20"/>
          <p:cNvSpPr/>
          <p:nvPr/>
        </p:nvSpPr>
        <p:spPr>
          <a:xfrm>
            <a:off x="3447288" y="3108960"/>
            <a:ext cx="2249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4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7.18 / 10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3447288" y="340156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C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Auto-perception</a:t>
            </a:r>
            <a:endParaRPr lang="en-US" sz="950" dirty="0"/>
          </a:p>
        </p:txBody>
      </p:sp>
      <p:sp>
        <p:nvSpPr>
          <p:cNvPr id="26" name="Shape 22"/>
          <p:cNvSpPr/>
          <p:nvPr/>
        </p:nvSpPr>
        <p:spPr>
          <a:xfrm>
            <a:off x="3447288" y="3639312"/>
            <a:ext cx="2249424" cy="182880"/>
          </a:xfrm>
          <a:prstGeom prst="rect">
            <a:avLst/>
          </a:prstGeom>
          <a:solidFill>
            <a:srgbClr val="2B3050"/>
          </a:solidFill>
          <a:ln/>
        </p:spPr>
      </p:sp>
      <p:sp>
        <p:nvSpPr>
          <p:cNvPr id="27" name="Shape 23"/>
          <p:cNvSpPr/>
          <p:nvPr/>
        </p:nvSpPr>
        <p:spPr>
          <a:xfrm>
            <a:off x="3447288" y="3639312"/>
            <a:ext cx="1867022" cy="182880"/>
          </a:xfrm>
          <a:prstGeom prst="rect">
            <a:avLst/>
          </a:prstGeom>
          <a:solidFill>
            <a:srgbClr val="F4A6B6"/>
          </a:solidFill>
          <a:ln/>
        </p:spPr>
      </p:sp>
      <p:sp>
        <p:nvSpPr>
          <p:cNvPr id="28" name="Text 24"/>
          <p:cNvSpPr/>
          <p:nvPr/>
        </p:nvSpPr>
        <p:spPr>
          <a:xfrm>
            <a:off x="3447288" y="3840480"/>
            <a:ext cx="2249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8E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8.30 / 10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3520440" y="4114800"/>
            <a:ext cx="2103120" cy="310896"/>
          </a:xfrm>
          <a:prstGeom prst="roundRect">
            <a:avLst>
              <a:gd name="adj" fmla="val 14706"/>
            </a:avLst>
          </a:prstGeom>
          <a:solidFill>
            <a:srgbClr val="EF4565"/>
          </a:solidFill>
          <a:ln/>
        </p:spPr>
      </p:sp>
      <p:sp>
        <p:nvSpPr>
          <p:cNvPr id="30" name="Text 26"/>
          <p:cNvSpPr/>
          <p:nvPr/>
        </p:nvSpPr>
        <p:spPr>
          <a:xfrm>
            <a:off x="3520440" y="41148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Surestimation : +1.13 pt</a:t>
            </a:r>
            <a:endParaRPr lang="en-US" sz="1000" dirty="0"/>
          </a:p>
        </p:txBody>
      </p:sp>
      <p:sp>
        <p:nvSpPr>
          <p:cNvPr id="31" name="Shape 27"/>
          <p:cNvSpPr/>
          <p:nvPr/>
        </p:nvSpPr>
        <p:spPr>
          <a:xfrm>
            <a:off x="6035040" y="1417320"/>
            <a:ext cx="2651760" cy="3063240"/>
          </a:xfrm>
          <a:prstGeom prst="rect">
            <a:avLst/>
          </a:prstGeom>
          <a:solidFill>
            <a:srgbClr val="1E2540"/>
          </a:solidFill>
          <a:ln w="15875">
            <a:solidFill>
              <a:srgbClr val="EF4565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5000"/>
              </a:srgbClr>
            </a:outerShdw>
          </a:effectLst>
        </p:spPr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8312" y="1600200"/>
            <a:ext cx="585216" cy="585216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6035040" y="2240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Intelligence</a:t>
            </a:r>
            <a:endParaRPr lang="en-US" sz="1800" dirty="0"/>
          </a:p>
        </p:txBody>
      </p:sp>
      <p:sp>
        <p:nvSpPr>
          <p:cNvPr id="34" name="Text 29"/>
          <p:cNvSpPr/>
          <p:nvPr/>
        </p:nvSpPr>
        <p:spPr>
          <a:xfrm>
            <a:off x="6236208" y="267004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F4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réelle reçue</a:t>
            </a:r>
            <a:endParaRPr lang="en-US" sz="950" dirty="0"/>
          </a:p>
        </p:txBody>
      </p:sp>
      <p:sp>
        <p:nvSpPr>
          <p:cNvPr id="35" name="Shape 30"/>
          <p:cNvSpPr/>
          <p:nvPr/>
        </p:nvSpPr>
        <p:spPr>
          <a:xfrm>
            <a:off x="6236208" y="2907792"/>
            <a:ext cx="2249424" cy="182880"/>
          </a:xfrm>
          <a:prstGeom prst="rect">
            <a:avLst/>
          </a:prstGeom>
          <a:solidFill>
            <a:srgbClr val="2B3050"/>
          </a:solidFill>
          <a:ln/>
        </p:spPr>
      </p:sp>
      <p:sp>
        <p:nvSpPr>
          <p:cNvPr id="36" name="Shape 31"/>
          <p:cNvSpPr/>
          <p:nvPr/>
        </p:nvSpPr>
        <p:spPr>
          <a:xfrm>
            <a:off x="6236208" y="2907792"/>
            <a:ext cx="1655576" cy="182880"/>
          </a:xfrm>
          <a:prstGeom prst="rect">
            <a:avLst/>
          </a:prstGeom>
          <a:solidFill>
            <a:srgbClr val="EF4565"/>
          </a:solidFill>
          <a:ln/>
        </p:spPr>
      </p:sp>
      <p:sp>
        <p:nvSpPr>
          <p:cNvPr id="37" name="Text 32"/>
          <p:cNvSpPr/>
          <p:nvPr/>
        </p:nvSpPr>
        <p:spPr>
          <a:xfrm>
            <a:off x="6236208" y="3108960"/>
            <a:ext cx="2249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4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7.36 / 10</a:t>
            </a:r>
            <a:endParaRPr lang="en-US" sz="1000" dirty="0"/>
          </a:p>
        </p:txBody>
      </p:sp>
      <p:sp>
        <p:nvSpPr>
          <p:cNvPr id="38" name="Text 33"/>
          <p:cNvSpPr/>
          <p:nvPr/>
        </p:nvSpPr>
        <p:spPr>
          <a:xfrm>
            <a:off x="6236208" y="340156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C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Auto-perception</a:t>
            </a:r>
            <a:endParaRPr lang="en-US" sz="950" dirty="0"/>
          </a:p>
        </p:txBody>
      </p:sp>
      <p:sp>
        <p:nvSpPr>
          <p:cNvPr id="39" name="Shape 34"/>
          <p:cNvSpPr/>
          <p:nvPr/>
        </p:nvSpPr>
        <p:spPr>
          <a:xfrm>
            <a:off x="6236208" y="3639312"/>
            <a:ext cx="2249424" cy="182880"/>
          </a:xfrm>
          <a:prstGeom prst="rect">
            <a:avLst/>
          </a:prstGeom>
          <a:solidFill>
            <a:srgbClr val="2B3050"/>
          </a:solidFill>
          <a:ln/>
        </p:spPr>
      </p:sp>
      <p:sp>
        <p:nvSpPr>
          <p:cNvPr id="40" name="Shape 35"/>
          <p:cNvSpPr/>
          <p:nvPr/>
        </p:nvSpPr>
        <p:spPr>
          <a:xfrm>
            <a:off x="6236208" y="3639312"/>
            <a:ext cx="1891766" cy="182880"/>
          </a:xfrm>
          <a:prstGeom prst="rect">
            <a:avLst/>
          </a:prstGeom>
          <a:solidFill>
            <a:srgbClr val="F4A6B6"/>
          </a:solidFill>
          <a:ln/>
        </p:spPr>
      </p:sp>
      <p:sp>
        <p:nvSpPr>
          <p:cNvPr id="41" name="Text 36"/>
          <p:cNvSpPr/>
          <p:nvPr/>
        </p:nvSpPr>
        <p:spPr>
          <a:xfrm>
            <a:off x="6236208" y="3840480"/>
            <a:ext cx="2249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8E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8.41 / 10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6309360" y="4114800"/>
            <a:ext cx="2103120" cy="310896"/>
          </a:xfrm>
          <a:prstGeom prst="roundRect">
            <a:avLst>
              <a:gd name="adj" fmla="val 14706"/>
            </a:avLst>
          </a:prstGeom>
          <a:solidFill>
            <a:srgbClr val="EF4565"/>
          </a:solidFill>
          <a:ln/>
        </p:spPr>
      </p:sp>
      <p:sp>
        <p:nvSpPr>
          <p:cNvPr id="43" name="Text 38"/>
          <p:cNvSpPr/>
          <p:nvPr/>
        </p:nvSpPr>
        <p:spPr>
          <a:xfrm>
            <a:off x="6309360" y="41148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Surestimation : +1.04 pt</a:t>
            </a:r>
            <a:endParaRPr lang="en-US" sz="1000" dirty="0"/>
          </a:p>
        </p:txBody>
      </p:sp>
      <p:sp>
        <p:nvSpPr>
          <p:cNvPr id="44" name="Text 39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Corrélation auto-perception / note réelle = 0.175 seulement - les gens sont de mauvais juges d'eux-mêmes.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1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qui rapproche vraiment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7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Intérêts communs vs. origine raciale et l'effet du timing dans la soirée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0" y="1417320"/>
            <a:ext cx="0" cy="2651760"/>
          </a:xfrm>
          <a:prstGeom prst="line">
            <a:avLst/>
          </a:prstGeom>
          <a:noFill/>
          <a:ln w="12700">
            <a:solidFill>
              <a:srgbClr val="CBD2DC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457200" y="13716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Intérêts communs vs. même origine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18288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Origines différentes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874520" y="1874520"/>
            <a:ext cx="1589959" cy="274320"/>
          </a:xfrm>
          <a:prstGeom prst="rect">
            <a:avLst/>
          </a:prstGeom>
          <a:solidFill>
            <a:srgbClr val="9AA0AB"/>
          </a:solidFill>
          <a:ln/>
        </p:spPr>
      </p:sp>
      <p:sp>
        <p:nvSpPr>
          <p:cNvPr id="8" name="Text 6"/>
          <p:cNvSpPr/>
          <p:nvPr/>
        </p:nvSpPr>
        <p:spPr>
          <a:xfrm>
            <a:off x="3519343" y="182880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16.1%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65760" y="23957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origine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874520" y="2441448"/>
            <a:ext cx="1688714" cy="274320"/>
          </a:xfrm>
          <a:prstGeom prst="rect">
            <a:avLst/>
          </a:prstGeom>
          <a:solidFill>
            <a:srgbClr val="7E8694"/>
          </a:solidFill>
          <a:ln/>
        </p:spPr>
      </p:sp>
      <p:sp>
        <p:nvSpPr>
          <p:cNvPr id="11" name="Text 9"/>
          <p:cNvSpPr/>
          <p:nvPr/>
        </p:nvSpPr>
        <p:spPr>
          <a:xfrm>
            <a:off x="3618098" y="239572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17.1%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65760" y="296265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Peu d'intérêts comm.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874520" y="3008376"/>
            <a:ext cx="1510955" cy="274320"/>
          </a:xfrm>
          <a:prstGeom prst="rect">
            <a:avLst/>
          </a:prstGeom>
          <a:solidFill>
            <a:srgbClr val="F4A6B6"/>
          </a:solidFill>
          <a:ln/>
        </p:spPr>
      </p:sp>
      <p:sp>
        <p:nvSpPr>
          <p:cNvPr id="14" name="Text 12"/>
          <p:cNvSpPr/>
          <p:nvPr/>
        </p:nvSpPr>
        <p:spPr>
          <a:xfrm>
            <a:off x="3440339" y="2962656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15.3%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65760" y="352958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Intérêts très communs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74520" y="3575304"/>
            <a:ext cx="1836847" cy="274320"/>
          </a:xfrm>
          <a:prstGeom prst="rect">
            <a:avLst/>
          </a:prstGeom>
          <a:solidFill>
            <a:srgbClr val="EF4565"/>
          </a:solidFill>
          <a:ln/>
        </p:spPr>
      </p:sp>
      <p:sp>
        <p:nvSpPr>
          <p:cNvPr id="17" name="Text 15"/>
          <p:cNvSpPr/>
          <p:nvPr/>
        </p:nvSpPr>
        <p:spPr>
          <a:xfrm>
            <a:off x="3766231" y="352958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18.6%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4425696"/>
            <a:ext cx="3657600" cy="548640"/>
          </a:xfrm>
          <a:prstGeom prst="roundRect">
            <a:avLst>
              <a:gd name="adj" fmla="val 8333"/>
            </a:avLst>
          </a:prstGeom>
          <a:solidFill>
            <a:srgbClr val="FBE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4425696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F4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intérêts communs ont un impact 3x supérieur à l'origine raciale (+3.3 pts vs +1.0 pt)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846320" y="1371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 décisionnelle au fil de la soirée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275320" y="1298448"/>
            <a:ext cx="457200" cy="457200"/>
          </a:xfrm>
          <a:prstGeom prst="ellipse">
            <a:avLst/>
          </a:prstGeom>
          <a:solidFill>
            <a:srgbClr val="EF4565"/>
          </a:solidFill>
          <a:ln/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5904" y="1399032"/>
            <a:ext cx="256032" cy="256032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5074920" y="2331720"/>
            <a:ext cx="868680" cy="152704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24" name="Shape 21"/>
          <p:cNvSpPr/>
          <p:nvPr/>
        </p:nvSpPr>
        <p:spPr>
          <a:xfrm>
            <a:off x="5074920" y="2397191"/>
            <a:ext cx="868680" cy="1461577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5" name="Text 22"/>
          <p:cNvSpPr/>
          <p:nvPr/>
        </p:nvSpPr>
        <p:spPr>
          <a:xfrm>
            <a:off x="4937760" y="1939991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7AE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43.2%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4892040" y="390448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Début de soirée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6355080" y="2331720"/>
            <a:ext cx="868680" cy="152704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28" name="Shape 25"/>
          <p:cNvSpPr/>
          <p:nvPr/>
        </p:nvSpPr>
        <p:spPr>
          <a:xfrm>
            <a:off x="6355080" y="2441174"/>
            <a:ext cx="868680" cy="1417594"/>
          </a:xfrm>
          <a:prstGeom prst="rect">
            <a:avLst/>
          </a:prstGeom>
          <a:solidFill>
            <a:srgbClr val="E8A23D"/>
          </a:solidFill>
          <a:ln/>
        </p:spPr>
      </p:sp>
      <p:sp>
        <p:nvSpPr>
          <p:cNvPr id="29" name="Text 26"/>
          <p:cNvSpPr/>
          <p:nvPr/>
        </p:nvSpPr>
        <p:spPr>
          <a:xfrm>
            <a:off x="6217920" y="1983974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A2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41.9%</a:t>
            </a:r>
            <a:endParaRPr lang="en-US" sz="2000" dirty="0"/>
          </a:p>
        </p:txBody>
      </p:sp>
      <p:sp>
        <p:nvSpPr>
          <p:cNvPr id="30" name="Text 27"/>
          <p:cNvSpPr/>
          <p:nvPr/>
        </p:nvSpPr>
        <p:spPr>
          <a:xfrm>
            <a:off x="6172200" y="390448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Milieu de soirée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7635240" y="2331720"/>
            <a:ext cx="868680" cy="152704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32" name="Shape 29"/>
          <p:cNvSpPr/>
          <p:nvPr/>
        </p:nvSpPr>
        <p:spPr>
          <a:xfrm>
            <a:off x="7635240" y="2532522"/>
            <a:ext cx="868680" cy="1326246"/>
          </a:xfrm>
          <a:prstGeom prst="rect">
            <a:avLst/>
          </a:prstGeom>
          <a:solidFill>
            <a:srgbClr val="EF4565"/>
          </a:solidFill>
          <a:ln/>
        </p:spPr>
      </p:sp>
      <p:sp>
        <p:nvSpPr>
          <p:cNvPr id="33" name="Text 30"/>
          <p:cNvSpPr/>
          <p:nvPr/>
        </p:nvSpPr>
        <p:spPr>
          <a:xfrm>
            <a:off x="7498080" y="2075322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F45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39.2%</a:t>
            </a:r>
            <a:endParaRPr lang="en-US" sz="2000" dirty="0"/>
          </a:p>
        </p:txBody>
      </p:sp>
      <p:sp>
        <p:nvSpPr>
          <p:cNvPr id="34" name="Text 31"/>
          <p:cNvSpPr/>
          <p:nvPr/>
        </p:nvSpPr>
        <p:spPr>
          <a:xfrm>
            <a:off x="7452360" y="390448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 de soirée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5486400" y="2651760"/>
            <a:ext cx="2240280" cy="457200"/>
          </a:xfrm>
          <a:prstGeom prst="line">
            <a:avLst/>
          </a:prstGeom>
          <a:noFill/>
          <a:ln w="31750">
            <a:solidFill>
              <a:srgbClr val="EF4565"/>
            </a:solidFill>
            <a:prstDash val="dash"/>
          </a:ln>
        </p:spPr>
      </p:sp>
      <p:sp>
        <p:nvSpPr>
          <p:cNvPr id="36" name="Shape 33"/>
          <p:cNvSpPr/>
          <p:nvPr/>
        </p:nvSpPr>
        <p:spPr>
          <a:xfrm>
            <a:off x="4846320" y="4425696"/>
            <a:ext cx="3840480" cy="548640"/>
          </a:xfrm>
          <a:prstGeom prst="roundRect">
            <a:avLst>
              <a:gd name="adj" fmla="val 8333"/>
            </a:avLst>
          </a:prstGeom>
          <a:solidFill>
            <a:srgbClr val="FBE3E8"/>
          </a:solidFill>
          <a:ln/>
        </p:spPr>
      </p:sp>
      <p:sp>
        <p:nvSpPr>
          <p:cNvPr id="37" name="Text 34"/>
          <p:cNvSpPr/>
          <p:nvPr/>
        </p:nvSpPr>
        <p:spPr>
          <a:xfrm>
            <a:off x="4983480" y="4425696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F4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Déclin régulier de -4 pts entre le début et la fin : mieux vaut être rencontré tôt !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-1280160"/>
            <a:ext cx="3108960" cy="3108960"/>
          </a:xfrm>
          <a:prstGeom prst="ellipse">
            <a:avLst/>
          </a:prstGeom>
          <a:solidFill>
            <a:srgbClr val="3C1E2D">
              <a:alpha val="5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recommandations pour Tinder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Fondées sur l'analyse de 8 378 rencontres réelles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886200" cy="1481328"/>
          </a:xfrm>
          <a:prstGeom prst="rect">
            <a:avLst/>
          </a:prstGeom>
          <a:solidFill>
            <a:srgbClr val="1E2540"/>
          </a:solidFill>
          <a:ln w="15875">
            <a:solidFill>
              <a:srgbClr val="EF4565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371600"/>
            <a:ext cx="822960" cy="1481328"/>
          </a:xfrm>
          <a:prstGeom prst="rect">
            <a:avLst/>
          </a:prstGeom>
          <a:solidFill>
            <a:srgbClr val="EF4565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554480"/>
            <a:ext cx="384048" cy="3840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965960" y="153619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Valoriser la photo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463040" y="1993392"/>
            <a:ext cx="26974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7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L'attractivité (corr = 0.49) est le premier filtre éliminatoire. Aider les utilisateurs à sélectionner la meilleure photo booste directement le taux de match.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800600" y="1371600"/>
            <a:ext cx="3886200" cy="1481328"/>
          </a:xfrm>
          <a:prstGeom prst="rect">
            <a:avLst/>
          </a:prstGeom>
          <a:solidFill>
            <a:srgbClr val="1E2540"/>
          </a:solidFill>
          <a:ln w="15875">
            <a:solidFill>
              <a:srgbClr val="EF4565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800600" y="1371600"/>
            <a:ext cx="822960" cy="1481328"/>
          </a:xfrm>
          <a:prstGeom prst="rect">
            <a:avLst/>
          </a:prstGeom>
          <a:solidFill>
            <a:srgbClr val="EF4565"/>
          </a:solidFill>
          <a:ln/>
        </p:spPr>
      </p:sp>
      <p:sp>
        <p:nvSpPr>
          <p:cNvPr id="13" name="Text 10"/>
          <p:cNvSpPr/>
          <p:nvPr/>
        </p:nvSpPr>
        <p:spPr>
          <a:xfrm>
            <a:off x="4800600" y="1371600"/>
            <a:ext cx="8229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554480"/>
            <a:ext cx="384048" cy="38404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309360" y="153619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Algorithme Passions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5806440" y="1993392"/>
            <a:ext cx="26974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7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intérêts communs ont un impact 3x plus fort que l'origine raciale partagée (+3.3 pts de match). Pondérer les Tags d'intérêts dans le matching améliore significativement les chances.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457200" y="2971800"/>
            <a:ext cx="3886200" cy="1481328"/>
          </a:xfrm>
          <a:prstGeom prst="rect">
            <a:avLst/>
          </a:prstGeom>
          <a:solidFill>
            <a:srgbClr val="1E2540"/>
          </a:solidFill>
          <a:ln w="15875">
            <a:solidFill>
              <a:srgbClr val="EF4565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57200" y="2971800"/>
            <a:ext cx="822960" cy="1481328"/>
          </a:xfrm>
          <a:prstGeom prst="rect">
            <a:avLst/>
          </a:prstGeom>
          <a:solidFill>
            <a:srgbClr val="EF4565"/>
          </a:solidFill>
          <a:ln/>
        </p:spPr>
      </p:sp>
      <p:sp>
        <p:nvSpPr>
          <p:cNvPr id="19" name="Text 15"/>
          <p:cNvSpPr/>
          <p:nvPr/>
        </p:nvSpPr>
        <p:spPr>
          <a:xfrm>
            <a:off x="457200" y="2971800"/>
            <a:ext cx="8229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3154680"/>
            <a:ext cx="384048" cy="38404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965960" y="313639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Limiter le swipe/session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1463040" y="3593592"/>
            <a:ext cx="26974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7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fatigue décisionnelle réduit le taux de 'Oui' de 43.2% en début à 39.2% en fin de soirée (-4 pts). Une limite quotidienne de swipes préserve la qualité des décisions.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800600" y="2971800"/>
            <a:ext cx="3886200" cy="1481328"/>
          </a:xfrm>
          <a:prstGeom prst="rect">
            <a:avLst/>
          </a:prstGeom>
          <a:solidFill>
            <a:srgbClr val="1E2540"/>
          </a:solidFill>
          <a:ln w="15875">
            <a:solidFill>
              <a:srgbClr val="EF4565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4800600" y="2971800"/>
            <a:ext cx="822960" cy="1481328"/>
          </a:xfrm>
          <a:prstGeom prst="rect">
            <a:avLst/>
          </a:prstGeom>
          <a:solidFill>
            <a:srgbClr val="EF4565"/>
          </a:solidFill>
          <a:ln/>
        </p:spPr>
      </p:sp>
      <p:sp>
        <p:nvSpPr>
          <p:cNvPr id="25" name="Text 20"/>
          <p:cNvSpPr/>
          <p:nvPr/>
        </p:nvSpPr>
        <p:spPr>
          <a:xfrm>
            <a:off x="4800600" y="2971800"/>
            <a:ext cx="8229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3154680"/>
            <a:ext cx="384048" cy="38404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6309360" y="313639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Calibration de profil</a:t>
            </a:r>
            <a:endParaRPr lang="en-US" sz="1600" dirty="0"/>
          </a:p>
        </p:txBody>
      </p:sp>
      <p:sp>
        <p:nvSpPr>
          <p:cNvPr id="28" name="Text 22"/>
          <p:cNvSpPr/>
          <p:nvPr/>
        </p:nvSpPr>
        <p:spPr>
          <a:xfrm>
            <a:off x="5806440" y="3593592"/>
            <a:ext cx="26974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7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utilisateurs surestiment leur attractivité de +0.9 pt (corr = 0.175). Un feedback anonymisé aide à aligner les attentes sur la réalité du marché.</a:t>
            </a:r>
            <a:endParaRPr lang="en-US" sz="950" dirty="0"/>
          </a:p>
        </p:txBody>
      </p:sp>
      <p:sp>
        <p:nvSpPr>
          <p:cNvPr id="29" name="Text 23"/>
          <p:cNvSpPr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F4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Dating Analysis  /  Columbia University Dataset (2002-2004)   |   8 378 rencontres   |   195 variables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Speed Dating - Qu'est-ce qui declenche l'etincelle ?</dc:title>
  <dc:subject>PptxGenJS Presentation</dc:subject>
  <dc:creator>Analyse Speed Dating</dc:creator>
  <cp:lastModifiedBy>Analyse Speed Dating</cp:lastModifiedBy>
  <cp:revision>1</cp:revision>
  <dcterms:created xsi:type="dcterms:W3CDTF">2026-06-28T21:46:55Z</dcterms:created>
  <dcterms:modified xsi:type="dcterms:W3CDTF">2026-06-28T21:46:55Z</dcterms:modified>
</cp:coreProperties>
</file>