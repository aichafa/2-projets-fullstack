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problèmes résolus</c:v>
                </c:pt>
              </c:strCache>
            </c:strRef>
          </c:tx>
          <c:spPr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15</c:v>
                </c:pt>
                <c:pt idx="1">
                  <c:v>30</c:v>
                </c:pt>
                <c:pt idx="2">
                  <c:v>60</c:v>
                </c:pt>
                <c:pt idx="3">
                  <c:v>90</c:v>
                </c:pt>
                <c:pt idx="4">
                  <c:v>120</c:v>
                </c:pt>
                <c:pt idx="5">
                  <c:v>180</c:v>
                </c:pt>
                <c:pt idx="6">
                  <c:v>240</c:v>
                </c:pt>
                <c:pt idx="7">
                  <c:v>300</c:v>
                </c:pt>
                <c:pt idx="8">
                  <c:v>360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</c:v>
                </c:pt>
                <c:pt idx="1">
                  <c:v>53</c:v>
                </c:pt>
                <c:pt idx="2">
                  <c:v>67</c:v>
                </c:pt>
                <c:pt idx="3">
                  <c:v>75</c:v>
                </c:pt>
                <c:pt idx="4">
                  <c:v>83</c:v>
                </c:pt>
                <c:pt idx="5">
                  <c:v>90</c:v>
                </c:pt>
                <c:pt idx="6">
                  <c:v>93</c:v>
                </c:pt>
                <c:pt idx="7">
                  <c:v>95</c:v>
                </c:pt>
                <c:pt idx="8">
                  <c:v>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5A2-44D5-B33E-EC29E21026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du CA impacté</c:v>
                </c:pt>
              </c:strCache>
            </c:strRef>
          </c:tx>
          <c:spPr>
            <a:ln w="3810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15</c:v>
                </c:pt>
                <c:pt idx="1">
                  <c:v>30</c:v>
                </c:pt>
                <c:pt idx="2">
                  <c:v>60</c:v>
                </c:pt>
                <c:pt idx="3">
                  <c:v>90</c:v>
                </c:pt>
                <c:pt idx="4">
                  <c:v>120</c:v>
                </c:pt>
                <c:pt idx="5">
                  <c:v>180</c:v>
                </c:pt>
                <c:pt idx="6">
                  <c:v>240</c:v>
                </c:pt>
                <c:pt idx="7">
                  <c:v>300</c:v>
                </c:pt>
                <c:pt idx="8">
                  <c:v>360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0.6</c:v>
                </c:pt>
                <c:pt idx="1">
                  <c:v>0.9</c:v>
                </c:pt>
                <c:pt idx="2">
                  <c:v>1.79</c:v>
                </c:pt>
                <c:pt idx="3">
                  <c:v>2.4</c:v>
                </c:pt>
                <c:pt idx="4">
                  <c:v>3</c:v>
                </c:pt>
                <c:pt idx="5">
                  <c:v>3.9</c:v>
                </c:pt>
                <c:pt idx="6">
                  <c:v>4.7</c:v>
                </c:pt>
                <c:pt idx="7">
                  <c:v>5.3</c:v>
                </c:pt>
                <c:pt idx="8">
                  <c:v>5.8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5A2-44D5-B33E-EC29E21026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(EUR)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Lasso</c:v>
                </c:pt>
                <c:pt idx="1">
                  <c:v>Régression linéaire</c:v>
                </c:pt>
                <c:pt idx="2">
                  <c:v>Ridge</c:v>
                </c:pt>
                <c:pt idx="3">
                  <c:v>Random Forest</c:v>
                </c:pt>
                <c:pt idx="4">
                  <c:v>Gradient Boosting</c:v>
                </c:pt>
                <c:pt idx="5">
                  <c:v>XGBoost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11.74</c:v>
                </c:pt>
                <c:pt idx="1">
                  <c:v>11.58</c:v>
                </c:pt>
                <c:pt idx="2">
                  <c:v>11.56</c:v>
                </c:pt>
                <c:pt idx="3">
                  <c:v>9.64</c:v>
                </c:pt>
                <c:pt idx="4">
                  <c:v>9.61</c:v>
                </c:pt>
                <c:pt idx="5">
                  <c:v>9.18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67-4045-BF57-37135A7E0B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Type SUV</c:v>
                </c:pt>
                <c:pt idx="1">
                  <c:v>Kilométrage</c:v>
                </c:pt>
                <c:pt idx="2">
                  <c:v>Carburant essence</c:v>
                </c:pt>
                <c:pt idx="3">
                  <c:v>Getaround Connect</c:v>
                </c:pt>
                <c:pt idx="4">
                  <c:v>GPS</c:v>
                </c:pt>
                <c:pt idx="5">
                  <c:v>Marque (Mitsubishi)</c:v>
                </c:pt>
                <c:pt idx="6">
                  <c:v>Puissance moteur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0.04</c:v>
                </c:pt>
                <c:pt idx="1">
                  <c:v>4.1000000000000002E-2</c:v>
                </c:pt>
                <c:pt idx="2">
                  <c:v>4.3999999999999997E-2</c:v>
                </c:pt>
                <c:pt idx="3">
                  <c:v>4.7E-2</c:v>
                </c:pt>
                <c:pt idx="4">
                  <c:v>7.0000000000000007E-2</c:v>
                </c:pt>
                <c:pt idx="5">
                  <c:v>9.0999999999999998E-2</c:v>
                </c:pt>
                <c:pt idx="6">
                  <c:v>0.14699999999999999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15-4E33-ACBD-FEF04A2B9F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285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ichafahugface-getaround-api.hf.space/doc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ichaFa/2-Projets-Fullstack" TargetMode="External"/><Relationship Id="rId4" Type="http://schemas.openxmlformats.org/officeDocument/2006/relationships/hyperlink" Target="https://aichafahugface-getaround-dashboard.hf.space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82296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Getaround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21945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retards et optimisation du prix de location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Machine Learning - de l'analyse exploratoire au déploiement en production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3749040"/>
            <a:ext cx="2286000" cy="0"/>
          </a:xfrm>
          <a:prstGeom prst="line">
            <a:avLst/>
          </a:prstGeom>
          <a:noFill/>
          <a:ln w="12700">
            <a:solidFill>
              <a:srgbClr val="9BC5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problématique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Getaround, plateforme de location de véhicules entre particuliers, fait face à un double enjeu produit.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23360" cy="3017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Enjeu 1 - Friction client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251460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retours en retard entre deux locations consécutives génèrent des frictions pour le conducteur suivant : attentes, annulations, mécontentement.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: faut-il imposer un délai minimum entre deux locations et lequel 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691640"/>
            <a:ext cx="4023360" cy="3017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8745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Enjeu 2 - Valorisation des véhicules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892040" y="251460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propriétaires ne savent pas comment valoriser leur véhicule. Un prix trop bas réduit leurs revenus, un prix trop haut décourage les locataires.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: peut-on prédire le prix journalier optimal à partir des caractéristiques du véhicule 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analyse de données et un modèle de Machine Learning, déployés en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et méthodologie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jeux de données complémentaires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508760"/>
          </a:xfrm>
          <a:prstGeom prst="rect">
            <a:avLst/>
          </a:prstGeom>
          <a:solidFill>
            <a:srgbClr val="E8F1F5"/>
          </a:solidFill>
          <a:ln w="63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get_around_delay_analysis.xlsx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21 310 locations - 8 143 véhicules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: type de check-in, état, délai de restitution, écart prévu entre deux locations chaînées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4023360" cy="1508760"/>
          </a:xfrm>
          <a:prstGeom prst="rect">
            <a:avLst/>
          </a:prstGeom>
          <a:solidFill>
            <a:srgbClr val="E8F1F5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get_around_pricing_project.csv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20116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4 843 véhicules - prix journalier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: marque, kilométrage, puissance moteur, carburant, équipements (GPS, climatisation, Connect)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en quatre étapes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" y="4343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et nettoyage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3749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5146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31720" y="4343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et comparaison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749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89120" y="4343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MLflow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3749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6294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46520" y="4343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en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retards - chiffres clés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5544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91440" cy="1554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57,5 %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restitutions sont en retard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304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16 345 locations analysables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5544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91440" cy="1554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9204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 min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8920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médian au checkout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304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tirée par les valeurs extrêmes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931920" cy="15544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91440" cy="1554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8580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8,6 %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580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locations sont chaînées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087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1 841 cas où une location en suit une autre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3931920" cy="15544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91440" cy="1554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9204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12,6 %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89204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chaînages sont problématiques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4087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retard précédent dépasse l'écart prévu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canal Connect est plus discipliné : 42,9 % de retards contre 61,4 % en Mobile.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des seuils - arbitrage protection / revenus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valeur de seuil, on mesure le pourcentage de cas problématiques résolus et l'impact sur le chiffre d'affaires (portée : ensemble du parc).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91640"/>
          <a:ext cx="59436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691640"/>
            <a:ext cx="2103120" cy="31089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72084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d'inflexion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720840" y="2194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67208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20840" y="3657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problèmes résolus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d'impact CA seulement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produit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scénarios envisageables selon le niveau d'aversion au risque commercial.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3246120"/>
          </a:xfrm>
          <a:prstGeom prst="rect">
            <a:avLst/>
          </a:prstGeom>
          <a:solidFill>
            <a:srgbClr val="9BC5C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Prudent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commercial minimal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286000" cy="0"/>
          </a:xfrm>
          <a:prstGeom prst="line">
            <a:avLst/>
          </a:prstGeom>
          <a:noFill/>
          <a:ln w="63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min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uniquement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résolus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70 % (Connect)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46120" y="1554480"/>
            <a:ext cx="2651760" cy="32461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42900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Équilibré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290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2423160"/>
            <a:ext cx="22860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429000" y="2514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min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2900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du parc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3 %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2900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résolus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83 %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35040" y="1554480"/>
            <a:ext cx="2651760" cy="32461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21792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Protecteur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1792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maximale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2423160"/>
            <a:ext cx="22860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217920" y="2514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 min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1792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du parc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5,5 %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1792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résolus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93 %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de 120 minutes sur l'ensemble du parc offre le meilleur ratio efficacité / coût.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Modélisation du prix - pipeline scikit-learn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assure un prétraitement reproductible et déployable.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874520" cy="18288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Nettoyage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194560"/>
            <a:ext cx="5486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valeurs aberrantes (kilométrage, puissance, prix)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691640"/>
            <a:ext cx="274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606040" y="1691640"/>
            <a:ext cx="1874520" cy="1828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43200" y="1783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Prétraitement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0" y="2194560"/>
            <a:ext cx="5486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0" y="23317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(numérique)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(catégoriel)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1691640"/>
            <a:ext cx="274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754880" y="1691640"/>
            <a:ext cx="1874520" cy="18288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92040" y="2194560"/>
            <a:ext cx="5486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92040" y="23317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6 algorithmes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retenu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1691640"/>
            <a:ext cx="274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903720" y="1691640"/>
            <a:ext cx="1874520" cy="18288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040880" y="1783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Évaluation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40880" y="2194560"/>
            <a:ext cx="5486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040880" y="23317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80/20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R²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E8F1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des expérimentations - MLflow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exécution est tracée : hyperparamètres, métriques (MAE, RMSE, R²) et modèle sérialisé. La comparaison entre les algorithmes devient reproductible et auditable.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des modèles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algorithmes évalués sur le même jeu de test. Métrique principale : MAE (erreur absolue moyenne en EUR).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5448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554480"/>
            <a:ext cx="2926080" cy="32004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897880" y="16916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97880" y="2011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897880" y="2606040"/>
            <a:ext cx="1371600" cy="0"/>
          </a:xfrm>
          <a:prstGeom prst="line">
            <a:avLst/>
          </a:prstGeom>
          <a:noFill/>
          <a:ln w="12700">
            <a:solidFill>
              <a:srgbClr val="9BC5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897880" y="27432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2971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9,18 EUR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897880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7880" y="3611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12,82 EUR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897880" y="4023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97880" y="4251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0,846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moyenne de moins de 10 EUR sur un prix qui s'étale principalement entre 40 et 250 EUR par jour.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explicatives du prix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7 des variables qui influencent le plus la prédiction du prix journalier (importance XGBoost).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5448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554480"/>
            <a:ext cx="2560320" cy="3291840"/>
          </a:xfrm>
          <a:prstGeom prst="rect">
            <a:avLst/>
          </a:prstGeom>
          <a:solidFill>
            <a:srgbClr val="E8F1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263640" y="1691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2057400"/>
            <a:ext cx="5486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263640" y="2194560"/>
            <a:ext cx="2331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puissance moteur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à elle seule près de 15 % de la variabilité du prix.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équipements de confort (GPS, Connect, climatisation) apportent une plus-value mesurable.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marque agit comme un proxy de la gamme et du positionnement.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 déploiement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composants conteneurisés et hébergés sur Hugging Face Spaces.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011680" cy="12801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Git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README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18288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2011680" cy="12801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97180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7180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Python 3.12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 figées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8288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212080" y="1828800"/>
            <a:ext cx="2011680" cy="12801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34924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4924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Docker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automatique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69480" y="18288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589520" y="1828800"/>
            <a:ext cx="1097280" cy="12801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680960" y="1920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0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8096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4023360" cy="1280160"/>
          </a:xfrm>
          <a:prstGeom prst="rect">
            <a:avLst/>
          </a:prstGeom>
          <a:solidFill>
            <a:srgbClr val="E8F1F5"/>
          </a:solidFill>
          <a:ln w="95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 1 - API FastAPI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023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/predict (POST)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HTML personnalisée sur /docs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/health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566160"/>
            <a:ext cx="4023360" cy="1280160"/>
          </a:xfrm>
          <a:prstGeom prst="rect">
            <a:avLst/>
          </a:prstGeom>
          <a:solidFill>
            <a:srgbClr val="E8F1F5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463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 2 - Dashboard Streamlit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4023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 Plotly interactives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de seuil paramétrable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par périmètre (canal de check-in)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Démonstrations en ligne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URLs publiques pour explorer le projet en autonomie.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91440" cy="914400"/>
          </a:xfrm>
          <a:prstGeom prst="rect">
            <a:avLst/>
          </a:prstGeom>
          <a:solidFill>
            <a:srgbClr val="9BC5C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 prédiction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interactive et test du modèle</a:t>
            </a:r>
            <a:endParaRPr lang="en-US" sz="1100" dirty="0"/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4983480" y="1965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https://aichafahugface-getaround-api.hf.space/docs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70632"/>
            <a:ext cx="82296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" y="2770632"/>
            <a:ext cx="91440" cy="914400"/>
          </a:xfrm>
          <a:prstGeom prst="rect">
            <a:avLst/>
          </a:prstGeom>
          <a:solidFill>
            <a:srgbClr val="9BC5C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de bord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273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interactive avec simulateur de seuil</a:t>
            </a:r>
            <a:endParaRPr lang="en-US" sz="1100" dirty="0"/>
          </a:p>
        </p:txBody>
      </p:sp>
      <p:sp>
        <p:nvSpPr>
          <p:cNvPr id="13" name="Text 11">
            <a:hlinkClick r:id="rId4"/>
          </p:cNvPr>
          <p:cNvSpPr/>
          <p:nvPr/>
        </p:nvSpPr>
        <p:spPr>
          <a:xfrm>
            <a:off x="4983480" y="3044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https://aichafahugface-getaround-dashboard.hf.space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49624"/>
            <a:ext cx="82296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91440" cy="914400"/>
          </a:xfrm>
          <a:prstGeom prst="rect">
            <a:avLst/>
          </a:prstGeom>
          <a:solidFill>
            <a:srgbClr val="9BC5C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77240" y="3959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source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43525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 versionné, documentation complète</a:t>
            </a:r>
            <a:endParaRPr lang="en-US" sz="1100" dirty="0"/>
          </a:p>
        </p:txBody>
      </p:sp>
      <p:sp>
        <p:nvSpPr>
          <p:cNvPr id="18" name="Text 16">
            <a:hlinkClick r:id="rId5"/>
          </p:cNvPr>
          <p:cNvSpPr/>
          <p:nvPr/>
        </p:nvSpPr>
        <p:spPr>
          <a:xfrm>
            <a:off x="4983480" y="412394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https://github.com/AichaFa/2-Projets-Fullstack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- appel à l'API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requête HTTP simple suffit pour obtenir une prédiction de prix.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(curl)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8229600" cy="14630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https://aichafahugface-getaround-api.hf.space/predict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BC5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"input": [[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"Citroën", 140411, 100, "diesel", "black", "convertible",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true, true, false, false, true, true,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(JSON)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E8F1F5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"prediction": [</a:t>
            </a: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107.97 </a:t>
            </a: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journalier suggéré pour ce véhicule est de 107,97 EUR.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et perspectives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de bout en bout, du jeu de données brut au service consommable par l'équipe Produit.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23360" cy="2743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Livrables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48640" cy="0"/>
          </a:xfrm>
          <a:prstGeom prst="line">
            <a:avLst/>
          </a:prstGeom>
          <a:noFill/>
          <a:ln w="19050">
            <a:solidFill>
              <a:srgbClr val="9BC5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chiffrées sur les seuils de délai entre locations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XGBoost (MAE 9,18 EUR, R² 0,846)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documentée déployée en production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interactif pour l'équipe Produit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MLflow reproductible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4023360" cy="2743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Pistes d'amélioration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2194560"/>
            <a:ext cx="5486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46320" y="2331720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l'effet réel d'un seuil via un A/B test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Affiner la segmentation par profil de véhicule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variables géographiques et saisonnières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 monitoring du drift du modèle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Industrialiser le réentraînement périodique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BC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1037</Words>
  <Application>Microsoft Office PowerPoint</Application>
  <PresentationFormat>Affichage à l'écran (16:9)</PresentationFormat>
  <Paragraphs>210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Getaround - Analyse et optimisation du prix</dc:title>
  <dc:subject>PptxGenJS Presentation</dc:subject>
  <dc:creator>Aicha Fathellah</dc:creator>
  <cp:lastModifiedBy>Aicha FATHELLAH</cp:lastModifiedBy>
  <cp:revision>3</cp:revision>
  <dcterms:created xsi:type="dcterms:W3CDTF">2026-06-02T17:56:25Z</dcterms:created>
  <dcterms:modified xsi:type="dcterms:W3CDTF">2026-06-02T18:57:56Z</dcterms:modified>
</cp:coreProperties>
</file>