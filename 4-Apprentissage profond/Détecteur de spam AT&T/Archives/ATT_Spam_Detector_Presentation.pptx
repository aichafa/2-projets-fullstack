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1E2761"/>
                </a:solidFill>
                <a:latin typeface="Arial"/>
              </a:rPr>
              <a:t>Répartition Ham / Spam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682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22-4670-A685-F2DEF5BC59F5}"/>
              </c:ext>
            </c:extLst>
          </c:dPt>
          <c:dPt>
            <c:idx val="1"/>
            <c:bubble3D val="0"/>
            <c:spPr>
              <a:solidFill>
                <a:srgbClr val="DC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22-4670-A685-F2DEF5BC59F5}"/>
              </c:ext>
            </c:extLst>
          </c:dPt>
          <c:cat>
            <c:strRef>
              <c:f>Sheet1!$A$2:$A$3</c:f>
              <c:strCache>
                <c:ptCount val="2"/>
                <c:pt idx="0">
                  <c:v>Ham (87,37 %)</c:v>
                </c:pt>
                <c:pt idx="1">
                  <c:v>Spam (12,63 %)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87.37</c:v>
                </c:pt>
                <c:pt idx="1">
                  <c:v>12.63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22-4670-A685-F2DEF5BC59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1E2761"/>
                </a:solidFill>
                <a:latin typeface="Arial"/>
              </a:rPr>
              <a:t>Métriques sur le jeu de test (1 034 messages)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Modèle 1 — Embedding + BiLSTM</c:v>
                </c:pt>
              </c:strCache>
            </c:strRef>
          </c:tx>
          <c:spPr>
            <a:solidFill>
              <a:srgbClr val="4682B4"/>
            </a:solidFill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F1-Score</c:v>
                </c:pt>
                <c:pt idx="2">
                  <c:v>AUC-ROC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0.98360000000000003</c:v>
                </c:pt>
                <c:pt idx="1">
                  <c:v>0.93330000000000002</c:v>
                </c:pt>
                <c:pt idx="2">
                  <c:v>0.98399999999999999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CA-4A59-925F-32E10F6814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Modèle 2 — DistilBERT (seuil=0,60)</c:v>
                </c:pt>
              </c:strCache>
            </c:strRef>
          </c:tx>
          <c:spPr>
            <a:solidFill>
              <a:srgbClr val="DC4040"/>
            </a:solidFill>
            <a:effectLst/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F1-Score</c:v>
                </c:pt>
                <c:pt idx="2">
                  <c:v>AUC-ROC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0.98260000000000003</c:v>
                </c:pt>
                <c:pt idx="1">
                  <c:v>0.92910000000000004</c:v>
                </c:pt>
                <c:pt idx="2">
                  <c:v>0.99370000000000003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CA-4A59-925F-32E10F681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1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450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84048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Détecteur de Spam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SMS par apprentissage profond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|  NLP  |  Transfert d'apprentissage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problématique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1480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148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56032" y="8046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Inc.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316736"/>
            <a:ext cx="384048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entreprise mondiale de télécommunications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chiffre d'affaires
</a:t>
            </a:r>
            <a:endParaRPr lang="en-US" sz="1300" dirty="0"/>
          </a:p>
          <a:p>
            <a:pPr marL="0" indent="0">
              <a:buNone/>
            </a:pPr>
            <a:r>
              <a:rPr lang="en-US" sz="2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168,8 Mds $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revenus en 2022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13ème au Fortune 500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2022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3ème opérateur mobile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États-Unis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73168" y="804672"/>
            <a:ext cx="411480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73168" y="804672"/>
            <a:ext cx="4114800" cy="438912"/>
          </a:xfrm>
          <a:prstGeom prst="rect">
            <a:avLst/>
          </a:prstGeom>
          <a:solidFill>
            <a:srgbClr val="DC4040"/>
          </a:solidFill>
          <a:ln w="12700">
            <a:solidFill>
              <a:srgbClr val="DC4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73168" y="8046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316736"/>
            <a:ext cx="384048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massive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messages indésirables (spam)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manuelle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devenue insuffisante et non scalable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détecteur automatique capable de classer chaque SMS dès sa réception, basé uniquement sur son contenu.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des données — spam.csv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786384"/>
            <a:ext cx="26060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56032" y="85953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5 572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6032" y="140817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bruts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786384"/>
            <a:ext cx="26060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64408" y="85953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64408" y="140817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supprimés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81928" y="786384"/>
            <a:ext cx="26060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281928" y="85953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5 169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81928" y="140817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nettoyage</a:t>
            </a:r>
            <a:endParaRPr lang="en-US" sz="10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256032" y="1920240"/>
          <a:ext cx="42062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4681728" y="1920240"/>
            <a:ext cx="420624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681728" y="1920240"/>
            <a:ext cx="4206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681728" y="1920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 longueur (caractères)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36592" y="2322576"/>
          <a:ext cx="4096512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682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4681728" y="3337560"/>
            <a:ext cx="42062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681728" y="3337560"/>
            <a:ext cx="420624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4681728" y="3337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stratifié 80 / 20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730752"/>
            <a:ext cx="400507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4 135 exemples (spam : 12,62 %)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1 034 exemples (spam : 12,67 %)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garantissant l'équilibre des classes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deux sous-ensembles.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et Modèle 1 - Embedding + BiLSTM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1480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1480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8778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0467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298448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textuel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Minuscules, suppression des caractères spéciaux, normalisation des espaces. Chiffres conservés.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2167128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Keras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10 000 mots · padding post · max 100 tokens · token &lt;OOV&gt; pour les mots inconnus.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3035808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DistilBERT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· max 128 tokens · tokens [CLS] et [SEP] automatiques.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73168" y="804672"/>
            <a:ext cx="411480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773168" y="804672"/>
            <a:ext cx="4114800" cy="402336"/>
          </a:xfrm>
          <a:prstGeom prst="rect">
            <a:avLst/>
          </a:prstGeom>
          <a:solidFill>
            <a:srgbClr val="4682B4"/>
          </a:solidFill>
          <a:ln w="12700">
            <a:solidFill>
              <a:srgbClr val="4682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87782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8656" y="804672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1 - Embedding + BiLSTM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92040" y="1316736"/>
            <a:ext cx="877824" cy="566928"/>
          </a:xfrm>
          <a:prstGeom prst="rect">
            <a:avLst/>
          </a:prstGeom>
          <a:solidFill>
            <a:srgbClr val="4682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892040" y="131673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· dim 64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769864" y="1545336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5843016" y="1316736"/>
            <a:ext cx="877824" cy="566928"/>
          </a:xfrm>
          <a:prstGeom prst="rect">
            <a:avLst/>
          </a:prstGeom>
          <a:solidFill>
            <a:srgbClr val="4682B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5843016" y="131673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720840" y="1545336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793992" y="1316736"/>
            <a:ext cx="87782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793992" y="131673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671816" y="1545336"/>
            <a:ext cx="7315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7744968" y="1316736"/>
            <a:ext cx="87782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7744968" y="1316736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P(spam)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892040" y="2112264"/>
            <a:ext cx="391363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Optimiseur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· Binary Crossentropy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(patience=3) + ReduceLROnPlateau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à l'époque 2 · meilleurs poids restaurés
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773168" y="2907792"/>
            <a:ext cx="4114800" cy="329184"/>
          </a:xfrm>
          <a:prstGeom prst="rect">
            <a:avLst/>
          </a:prstGeom>
          <a:solidFill>
            <a:srgbClr val="4682B4"/>
          </a:solidFill>
          <a:ln w="12700">
            <a:solidFill>
              <a:srgbClr val="4682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4773168" y="29077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sur le jeu de test (1 034 messages)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800600" y="327355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98,36 %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4800600" y="376732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172200" y="327355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93,33 %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172200" y="376732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43800" y="3273552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98,40 %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7543800" y="376732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4059936"/>
          <a:ext cx="4041648" cy="731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16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682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2 - Transfert d'apprentissage avec DistilBERT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572768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original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92808" y="1014984"/>
            <a:ext cx="14630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39112" y="804672"/>
            <a:ext cx="1572768" cy="475488"/>
          </a:xfrm>
          <a:prstGeom prst="rect">
            <a:avLst/>
          </a:prstGeom>
          <a:solidFill>
            <a:srgbClr val="4682B4"/>
          </a:solidFill>
          <a:ln w="12700">
            <a:solidFill>
              <a:srgbClr val="4682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039112" y="8046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Tokeniseur WordPiece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014984"/>
            <a:ext cx="14630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758184" y="804672"/>
            <a:ext cx="1572768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758184" y="8046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gelé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30952" y="1014984"/>
            <a:ext cx="14630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477256" y="804672"/>
            <a:ext cx="1572768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77256" y="8046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[CLS]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50024" y="1014984"/>
            <a:ext cx="14630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196328" y="804672"/>
            <a:ext cx="1572768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196328" y="80467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→ Sigmoid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133502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pré-entraînés sur des milliards de phrases en anglais — gelés. Seule la tête de classification est entraînée.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1691640"/>
            <a:ext cx="863193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84048" y="1755648"/>
            <a:ext cx="83759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: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poids spam ≈ 3,96×  |  poids ham ≈ 0,57×  -  compense le déséquilibre 87/13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2e-5)  |  5 époques  |  EarlyStopping (patience=2)  |  </a:t>
            </a: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optimal : 0,60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(maximisation du F1-Score)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697480"/>
            <a:ext cx="8631936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6032" y="2697480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- Modèle 2 sur le jeu de test (1 034 messages, seuil = 0,60)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0632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68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98,26 %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35844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0632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92,91 %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383280" y="35844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(spam)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30632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99,37 %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17920" y="35844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072384"/>
            <a:ext cx="18288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172200" y="3072384"/>
            <a:ext cx="18288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3895344"/>
          <a:ext cx="5852160" cy="1036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682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performances et recommandation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768096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768096"/>
            <a:ext cx="31272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760720" y="768096"/>
            <a:ext cx="3127248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760720" y="768096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170432"/>
          <a:ext cx="3026664" cy="26974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682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Mod.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Mod.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93,33 %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98,40 %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99,37 %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 décision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56032" y="4078224"/>
            <a:ext cx="8631936" cy="438912"/>
          </a:xfrm>
          <a:prstGeom prst="rect">
            <a:avLst/>
          </a:prstGeom>
          <a:solidFill>
            <a:srgbClr val="4682B4"/>
          </a:solidFill>
          <a:ln w="12700">
            <a:solidFill>
              <a:srgbClr val="4682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41422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944" y="4078224"/>
            <a:ext cx="8119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1 - Infrastructure légère -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légèrement supérieur · inférence sans GPU · déploiement immédiat sur les serveurs SMS d'AT&amp;T.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56032" y="4572000"/>
            <a:ext cx="8631936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4636008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" y="4572000"/>
            <a:ext cx="8119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2 - Précision maximale -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99,37 % · meilleure discrimination · recommandé si AT&amp;T dispose d'une infrastructure GPU.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- Rapport de classification détaillé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(Slide de réserve - à présenter sur demande du jury)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41605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4160520" cy="365760"/>
          </a:xfrm>
          <a:prstGeom prst="rect">
            <a:avLst/>
          </a:prstGeom>
          <a:solidFill>
            <a:srgbClr val="4682B4"/>
          </a:solidFill>
          <a:ln w="12700">
            <a:solidFill>
              <a:srgbClr val="4682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56032" y="10241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1 - Embedding + BiLSTM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35608"/>
          <a:ext cx="4041648" cy="1828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682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47472" y="333756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(Modèle 1)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(ham→ham) : 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FP (ham→spam) : 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(spam→ham) : 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VP (spam→spam) : 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27448" y="1024128"/>
            <a:ext cx="41605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727448" y="1024128"/>
            <a:ext cx="416052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727448" y="102412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2 - DistilBERT (seuil = 0,60)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91456" y="1435608"/>
          <a:ext cx="4041648" cy="1828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682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C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818888" y="333756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 (Modèle 2)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(ham→ham) : 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FP (ham→spam) : 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(spam→ham) : 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VP (spam→spam) : 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721</Words>
  <Application>Microsoft Office PowerPoint</Application>
  <PresentationFormat>Affichage à l'écran (16:9)</PresentationFormat>
  <Paragraphs>195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Détecteur de Spam AT&amp;T</dc:title>
  <dc:subject>PptxGenJS Presentation</dc:subject>
  <dc:creator>PptxGenJS</dc:creator>
  <cp:lastModifiedBy>Aicha FATHELLAH</cp:lastModifiedBy>
  <cp:revision>2</cp:revision>
  <dcterms:created xsi:type="dcterms:W3CDTF">2026-05-21T19:38:59Z</dcterms:created>
  <dcterms:modified xsi:type="dcterms:W3CDTF">2026-05-21T20:35:45Z</dcterms:modified>
</cp:coreProperties>
</file>