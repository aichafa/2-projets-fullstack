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74" r:id="rId4"/>
    <p:sldId id="258" r:id="rId5"/>
    <p:sldId id="259" r:id="rId6"/>
    <p:sldId id="260" r:id="rId7"/>
    <p:sldId id="261" r:id="rId8"/>
    <p:sldId id="277" r:id="rId9"/>
    <p:sldId id="276"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A8B8"/>
    <a:srgbClr val="16243F"/>
    <a:srgbClr val="4472C4"/>
    <a:srgbClr val="F4F7FB"/>
    <a:srgbClr val="51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2" autoAdjust="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Paliers</c:v>
                </c:pt>
              </c:strCache>
            </c:strRef>
          </c:tx>
          <c:spPr>
            <a:solidFill>
              <a:schemeClr val="accent1"/>
            </a:solidFill>
            <a:ln w="9525" cap="flat">
              <a:solidFill>
                <a:srgbClr val="F9F9F9"/>
              </a:solidFill>
              <a:prstDash val="solid"/>
              <a:round/>
            </a:ln>
            <a:effectLst/>
          </c:spPr>
          <c:dPt>
            <c:idx val="0"/>
            <c:bubble3D val="0"/>
            <c:spPr>
              <a:solidFill>
                <a:srgbClr val="16243F"/>
              </a:solidFill>
              <a:effectLst/>
            </c:spPr>
            <c:extLst>
              <c:ext xmlns:c16="http://schemas.microsoft.com/office/drawing/2014/chart" uri="{C3380CC4-5D6E-409C-BE32-E72D297353CC}">
                <c16:uniqueId val="{00000001-93CD-4438-96A2-E81B8721F7B0}"/>
              </c:ext>
            </c:extLst>
          </c:dPt>
          <c:dPt>
            <c:idx val="1"/>
            <c:bubble3D val="0"/>
            <c:spPr>
              <a:solidFill>
                <a:srgbClr val="1FA8B8"/>
              </a:solidFill>
              <a:effectLst/>
            </c:spPr>
            <c:extLst>
              <c:ext xmlns:c16="http://schemas.microsoft.com/office/drawing/2014/chart" uri="{C3380CC4-5D6E-409C-BE32-E72D297353CC}">
                <c16:uniqueId val="{00000003-93CD-4438-96A2-E81B8721F7B0}"/>
              </c:ext>
            </c:extLst>
          </c:dPt>
          <c:dPt>
            <c:idx val="2"/>
            <c:bubble3D val="0"/>
            <c:spPr>
              <a:solidFill>
                <a:srgbClr val="9FD3DC"/>
              </a:solidFill>
              <a:effectLst/>
            </c:spPr>
            <c:extLst>
              <c:ext xmlns:c16="http://schemas.microsoft.com/office/drawing/2014/chart" uri="{C3380CC4-5D6E-409C-BE32-E72D297353CC}">
                <c16:uniqueId val="{00000005-93CD-4438-96A2-E81B8721F7B0}"/>
              </c:ext>
            </c:extLst>
          </c:dPt>
          <c:dLbls>
            <c:dLbl>
              <c:idx val="0"/>
              <c:numFmt formatCode="General" sourceLinked="0"/>
              <c:spPr/>
              <c:txPr>
                <a:bodyPr/>
                <a:lstStyle/>
                <a:p>
                  <a:pPr>
                    <a:defRPr sz="1200" b="1"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3CD-4438-96A2-E81B8721F7B0}"/>
                </c:ext>
              </c:extLst>
            </c:dLbl>
            <c:dLbl>
              <c:idx val="1"/>
              <c:numFmt formatCode="General" sourceLinked="0"/>
              <c:spPr/>
              <c:txPr>
                <a:bodyPr/>
                <a:lstStyle/>
                <a:p>
                  <a:pPr>
                    <a:defRPr sz="1200" b="1"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3CD-4438-96A2-E81B8721F7B0}"/>
                </c:ext>
              </c:extLst>
            </c:dLbl>
            <c:dLbl>
              <c:idx val="2"/>
              <c:numFmt formatCode="General" sourceLinked="0"/>
              <c:spPr/>
              <c:txPr>
                <a:bodyPr/>
                <a:lstStyle/>
                <a:p>
                  <a:pPr>
                    <a:defRPr sz="1200" b="1"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3CD-4438-96A2-E81B8721F7B0}"/>
                </c:ext>
              </c:extLst>
            </c:dLbl>
            <c:numFmt formatCode="General" sourceLinked="0"/>
            <c:spPr>
              <a:noFill/>
              <a:ln>
                <a:noFill/>
              </a:ln>
              <a:effectLst/>
            </c:spPr>
            <c:txPr>
              <a:bodyPr/>
              <a:lstStyle/>
              <a:p>
                <a:pPr>
                  <a:defRPr sz="1800" b="1" i="0" u="none" strike="noStrike">
                    <a:solidFill>
                      <a:srgbClr val="000000"/>
                    </a:solidFill>
                    <a:latin typeface="Arial"/>
                  </a:defRPr>
                </a:pPr>
                <a:endParaRPr lang="fr-F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Incohérence totale</c:v>
                </c:pt>
                <c:pt idx="1">
                  <c:v>Divergence nette</c:v>
                </c:pt>
                <c:pt idx="2">
                  <c:v>Divergence ambiguë</c:v>
                </c:pt>
              </c:strCache>
            </c:strRef>
          </c:cat>
          <c:val>
            <c:numRef>
              <c:f>Sheet1!$B$2:$B$4</c:f>
              <c:numCache>
                <c:formatCode>General</c:formatCode>
                <c:ptCount val="3"/>
                <c:pt idx="0">
                  <c:v>50</c:v>
                </c:pt>
                <c:pt idx="1">
                  <c:v>30</c:v>
                </c:pt>
                <c:pt idx="2">
                  <c:v>20</c:v>
                </c:pt>
              </c:numCache>
            </c:numRef>
          </c:val>
          <c:extLst>
            <c:ext xmlns:c16="http://schemas.microsoft.com/office/drawing/2014/chart" uri="{C3380CC4-5D6E-409C-BE32-E72D297353CC}">
              <c16:uniqueId val="{00000006-93CD-4438-96A2-E81B8721F7B0}"/>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100">
              <a:solidFill>
                <a:srgbClr val="5E6E7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514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0:00 - 0:30</a:t>
            </a:r>
          </a:p>
          <a:p>
            <a:r>
              <a:rPr lang="fr-FR" dirty="0"/>
              <a:t>Bonjour, je vais vous presenter mon projet : l'Auditeur de Coherence Medicale.</a:t>
            </a:r>
          </a:p>
          <a:p>
            <a:r>
              <a:rPr lang="fr-FR" dirty="0"/>
              <a:t>Citation d'accroche : apprendre a une machine non pas a diagnostiquer, mais a verifier qu'une radiographie thoracique et son compte rendu racontent la meme histoire.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0:30 - 1:15</a:t>
            </a:r>
          </a:p>
          <a:p>
            <a:r>
              <a:rPr lang="fr-FR" dirty="0"/>
              <a:t>Contexte : dans un service de radiologie, l'image et le texte cheminent separement. Les flux sont denses, un compte rendu peut etre associe au mauvais examen - un risque pour la decision medicale.</a:t>
            </a:r>
          </a:p>
          <a:p>
            <a:r>
              <a:rPr lang="fr-FR" dirty="0"/>
              <a:t>Mission : construire un garde-fou automatique qui lit en parallele l'image et le texte, produit un score de coherence, et signale les paires qui ne s'accordent pas. Pas un outil de diagnostic.</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1:15 - 2:00</a:t>
            </a:r>
          </a:p>
          <a:p>
            <a:r>
              <a:rPr lang="fr-FR" dirty="0"/>
              <a:t>Voici a quoi ressemble le resultat concret : l'application MIROIR, deployee sur Hugging Face Spaces, avec un frontend Streamlit et les parametres du modele charges via MLflow.</a:t>
            </a:r>
          </a:p>
          <a:p>
            <a:r>
              <a:rPr lang="fr-FR" dirty="0"/>
              <a:t>Le lien de demonstration (davidformation-demo-fullstack.hf.space) figure sur cette slide et sur la slide de cloture - je pourrai la montrer en direct ou repondre aux questions dessus.</a:t>
            </a:r>
          </a:p>
          <a:p>
            <a:endParaRPr lang="fr-FR" dirty="0"/>
          </a:p>
        </p:txBody>
      </p:sp>
      <p:sp>
        <p:nvSpPr>
          <p:cNvPr id="4" name="Slide Number Placeholder 3"/>
          <p:cNvSpPr>
            <a:spLocks noGrp="1"/>
          </p:cNvSpPr>
          <p:nvPr>
            <p:ph type="sldNum" sz="quarter" idx="10"/>
          </p:nvPr>
        </p:nvSpPr>
        <p:spPr/>
        <p:txBody>
          <a:bodyPr/>
          <a:lstStyle/>
          <a:p>
            <a:fld id="{F7021451-1387-4CA6-816F-3879F97B5CBD}"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2:00 - 2:45</a:t>
            </a:r>
          </a:p>
          <a:p>
            <a:r>
              <a:rPr lang="fr-FR" dirty="0"/>
              <a:t>Donnees : jeu public CheXpert et CheXpert Plus, environ 223 000 paires disponibles, reduites a un echantillon de 36 000 paires equilibrees a 50/50.</a:t>
            </a:r>
          </a:p>
          <a:p>
            <a:r>
              <a:rPr lang="fr-FR" dirty="0"/>
              <a:t>Decision structurante : une seule image par patient, pour eviter la fuite de donnees et minimiser les donnees personnelles utilisees.</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2:45 - 3:30</a:t>
            </a:r>
          </a:p>
          <a:p>
            <a:r>
              <a:rPr lang="fr-FR" dirty="0"/>
              <a:t>Le vrai defi du projet : fabriquer le faux. Les paires coherentes existent nativement ; les incoherentes sont fabriquees en echangeant les comptes rendus.</a:t>
            </a:r>
          </a:p>
          <a:p>
            <a:r>
              <a:rPr lang="fr-FR" dirty="0"/>
              <a:t>Trois niveaux de difficulte : 50% d'incoherence totale, 30% de divergence nette, 20% de divergence ambigue - pour eviter que le modele n'apprenne un raccourci trop facile.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3:30 - 4:00</a:t>
            </a:r>
          </a:p>
          <a:p>
            <a:r>
              <a:rPr lang="fr-FR" dirty="0"/>
              <a:t>Pour aller plus loin, un second axe : la proximite clinique. Les douze pathologies suivies sont regroupees en quatre familles anatomiques.</a:t>
            </a:r>
          </a:p>
          <a:p>
            <a:r>
              <a:rPr lang="fr-FR" dirty="0"/>
              <a:t>Idee cle : un faux entre deux familles differentes est plus facile a reperer qu'un faux a l'interieur d'une meme famille.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4:00 - 4:45</a:t>
            </a:r>
          </a:p>
          <a:p>
            <a:r>
              <a:rPr lang="fr-FR" dirty="0"/>
              <a:t>Le modele utilise : BioViL-T, specialise pour la radiographie thoracique et ses comptes rendus, plutot qu'un modele medical generaliste.</a:t>
            </a:r>
          </a:p>
          <a:p>
            <a:r>
              <a:rPr lang="fr-FR" dirty="0"/>
              <a:t>Deux encodeurs pre-entraines ensemble par apprentissage contrastif image-texte. Deux phases de lecture : Approche 1, comparer les resumes globaux (similarite) ; Approche 2, faire dialoguer regions et mots (attention croisee).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B036F-E173-E13D-7906-1A6718D75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247D0-9F26-92AB-53E1-23B36F8955C4}"/>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4CDA95F-965E-8097-D9D8-750C268D42F8}"/>
              </a:ext>
            </a:extLst>
          </p:cNvPr>
          <p:cNvSpPr>
            <a:spLocks noGrp="1"/>
          </p:cNvSpPr>
          <p:nvPr>
            <p:ph type="body" idx="1"/>
          </p:nvPr>
        </p:nvSpPr>
        <p:spPr/>
        <p:txBody>
          <a:bodyPr/>
          <a:lstStyle/>
          <a:p>
            <a:r>
              <a:rPr lang="fr-FR" b="1" dirty="0"/>
              <a:t>4:45 - 5:45</a:t>
            </a:r>
          </a:p>
          <a:p>
            <a:r>
              <a:rPr lang="fr-FR" dirty="0"/>
              <a:t>Les resultats. Phase 1 (similarite) : ROC-AUC 86%, exactitude 78%. Phase 2 (attention croisee) : ROC-AUC 95%, exactitude 88%, F1 89%.</a:t>
            </a:r>
          </a:p>
          <a:p>
            <a:r>
              <a:rPr lang="fr-FR" dirty="0"/>
              <a:t>Le gain entre les deux phases mesure precisement l'apport de la fusion fine entre regions de l'image et mots du rapport - c'est le coeur de la contribution technique du projet.</a:t>
            </a:r>
          </a:p>
          <a:p>
            <a:endParaRPr lang="fr-FR" dirty="0"/>
          </a:p>
        </p:txBody>
      </p:sp>
      <p:sp>
        <p:nvSpPr>
          <p:cNvPr id="4" name="Slide Number Placeholder 3">
            <a:extLst>
              <a:ext uri="{FF2B5EF4-FFF2-40B4-BE49-F238E27FC236}">
                <a16:creationId xmlns:a16="http://schemas.microsoft.com/office/drawing/2014/main" id="{0AEAC151-DABE-7240-E0A1-B49516E8EC8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6535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2396-5488-9F4F-8893-CD4766E0D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860BD-C3D4-44B6-8907-3CB003688AD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18AC209A-05DC-98A5-2678-2FF4B78731A9}"/>
              </a:ext>
            </a:extLst>
          </p:cNvPr>
          <p:cNvSpPr>
            <a:spLocks noGrp="1"/>
          </p:cNvSpPr>
          <p:nvPr>
            <p:ph type="body" idx="1"/>
          </p:nvPr>
        </p:nvSpPr>
        <p:spPr/>
        <p:txBody>
          <a:bodyPr/>
          <a:lstStyle/>
          <a:p>
            <a:r>
              <a:rPr lang="fr-FR" b="1" dirty="0"/>
              <a:t>5:45 - 6:30</a:t>
            </a:r>
          </a:p>
          <a:p>
            <a:r>
              <a:rPr lang="fr-FR" dirty="0"/>
              <a:t>Les matrices de confusion racontent la meme histoire visuellement : en phase 2, tres peu de vrais positifs sont rates (0.10 de faux negatifs contre 0.21 en phase 1).</a:t>
            </a:r>
          </a:p>
          <a:p>
            <a:r>
              <a:rPr lang="fr-FR" dirty="0"/>
              <a:t>C'est cette reduction des erreurs, dans les deux sens, qui justifie le choix de l'attention croisee comme modele retenu pour le projet.</a:t>
            </a:r>
          </a:p>
          <a:p>
            <a:endParaRPr lang="fr-FR" dirty="0"/>
          </a:p>
        </p:txBody>
      </p:sp>
      <p:sp>
        <p:nvSpPr>
          <p:cNvPr id="4" name="Slide Number Placeholder 3">
            <a:extLst>
              <a:ext uri="{FF2B5EF4-FFF2-40B4-BE49-F238E27FC236}">
                <a16:creationId xmlns:a16="http://schemas.microsoft.com/office/drawing/2014/main" id="{51DEFDAD-1419-9A2F-F6CF-2367641E62A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39825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6:30 - 7:15</a:t>
            </a:r>
          </a:p>
          <a:p>
            <a:r>
              <a:rPr lang="fr-FR" dirty="0"/>
              <a:t>Les prochaines etapes. Premiere piste : enrichir encore les faux cas, par exemple en modifiant le texte avec des Transformers ou LLM, ou des outils comme RadGraph.</a:t>
            </a:r>
          </a:p>
          <a:p>
            <a:r>
              <a:rPr lang="fr-FR" dirty="0"/>
              <a:t>Seconde piste : rendre l'outil plus intuitif, avec une carte d'attention type Grad-CAM qui surligne les regions decisives, ou un RAG medical.</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7:15 - 7:30</a:t>
            </a:r>
          </a:p>
          <a:p>
            <a:r>
              <a:rPr lang="fr-FR" dirty="0"/>
              <a:t>Annexe disponible si des questions portent sur les sources des donnees, le modele pre-entraine, ou la conformite RGPD - pas besoin de la commenter en detail a l'oral, sauf si le temps le permet.</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davidformation-demo-fullstack.hf.space/" TargetMode="External"/><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youtu.be/y1y41r66rJI"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F"/>
        </a:solidFill>
        <a:effectLst/>
      </p:bgPr>
    </p:bg>
    <p:spTree>
      <p:nvGrpSpPr>
        <p:cNvPr id="1" name=""/>
        <p:cNvGrpSpPr/>
        <p:nvPr/>
      </p:nvGrpSpPr>
      <p:grpSpPr>
        <a:xfrm>
          <a:off x="0" y="0"/>
          <a:ext cx="0" cy="0"/>
          <a:chOff x="0" y="0"/>
          <a:chExt cx="0" cy="0"/>
        </a:xfrm>
      </p:grpSpPr>
      <p:sp>
        <p:nvSpPr>
          <p:cNvPr id="2" name="Shape 0"/>
          <p:cNvSpPr/>
          <p:nvPr/>
        </p:nvSpPr>
        <p:spPr>
          <a:xfrm>
            <a:off x="7023354" y="0"/>
            <a:ext cx="5120640" cy="5120640"/>
          </a:xfrm>
          <a:prstGeom prst="ellipse">
            <a:avLst/>
          </a:prstGeom>
          <a:solidFill>
            <a:srgbClr val="1FA8B8">
              <a:alpha val="14000"/>
            </a:srgbClr>
          </a:solidFill>
          <a:ln/>
        </p:spPr>
        <p:txBody>
          <a:bodyPr/>
          <a:lstStyle/>
          <a:p>
            <a:endParaRPr lang="fr-FR" noProof="0" dirty="0"/>
          </a:p>
        </p:txBody>
      </p:sp>
      <p:sp>
        <p:nvSpPr>
          <p:cNvPr id="3" name="Shape 1"/>
          <p:cNvSpPr/>
          <p:nvPr/>
        </p:nvSpPr>
        <p:spPr>
          <a:xfrm>
            <a:off x="7315581" y="1417320"/>
            <a:ext cx="2926080" cy="2926080"/>
          </a:xfrm>
          <a:prstGeom prst="ellipse">
            <a:avLst/>
          </a:prstGeom>
          <a:solidFill>
            <a:srgbClr val="1FA8B8">
              <a:alpha val="25000"/>
            </a:srgbClr>
          </a:solidFill>
          <a:ln/>
        </p:spPr>
        <p:txBody>
          <a:bodyPr/>
          <a:lstStyle/>
          <a:p>
            <a:endParaRPr lang="fr-FR" noProof="0" dirty="0"/>
          </a:p>
        </p:txBody>
      </p:sp>
      <p:sp>
        <p:nvSpPr>
          <p:cNvPr id="4" name="Shape 2"/>
          <p:cNvSpPr/>
          <p:nvPr/>
        </p:nvSpPr>
        <p:spPr>
          <a:xfrm>
            <a:off x="868680" y="1234440"/>
            <a:ext cx="960120" cy="960120"/>
          </a:xfrm>
          <a:prstGeom prst="ellipse">
            <a:avLst/>
          </a:prstGeom>
          <a:solidFill>
            <a:srgbClr val="1FA8B8"/>
          </a:solidFill>
          <a:ln/>
        </p:spPr>
        <p:txBody>
          <a:bodyPr/>
          <a:lstStyle/>
          <a:p>
            <a:endParaRPr lang="fr-FR" noProof="0" dirty="0"/>
          </a:p>
        </p:txBody>
      </p:sp>
      <p:pic>
        <p:nvPicPr>
          <p:cNvPr id="5" name="Image 0" descr="preencoded.png"/>
          <p:cNvPicPr>
            <a:picLocks noChangeAspect="1"/>
          </p:cNvPicPr>
          <p:nvPr/>
        </p:nvPicPr>
        <p:blipFill>
          <a:blip r:embed="rId3"/>
          <a:stretch>
            <a:fillRect/>
          </a:stretch>
        </p:blipFill>
        <p:spPr>
          <a:xfrm>
            <a:off x="1127912" y="1493672"/>
            <a:ext cx="441655" cy="441655"/>
          </a:xfrm>
          <a:prstGeom prst="rect">
            <a:avLst/>
          </a:prstGeom>
        </p:spPr>
      </p:pic>
      <p:sp>
        <p:nvSpPr>
          <p:cNvPr id="6" name="Text 3"/>
          <p:cNvSpPr/>
          <p:nvPr/>
        </p:nvSpPr>
        <p:spPr>
          <a:xfrm>
            <a:off x="868680" y="2514600"/>
            <a:ext cx="10058400" cy="320040"/>
          </a:xfrm>
          <a:prstGeom prst="rect">
            <a:avLst/>
          </a:prstGeom>
          <a:noFill/>
          <a:ln/>
        </p:spPr>
        <p:txBody>
          <a:bodyPr wrap="square" lIns="0" tIns="0" rIns="0" bIns="0" rtlCol="0" anchor="ctr"/>
          <a:lstStyle/>
          <a:p>
            <a:pPr marL="0" indent="0">
              <a:buNone/>
            </a:pPr>
            <a:r>
              <a:rPr lang="fr-FR" sz="1300" b="1" kern="0" spc="300" noProof="0" dirty="0">
                <a:solidFill>
                  <a:srgbClr val="9FC7D6"/>
                </a:solidFill>
                <a:latin typeface="Calibri" pitchFamily="34" charset="0"/>
                <a:ea typeface="Calibri" pitchFamily="34" charset="-122"/>
                <a:cs typeface="Calibri" pitchFamily="34" charset="-120"/>
              </a:rPr>
              <a:t>PROJET DE SCIENCE DES DONNÉES</a:t>
            </a:r>
            <a:endParaRPr lang="fr-FR" sz="1300" noProof="0" dirty="0"/>
          </a:p>
        </p:txBody>
      </p:sp>
      <p:sp>
        <p:nvSpPr>
          <p:cNvPr id="7" name="Text 4"/>
          <p:cNvSpPr/>
          <p:nvPr/>
        </p:nvSpPr>
        <p:spPr>
          <a:xfrm>
            <a:off x="841248" y="2834640"/>
            <a:ext cx="10424160" cy="1097280"/>
          </a:xfrm>
          <a:prstGeom prst="rect">
            <a:avLst/>
          </a:prstGeom>
          <a:noFill/>
          <a:ln/>
        </p:spPr>
        <p:txBody>
          <a:bodyPr wrap="square" lIns="0" tIns="0" rIns="0" bIns="0" rtlCol="0" anchor="ctr"/>
          <a:lstStyle/>
          <a:p>
            <a:pPr marL="0" indent="0">
              <a:buNone/>
            </a:pPr>
            <a:r>
              <a:rPr lang="fr-FR" sz="5000" b="1" noProof="0" dirty="0">
                <a:solidFill>
                  <a:srgbClr val="FFFFFF"/>
                </a:solidFill>
                <a:latin typeface="Cambria" pitchFamily="34" charset="0"/>
                <a:ea typeface="Cambria" pitchFamily="34" charset="-122"/>
                <a:cs typeface="Cambria" pitchFamily="34" charset="-120"/>
              </a:rPr>
              <a:t>Auditeur de Cohérence Médicale</a:t>
            </a:r>
            <a:endParaRPr lang="fr-FR" sz="5000" noProof="0" dirty="0"/>
          </a:p>
        </p:txBody>
      </p:sp>
      <p:sp>
        <p:nvSpPr>
          <p:cNvPr id="9" name="Text 6"/>
          <p:cNvSpPr/>
          <p:nvPr/>
        </p:nvSpPr>
        <p:spPr>
          <a:xfrm>
            <a:off x="775551" y="4015595"/>
            <a:ext cx="6897955" cy="1174056"/>
          </a:xfrm>
          <a:prstGeom prst="rect">
            <a:avLst/>
          </a:prstGeom>
          <a:noFill/>
          <a:ln/>
        </p:spPr>
        <p:txBody>
          <a:bodyPr wrap="square" lIns="0" tIns="0" rIns="0" bIns="0" rtlCol="0" anchor="ctr"/>
          <a:lstStyle/>
          <a:p>
            <a:r>
              <a:rPr lang="fr-FR" sz="2000" i="1" noProof="0" dirty="0">
                <a:solidFill>
                  <a:srgbClr val="CFE0EA"/>
                </a:solidFill>
                <a:latin typeface="Calibri" pitchFamily="34" charset="0"/>
                <a:ea typeface="Calibri" pitchFamily="34" charset="-122"/>
                <a:cs typeface="Calibri" pitchFamily="34" charset="-120"/>
              </a:rPr>
              <a:t>“Apprendre à une machine non pas à diagnostiquer ni à interpréter, mais à vérifier qu’une radiographie thoracique et son compte rendu racontent la même histoire.”</a:t>
            </a:r>
          </a:p>
        </p:txBody>
      </p:sp>
      <p:sp>
        <p:nvSpPr>
          <p:cNvPr id="10" name="ZoneTexte 9">
            <a:extLst>
              <a:ext uri="{FF2B5EF4-FFF2-40B4-BE49-F238E27FC236}">
                <a16:creationId xmlns:a16="http://schemas.microsoft.com/office/drawing/2014/main" id="{D68B1E09-6ED9-2C3E-173B-6C44261C32FD}"/>
              </a:ext>
            </a:extLst>
          </p:cNvPr>
          <p:cNvSpPr txBox="1"/>
          <p:nvPr/>
        </p:nvSpPr>
        <p:spPr>
          <a:xfrm>
            <a:off x="868680" y="5624423"/>
            <a:ext cx="6834709" cy="276999"/>
          </a:xfrm>
          <a:prstGeom prst="rect">
            <a:avLst/>
          </a:prstGeom>
          <a:noFill/>
        </p:spPr>
        <p:txBody>
          <a:bodyPr wrap="square" rtlCol="0">
            <a:spAutoFit/>
          </a:bodyPr>
          <a:lstStyle/>
          <a:p>
            <a:r>
              <a:rPr lang="fr-FR" sz="1200" noProof="0" dirty="0">
                <a:solidFill>
                  <a:schemeClr val="bg1"/>
                </a:solidFill>
              </a:rPr>
              <a:t>Aïcha FATHELLAH / David HERBEZ / Samer MECHHOUD / Sohaib EL MAAROUFI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01 – LA MISSION</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Le point de départ</a:t>
            </a:r>
            <a:endParaRPr lang="fr-FR" sz="2700" noProof="0" dirty="0"/>
          </a:p>
        </p:txBody>
      </p:sp>
      <p:sp>
        <p:nvSpPr>
          <p:cNvPr id="6" name="Text 3"/>
          <p:cNvSpPr/>
          <p:nvPr/>
        </p:nvSpPr>
        <p:spPr>
          <a:xfrm>
            <a:off x="731520" y="2256860"/>
            <a:ext cx="4951616" cy="3752180"/>
          </a:xfrm>
          <a:prstGeom prst="rect">
            <a:avLst/>
          </a:prstGeom>
          <a:noFill/>
          <a:ln/>
        </p:spPr>
        <p:txBody>
          <a:bodyPr wrap="square" lIns="0" tIns="0" rIns="0" bIns="0" rtlCol="0" anchor="t"/>
          <a:lstStyle/>
          <a:p>
            <a:pPr marL="0" indent="0">
              <a:lnSpc>
                <a:spcPct val="108000"/>
              </a:lnSpc>
              <a:spcAft>
                <a:spcPts val="1000"/>
              </a:spcAft>
              <a:buNone/>
            </a:pPr>
            <a:r>
              <a:rPr lang="fr-FR" sz="1500" noProof="0" dirty="0">
                <a:solidFill>
                  <a:srgbClr val="1F2A37"/>
                </a:solidFill>
                <a:latin typeface="Calibri" pitchFamily="34" charset="0"/>
                <a:ea typeface="Calibri" pitchFamily="34" charset="-122"/>
                <a:cs typeface="Calibri" pitchFamily="34" charset="-120"/>
              </a:rPr>
              <a:t>Dans un service de radiologie, chaque radiographie thoracique est accompagnée d'un compte rendu rédigé en </a:t>
            </a:r>
            <a:r>
              <a:rPr lang="fr-FR" sz="1500" noProof="0" dirty="0" err="1">
                <a:solidFill>
                  <a:srgbClr val="1F2A37"/>
                </a:solidFill>
                <a:latin typeface="Calibri" pitchFamily="34" charset="0"/>
                <a:ea typeface="Calibri" pitchFamily="34" charset="-122"/>
                <a:cs typeface="Calibri" pitchFamily="34" charset="-120"/>
              </a:rPr>
              <a:t>langage</a:t>
            </a:r>
            <a:r>
              <a:rPr lang="fr-FR" sz="1500" noProof="0" dirty="0">
                <a:solidFill>
                  <a:srgbClr val="1F2A37"/>
                </a:solidFill>
                <a:latin typeface="Calibri" pitchFamily="34" charset="0"/>
                <a:ea typeface="Calibri" pitchFamily="34" charset="-122"/>
                <a:cs typeface="Calibri" pitchFamily="34" charset="-120"/>
              </a:rPr>
              <a:t> naturel.</a:t>
            </a:r>
            <a:endParaRPr lang="fr-FR" sz="1500" noProof="0" dirty="0"/>
          </a:p>
          <a:p>
            <a:pPr marL="0" indent="0">
              <a:lnSpc>
                <a:spcPct val="108000"/>
              </a:lnSpc>
              <a:spcAft>
                <a:spcPts val="1000"/>
              </a:spcAft>
              <a:buNone/>
            </a:pPr>
            <a:r>
              <a:rPr lang="fr-FR" sz="1500" b="1" noProof="0" dirty="0">
                <a:solidFill>
                  <a:srgbClr val="1F2A37"/>
                </a:solidFill>
                <a:latin typeface="Calibri" pitchFamily="34" charset="0"/>
                <a:ea typeface="Calibri" pitchFamily="34" charset="-122"/>
                <a:cs typeface="Calibri" pitchFamily="34" charset="-120"/>
              </a:rPr>
              <a:t>L'image et le texte sont censés raconter la même histoire clinique</a:t>
            </a:r>
            <a:r>
              <a:rPr lang="fr-FR" sz="1500" noProof="0" dirty="0">
                <a:solidFill>
                  <a:srgbClr val="1F2A37"/>
                </a:solidFill>
                <a:latin typeface="Calibri" pitchFamily="34" charset="0"/>
                <a:ea typeface="Calibri" pitchFamily="34" charset="-122"/>
                <a:cs typeface="Calibri" pitchFamily="34" charset="-120"/>
              </a:rPr>
              <a:t>. Or les flux sont denses : un rapport peut être associé au mauvais examen. C'est un risque pour la décision médicale qui suivra.</a:t>
            </a:r>
          </a:p>
          <a:p>
            <a:pPr marL="0" indent="0">
              <a:lnSpc>
                <a:spcPct val="108000"/>
              </a:lnSpc>
              <a:buNone/>
            </a:pPr>
            <a:r>
              <a:rPr lang="fr-FR" sz="1500" b="1" noProof="0" dirty="0"/>
              <a:t>L'objectif n'est pas de substituer la machine au diagnostic ou à l’interprétation médicale </a:t>
            </a:r>
            <a:r>
              <a:rPr lang="fr-FR" sz="1500" noProof="0" dirty="0"/>
              <a:t>, mais de l'utiliser comme un </a:t>
            </a:r>
            <a:r>
              <a:rPr lang="fr-FR" sz="1500" b="1" noProof="0" dirty="0"/>
              <a:t>outil d'audit pour garantir la stricte corrélation </a:t>
            </a:r>
            <a:r>
              <a:rPr lang="fr-FR" sz="1500" noProof="0" dirty="0"/>
              <a:t>entre le cliché thoracique et son interprétation textuelle. </a:t>
            </a:r>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2</a:t>
            </a:fld>
            <a:endParaRPr lang="fr-FR" noProof="0" dirty="0"/>
          </a:p>
        </p:txBody>
      </p:sp>
      <p:sp>
        <p:nvSpPr>
          <p:cNvPr id="23" name="Text 3">
            <a:extLst>
              <a:ext uri="{FF2B5EF4-FFF2-40B4-BE49-F238E27FC236}">
                <a16:creationId xmlns:a16="http://schemas.microsoft.com/office/drawing/2014/main" id="{D781DE1F-33D7-CCB5-4939-6A6CB1AACF2D}"/>
              </a:ext>
            </a:extLst>
          </p:cNvPr>
          <p:cNvSpPr/>
          <p:nvPr/>
        </p:nvSpPr>
        <p:spPr>
          <a:xfrm>
            <a:off x="731520" y="1566902"/>
            <a:ext cx="10908792" cy="384048"/>
          </a:xfrm>
          <a:prstGeom prst="rect">
            <a:avLst/>
          </a:prstGeom>
          <a:noFill/>
          <a:ln/>
        </p:spPr>
        <p:txBody>
          <a:bodyPr wrap="square" lIns="0" tIns="0" rIns="0" bIns="0" rtlCol="0" anchor="ctr"/>
          <a:lstStyle/>
          <a:p>
            <a:pPr marL="0" indent="0">
              <a:buNone/>
            </a:pPr>
            <a:r>
              <a:rPr lang="fr-FR" i="1" noProof="0" dirty="0">
                <a:solidFill>
                  <a:srgbClr val="1C7C8C"/>
                </a:solidFill>
                <a:latin typeface="Calibri" panose="020F0502020204030204" pitchFamily="34" charset="0"/>
                <a:ea typeface="Calibri" panose="020F0502020204030204" pitchFamily="34" charset="0"/>
                <a:cs typeface="Calibri" panose="020F0502020204030204" pitchFamily="34" charset="0"/>
              </a:rPr>
              <a:t>Ce compte rendu décrit-il vraiment cette radiographie ?</a:t>
            </a:r>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43" name="Shape 5">
            <a:extLst>
              <a:ext uri="{FF2B5EF4-FFF2-40B4-BE49-F238E27FC236}">
                <a16:creationId xmlns:a16="http://schemas.microsoft.com/office/drawing/2014/main" id="{6BA0488C-6859-A270-76AA-36C787C76619}"/>
              </a:ext>
            </a:extLst>
          </p:cNvPr>
          <p:cNvSpPr/>
          <p:nvPr/>
        </p:nvSpPr>
        <p:spPr>
          <a:xfrm>
            <a:off x="6327833" y="1463040"/>
            <a:ext cx="5132647" cy="4343880"/>
          </a:xfrm>
          <a:prstGeom prst="roundRect">
            <a:avLst>
              <a:gd name="adj" fmla="val 2623"/>
            </a:avLst>
          </a:prstGeom>
          <a:solidFill>
            <a:srgbClr val="0E2A3B"/>
          </a:solidFill>
          <a:ln/>
          <a:effectLst>
            <a:outerShdw blurRad="114300" dist="38100" dir="5400000" algn="bl" rotWithShape="0">
              <a:srgbClr val="0E2A3B">
                <a:alpha val="16000"/>
              </a:srgbClr>
            </a:outerShdw>
          </a:effectLst>
        </p:spPr>
        <p:txBody>
          <a:bodyPr/>
          <a:lstStyle/>
          <a:p>
            <a:endParaRPr lang="fr-FR" noProof="0" dirty="0"/>
          </a:p>
        </p:txBody>
      </p:sp>
      <p:pic>
        <p:nvPicPr>
          <p:cNvPr id="45" name="Image 1" descr="preencoded.png">
            <a:extLst>
              <a:ext uri="{FF2B5EF4-FFF2-40B4-BE49-F238E27FC236}">
                <a16:creationId xmlns:a16="http://schemas.microsoft.com/office/drawing/2014/main" id="{714D3EC2-AA00-0F61-6B29-35191E81A011}"/>
              </a:ext>
            </a:extLst>
          </p:cNvPr>
          <p:cNvPicPr>
            <a:picLocks noChangeAspect="1"/>
          </p:cNvPicPr>
          <p:nvPr/>
        </p:nvPicPr>
        <p:blipFill>
          <a:blip r:embed="rId4"/>
          <a:stretch>
            <a:fillRect/>
          </a:stretch>
        </p:blipFill>
        <p:spPr>
          <a:xfrm>
            <a:off x="6762681" y="1860128"/>
            <a:ext cx="457200" cy="457200"/>
          </a:xfrm>
          <a:prstGeom prst="rect">
            <a:avLst/>
          </a:prstGeom>
        </p:spPr>
      </p:pic>
      <p:sp>
        <p:nvSpPr>
          <p:cNvPr id="46" name="Text 6">
            <a:extLst>
              <a:ext uri="{FF2B5EF4-FFF2-40B4-BE49-F238E27FC236}">
                <a16:creationId xmlns:a16="http://schemas.microsoft.com/office/drawing/2014/main" id="{7198F53A-6E15-CDC8-1F6B-EBAB2D8F1694}"/>
              </a:ext>
            </a:extLst>
          </p:cNvPr>
          <p:cNvSpPr/>
          <p:nvPr/>
        </p:nvSpPr>
        <p:spPr>
          <a:xfrm>
            <a:off x="7542230" y="1908171"/>
            <a:ext cx="3273552" cy="274320"/>
          </a:xfrm>
          <a:prstGeom prst="rect">
            <a:avLst/>
          </a:prstGeom>
          <a:noFill/>
          <a:ln/>
        </p:spPr>
        <p:txBody>
          <a:bodyPr wrap="square" lIns="0" tIns="0" rIns="0" bIns="0" rtlCol="0" anchor="ctr"/>
          <a:lstStyle/>
          <a:p>
            <a:pPr marL="0" indent="0">
              <a:buNone/>
            </a:pPr>
            <a:r>
              <a:rPr lang="fr-FR" sz="1600" b="1" kern="0" spc="200" noProof="0" dirty="0">
                <a:solidFill>
                  <a:srgbClr val="3FB8AB"/>
                </a:solidFill>
                <a:latin typeface="Calibri" pitchFamily="34" charset="0"/>
                <a:ea typeface="Calibri" pitchFamily="34" charset="-122"/>
                <a:cs typeface="Calibri" pitchFamily="34" charset="-120"/>
              </a:rPr>
              <a:t>LA MISSION</a:t>
            </a:r>
            <a:endParaRPr lang="fr-FR" sz="1600" noProof="0" dirty="0"/>
          </a:p>
        </p:txBody>
      </p:sp>
      <p:sp>
        <p:nvSpPr>
          <p:cNvPr id="47" name="Text 7">
            <a:extLst>
              <a:ext uri="{FF2B5EF4-FFF2-40B4-BE49-F238E27FC236}">
                <a16:creationId xmlns:a16="http://schemas.microsoft.com/office/drawing/2014/main" id="{56A0C396-DFC8-3FB2-7752-41E6A00397CD}"/>
              </a:ext>
            </a:extLst>
          </p:cNvPr>
          <p:cNvSpPr/>
          <p:nvPr/>
        </p:nvSpPr>
        <p:spPr>
          <a:xfrm>
            <a:off x="6705829" y="2601245"/>
            <a:ext cx="2604694" cy="1300163"/>
          </a:xfrm>
          <a:prstGeom prst="rect">
            <a:avLst/>
          </a:prstGeom>
          <a:noFill/>
          <a:ln/>
        </p:spPr>
        <p:txBody>
          <a:bodyPr wrap="square" lIns="0" tIns="0" rIns="0" bIns="0" rtlCol="0" anchor="ctr"/>
          <a:lstStyle/>
          <a:p>
            <a:pPr>
              <a:lnSpc>
                <a:spcPct val="108000"/>
              </a:lnSpc>
            </a:pPr>
            <a:r>
              <a:rPr lang="fr-FR" sz="1500" noProof="0" dirty="0">
                <a:solidFill>
                  <a:schemeClr val="bg1">
                    <a:lumMod val="95000"/>
                  </a:schemeClr>
                </a:solidFill>
                <a:latin typeface="Calibri" pitchFamily="34" charset="0"/>
                <a:ea typeface="Calibri" pitchFamily="34" charset="-122"/>
                <a:cs typeface="Calibri" pitchFamily="34" charset="-120"/>
              </a:rPr>
              <a:t>Construire un garde-fou automatique qui lit en parallèle l'image et le texte, produit un score de cohérence, et signale les paires qui ne s'accordent pas</a:t>
            </a:r>
            <a:r>
              <a:rPr lang="fr-FR" sz="1500" noProof="0" dirty="0">
                <a:solidFill>
                  <a:srgbClr val="1F2A37"/>
                </a:solidFill>
                <a:latin typeface="Calibri" pitchFamily="34" charset="0"/>
                <a:ea typeface="Calibri" pitchFamily="34" charset="-122"/>
                <a:cs typeface="Calibri" pitchFamily="34" charset="-120"/>
              </a:rPr>
              <a:t>.</a:t>
            </a:r>
            <a:endParaRPr lang="fr-FR" sz="1500" noProof="0" dirty="0"/>
          </a:p>
        </p:txBody>
      </p:sp>
      <p:sp>
        <p:nvSpPr>
          <p:cNvPr id="48" name="Text 8">
            <a:extLst>
              <a:ext uri="{FF2B5EF4-FFF2-40B4-BE49-F238E27FC236}">
                <a16:creationId xmlns:a16="http://schemas.microsoft.com/office/drawing/2014/main" id="{F6958FF6-88CC-E4B0-43DC-553211521634}"/>
              </a:ext>
            </a:extLst>
          </p:cNvPr>
          <p:cNvSpPr/>
          <p:nvPr/>
        </p:nvSpPr>
        <p:spPr>
          <a:xfrm>
            <a:off x="6705830" y="4132950"/>
            <a:ext cx="3273552" cy="365760"/>
          </a:xfrm>
          <a:prstGeom prst="rect">
            <a:avLst/>
          </a:prstGeom>
          <a:noFill/>
          <a:ln/>
        </p:spPr>
        <p:txBody>
          <a:bodyPr wrap="square" lIns="0" tIns="0" rIns="0" bIns="0" rtlCol="0" anchor="ctr"/>
          <a:lstStyle/>
          <a:p>
            <a:pPr marL="0" indent="0">
              <a:buNone/>
            </a:pPr>
            <a:endParaRPr lang="fr-FR" sz="1500" noProof="0" dirty="0"/>
          </a:p>
        </p:txBody>
      </p:sp>
      <p:sp>
        <p:nvSpPr>
          <p:cNvPr id="49" name="Text 9">
            <a:extLst>
              <a:ext uri="{FF2B5EF4-FFF2-40B4-BE49-F238E27FC236}">
                <a16:creationId xmlns:a16="http://schemas.microsoft.com/office/drawing/2014/main" id="{A1DBD155-4DD4-F160-FDDA-04BFE5815190}"/>
              </a:ext>
            </a:extLst>
          </p:cNvPr>
          <p:cNvSpPr/>
          <p:nvPr/>
        </p:nvSpPr>
        <p:spPr>
          <a:xfrm>
            <a:off x="6705829" y="4574185"/>
            <a:ext cx="4376652" cy="411480"/>
          </a:xfrm>
          <a:prstGeom prst="rect">
            <a:avLst/>
          </a:prstGeom>
          <a:noFill/>
          <a:ln/>
        </p:spPr>
        <p:txBody>
          <a:bodyPr wrap="square" lIns="0" tIns="0" rIns="0" bIns="0" rtlCol="0" anchor="ctr"/>
          <a:lstStyle/>
          <a:p>
            <a:pPr marL="0" indent="0">
              <a:buNone/>
            </a:pPr>
            <a:endParaRPr lang="fr-FR" sz="1500" noProof="0" dirty="0"/>
          </a:p>
        </p:txBody>
      </p:sp>
      <p:pic>
        <p:nvPicPr>
          <p:cNvPr id="39" name="Image 38">
            <a:extLst>
              <a:ext uri="{FF2B5EF4-FFF2-40B4-BE49-F238E27FC236}">
                <a16:creationId xmlns:a16="http://schemas.microsoft.com/office/drawing/2014/main" id="{D1A1CA54-14A6-6A60-FBF1-73C54474F329}"/>
              </a:ext>
            </a:extLst>
          </p:cNvPr>
          <p:cNvPicPr>
            <a:picLocks noChangeAspect="1"/>
          </p:cNvPicPr>
          <p:nvPr/>
        </p:nvPicPr>
        <p:blipFill>
          <a:blip r:embed="rId5"/>
          <a:stretch>
            <a:fillRect/>
          </a:stretch>
        </p:blipFill>
        <p:spPr>
          <a:xfrm>
            <a:off x="9490356" y="3753444"/>
            <a:ext cx="1592125" cy="18441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hlinkClick r:id="rId3"/>
            <a:extLst>
              <a:ext uri="{FF2B5EF4-FFF2-40B4-BE49-F238E27FC236}">
                <a16:creationId xmlns:a16="http://schemas.microsoft.com/office/drawing/2014/main" id="{EF238514-EEE6-F619-8A20-F6DE3AD29593}"/>
              </a:ext>
            </a:extLst>
          </p:cNvPr>
          <p:cNvPicPr>
            <a:picLocks noChangeAspect="1"/>
          </p:cNvPicPr>
          <p:nvPr/>
        </p:nvPicPr>
        <p:blipFill>
          <a:blip r:embed="rId4"/>
          <a:stretch>
            <a:fillRect/>
          </a:stretch>
        </p:blipFill>
        <p:spPr>
          <a:xfrm>
            <a:off x="606392" y="448315"/>
            <a:ext cx="10953548" cy="5947434"/>
          </a:xfrm>
          <a:prstGeom prst="rect">
            <a:avLst/>
          </a:prstGeom>
        </p:spPr>
      </p:pic>
      <p:sp>
        <p:nvSpPr>
          <p:cNvPr id="6" name="ZoneTexte 5">
            <a:extLst>
              <a:ext uri="{FF2B5EF4-FFF2-40B4-BE49-F238E27FC236}">
                <a16:creationId xmlns:a16="http://schemas.microsoft.com/office/drawing/2014/main" id="{6FA75A8C-9B73-8D8D-DF83-4EA5D1CF8215}"/>
              </a:ext>
            </a:extLst>
          </p:cNvPr>
          <p:cNvSpPr txBox="1"/>
          <p:nvPr/>
        </p:nvSpPr>
        <p:spPr>
          <a:xfrm>
            <a:off x="5062475" y="5075120"/>
            <a:ext cx="877453" cy="307777"/>
          </a:xfrm>
          <a:prstGeom prst="rect">
            <a:avLst/>
          </a:prstGeom>
          <a:noFill/>
        </p:spPr>
        <p:txBody>
          <a:bodyPr wrap="square">
            <a:spAutoFit/>
          </a:bodyPr>
          <a:lstStyle/>
          <a:p>
            <a:r>
              <a:rPr lang="fr-FR" sz="1400" b="1" i="1" dirty="0">
                <a:solidFill>
                  <a:schemeClr val="tx2"/>
                </a:solidFill>
                <a:hlinkClick r:id="rId3">
                  <a:extLst>
                    <a:ext uri="{A12FA001-AC4F-418D-AE19-62706E023703}">
                      <ahyp:hlinkClr xmlns:ahyp="http://schemas.microsoft.com/office/drawing/2018/hyperlinkcolor" val="tx"/>
                    </a:ext>
                  </a:extLst>
                </a:hlinkClick>
              </a:rPr>
              <a:t>Démo</a:t>
            </a:r>
            <a:r>
              <a:rPr lang="fr-FR" sz="1400" b="1" i="1" dirty="0">
                <a:solidFill>
                  <a:schemeClr val="tx2"/>
                </a:solidFill>
              </a:rPr>
              <a:t> :</a:t>
            </a:r>
          </a:p>
        </p:txBody>
      </p:sp>
      <p:pic>
        <p:nvPicPr>
          <p:cNvPr id="1026" name="Picture 2" descr="huggingface icon logo, généré par IA">
            <a:hlinkClick r:id="rId3"/>
            <a:extLst>
              <a:ext uri="{FF2B5EF4-FFF2-40B4-BE49-F238E27FC236}">
                <a16:creationId xmlns:a16="http://schemas.microsoft.com/office/drawing/2014/main" id="{ED674DBF-2EEE-A5CE-7A44-F862649EBB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211476" y="5534773"/>
            <a:ext cx="505262" cy="40420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YouTube icon, généré par IA">
            <a:hlinkClick r:id="rId6"/>
            <a:extLst>
              <a:ext uri="{FF2B5EF4-FFF2-40B4-BE49-F238E27FC236}">
                <a16:creationId xmlns:a16="http://schemas.microsoft.com/office/drawing/2014/main" id="{AA4856F1-26AF-ADE7-0287-463417F446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62475" y="5537264"/>
            <a:ext cx="687788" cy="5502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cal computer icon, généré par IA">
            <a:hlinkClick r:id="rId3"/>
            <a:extLst>
              <a:ext uri="{FF2B5EF4-FFF2-40B4-BE49-F238E27FC236}">
                <a16:creationId xmlns:a16="http://schemas.microsoft.com/office/drawing/2014/main" id="{B9D0E8F0-519C-517F-71C0-6988724350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7663" y="5534772"/>
            <a:ext cx="568152" cy="454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3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03 - LES DONNÉES</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La matière première : le jeu de données</a:t>
            </a:r>
            <a:endParaRPr lang="fr-FR" sz="2700" noProof="0" dirty="0"/>
          </a:p>
        </p:txBody>
      </p:sp>
      <p:sp>
        <p:nvSpPr>
          <p:cNvPr id="6" name="Text 3"/>
          <p:cNvSpPr/>
          <p:nvPr/>
        </p:nvSpPr>
        <p:spPr>
          <a:xfrm>
            <a:off x="640080" y="1645920"/>
            <a:ext cx="10881360" cy="457200"/>
          </a:xfrm>
          <a:prstGeom prst="rect">
            <a:avLst/>
          </a:prstGeom>
          <a:noFill/>
          <a:ln/>
        </p:spPr>
        <p:txBody>
          <a:bodyPr wrap="square" lIns="0" tIns="0" rIns="0" bIns="0" rtlCol="0" anchor="ctr"/>
          <a:lstStyle/>
          <a:p>
            <a:pPr marL="0" indent="0">
              <a:buNone/>
            </a:pPr>
            <a:r>
              <a:rPr lang="fr-FR" sz="1550" noProof="0" dirty="0">
                <a:solidFill>
                  <a:srgbClr val="1F2A37"/>
                </a:solidFill>
                <a:latin typeface="Calibri" pitchFamily="34" charset="0"/>
                <a:ea typeface="Calibri" pitchFamily="34" charset="-122"/>
                <a:cs typeface="Calibri" pitchFamily="34" charset="-120"/>
              </a:rPr>
              <a:t>Un grand jeu public de radiographies thoraciques :</a:t>
            </a:r>
            <a:endParaRPr lang="fr-FR" sz="1550" noProof="0" dirty="0"/>
          </a:p>
        </p:txBody>
      </p:sp>
      <p:sp>
        <p:nvSpPr>
          <p:cNvPr id="7" name="Shape 4"/>
          <p:cNvSpPr/>
          <p:nvPr/>
        </p:nvSpPr>
        <p:spPr>
          <a:xfrm>
            <a:off x="1007889" y="2212848"/>
            <a:ext cx="2132436" cy="1783080"/>
          </a:xfrm>
          <a:prstGeom prst="roundRect">
            <a:avLst>
              <a:gd name="adj" fmla="val 461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pic>
        <p:nvPicPr>
          <p:cNvPr id="9" name="Image 1" descr="preencoded.png"/>
          <p:cNvPicPr>
            <a:picLocks noChangeAspect="1"/>
          </p:cNvPicPr>
          <p:nvPr/>
        </p:nvPicPr>
        <p:blipFill>
          <a:blip r:embed="rId4"/>
          <a:stretch>
            <a:fillRect/>
          </a:stretch>
        </p:blipFill>
        <p:spPr>
          <a:xfrm>
            <a:off x="1110447" y="2719791"/>
            <a:ext cx="302849" cy="302849"/>
          </a:xfrm>
          <a:prstGeom prst="rect">
            <a:avLst/>
          </a:prstGeom>
        </p:spPr>
      </p:pic>
      <p:sp>
        <p:nvSpPr>
          <p:cNvPr id="10" name="Text 6"/>
          <p:cNvSpPr/>
          <p:nvPr/>
        </p:nvSpPr>
        <p:spPr>
          <a:xfrm>
            <a:off x="1783080" y="2606040"/>
            <a:ext cx="2194560" cy="457200"/>
          </a:xfrm>
          <a:prstGeom prst="rect">
            <a:avLst/>
          </a:prstGeom>
          <a:noFill/>
          <a:ln/>
        </p:spPr>
        <p:txBody>
          <a:bodyPr wrap="square" lIns="0" tIns="0" rIns="0" bIns="0" rtlCol="0" anchor="ctr"/>
          <a:lstStyle/>
          <a:p>
            <a:pPr marL="0" indent="0">
              <a:buNone/>
            </a:pPr>
            <a:endParaRPr lang="fr-FR" sz="1700" noProof="0" dirty="0"/>
          </a:p>
        </p:txBody>
      </p:sp>
      <p:sp>
        <p:nvSpPr>
          <p:cNvPr id="11" name="Text 7"/>
          <p:cNvSpPr/>
          <p:nvPr/>
        </p:nvSpPr>
        <p:spPr>
          <a:xfrm>
            <a:off x="950976" y="3246120"/>
            <a:ext cx="2834640" cy="685800"/>
          </a:xfrm>
          <a:prstGeom prst="rect">
            <a:avLst/>
          </a:prstGeom>
          <a:noFill/>
          <a:ln/>
        </p:spPr>
        <p:txBody>
          <a:bodyPr wrap="square" lIns="0" tIns="0" rIns="0" bIns="0" rtlCol="0" anchor="t"/>
          <a:lstStyle/>
          <a:p>
            <a:pPr marL="0" indent="0">
              <a:lnSpc>
                <a:spcPct val="105000"/>
              </a:lnSpc>
              <a:buNone/>
            </a:pPr>
            <a:endParaRPr lang="fr-FR" sz="1350" noProof="0" dirty="0"/>
          </a:p>
        </p:txBody>
      </p:sp>
      <p:sp>
        <p:nvSpPr>
          <p:cNvPr id="12" name="Shape 8"/>
          <p:cNvSpPr/>
          <p:nvPr/>
        </p:nvSpPr>
        <p:spPr>
          <a:xfrm>
            <a:off x="4796994" y="2226425"/>
            <a:ext cx="2186417" cy="1783080"/>
          </a:xfrm>
          <a:prstGeom prst="roundRect">
            <a:avLst>
              <a:gd name="adj" fmla="val 461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5" name="Text 10"/>
          <p:cNvSpPr/>
          <p:nvPr/>
        </p:nvSpPr>
        <p:spPr>
          <a:xfrm>
            <a:off x="5486400" y="2606040"/>
            <a:ext cx="2194560" cy="457200"/>
          </a:xfrm>
          <a:prstGeom prst="rect">
            <a:avLst/>
          </a:prstGeom>
          <a:noFill/>
          <a:ln/>
        </p:spPr>
        <p:txBody>
          <a:bodyPr wrap="square" lIns="0" tIns="0" rIns="0" bIns="0" rtlCol="0" anchor="ctr"/>
          <a:lstStyle/>
          <a:p>
            <a:pPr marL="0" indent="0">
              <a:buNone/>
            </a:pPr>
            <a:endParaRPr lang="fr-FR" sz="1700" noProof="0" dirty="0"/>
          </a:p>
        </p:txBody>
      </p:sp>
      <p:sp>
        <p:nvSpPr>
          <p:cNvPr id="16" name="Text 11"/>
          <p:cNvSpPr/>
          <p:nvPr/>
        </p:nvSpPr>
        <p:spPr>
          <a:xfrm>
            <a:off x="4654296" y="3246120"/>
            <a:ext cx="2834640" cy="685800"/>
          </a:xfrm>
          <a:prstGeom prst="rect">
            <a:avLst/>
          </a:prstGeom>
          <a:noFill/>
          <a:ln/>
        </p:spPr>
        <p:txBody>
          <a:bodyPr wrap="square" lIns="0" tIns="0" rIns="0" bIns="0" rtlCol="0" anchor="t"/>
          <a:lstStyle/>
          <a:p>
            <a:pPr marL="0" indent="0">
              <a:lnSpc>
                <a:spcPct val="105000"/>
              </a:lnSpc>
              <a:buNone/>
            </a:pPr>
            <a:endParaRPr lang="fr-FR" sz="1350" noProof="0" dirty="0"/>
          </a:p>
        </p:txBody>
      </p:sp>
      <p:sp>
        <p:nvSpPr>
          <p:cNvPr id="17" name="Shape 12"/>
          <p:cNvSpPr/>
          <p:nvPr/>
        </p:nvSpPr>
        <p:spPr>
          <a:xfrm>
            <a:off x="8600024" y="2221540"/>
            <a:ext cx="2369258" cy="1783080"/>
          </a:xfrm>
          <a:prstGeom prst="roundRect">
            <a:avLst>
              <a:gd name="adj" fmla="val 461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20" name="Text 14"/>
          <p:cNvSpPr/>
          <p:nvPr/>
        </p:nvSpPr>
        <p:spPr>
          <a:xfrm>
            <a:off x="9189720" y="2606040"/>
            <a:ext cx="2194560" cy="457200"/>
          </a:xfrm>
          <a:prstGeom prst="rect">
            <a:avLst/>
          </a:prstGeom>
          <a:noFill/>
          <a:ln/>
        </p:spPr>
        <p:txBody>
          <a:bodyPr wrap="square" lIns="0" tIns="0" rIns="0" bIns="0" rtlCol="0" anchor="ctr"/>
          <a:lstStyle/>
          <a:p>
            <a:pPr marL="0" indent="0">
              <a:buNone/>
            </a:pPr>
            <a:endParaRPr lang="fr-FR" sz="1700" noProof="0" dirty="0"/>
          </a:p>
        </p:txBody>
      </p:sp>
      <p:sp>
        <p:nvSpPr>
          <p:cNvPr id="21" name="Text 15"/>
          <p:cNvSpPr/>
          <p:nvPr/>
        </p:nvSpPr>
        <p:spPr>
          <a:xfrm>
            <a:off x="8357616" y="3246120"/>
            <a:ext cx="2834640" cy="685800"/>
          </a:xfrm>
          <a:prstGeom prst="rect">
            <a:avLst/>
          </a:prstGeom>
          <a:noFill/>
          <a:ln/>
        </p:spPr>
        <p:txBody>
          <a:bodyPr wrap="square" lIns="0" tIns="0" rIns="0" bIns="0" rtlCol="0" anchor="t"/>
          <a:lstStyle/>
          <a:p>
            <a:pPr marL="0" indent="0">
              <a:lnSpc>
                <a:spcPct val="105000"/>
              </a:lnSpc>
              <a:buNone/>
            </a:pPr>
            <a:endParaRPr lang="fr-FR" sz="1350" noProof="0" dirty="0"/>
          </a:p>
        </p:txBody>
      </p:sp>
      <p:sp>
        <p:nvSpPr>
          <p:cNvPr id="22" name="Shape 16"/>
          <p:cNvSpPr/>
          <p:nvPr/>
        </p:nvSpPr>
        <p:spPr>
          <a:xfrm>
            <a:off x="612648" y="4297680"/>
            <a:ext cx="10908792" cy="1417320"/>
          </a:xfrm>
          <a:prstGeom prst="roundRect">
            <a:avLst>
              <a:gd name="adj" fmla="val 5806"/>
            </a:avLst>
          </a:prstGeom>
          <a:solidFill>
            <a:srgbClr val="16243F"/>
          </a:solidFill>
          <a:ln/>
          <a:effectLst>
            <a:outerShdw blurRad="88900" dist="25400" dir="5400000" algn="bl" rotWithShape="0">
              <a:srgbClr val="000000">
                <a:alpha val="10000"/>
              </a:srgbClr>
            </a:outerShdw>
          </a:effectLst>
        </p:spPr>
        <p:txBody>
          <a:bodyPr/>
          <a:lstStyle/>
          <a:p>
            <a:endParaRPr lang="fr-FR" noProof="0" dirty="0"/>
          </a:p>
        </p:txBody>
      </p:sp>
      <p:sp>
        <p:nvSpPr>
          <p:cNvPr id="23" name="Shape 17"/>
          <p:cNvSpPr/>
          <p:nvPr/>
        </p:nvSpPr>
        <p:spPr>
          <a:xfrm>
            <a:off x="960120" y="4636008"/>
            <a:ext cx="731520" cy="731520"/>
          </a:xfrm>
          <a:prstGeom prst="ellipse">
            <a:avLst/>
          </a:prstGeom>
          <a:solidFill>
            <a:srgbClr val="1FA8B8"/>
          </a:solidFill>
          <a:ln/>
        </p:spPr>
        <p:txBody>
          <a:bodyPr/>
          <a:lstStyle/>
          <a:p>
            <a:endParaRPr lang="fr-FR" noProof="0" dirty="0"/>
          </a:p>
        </p:txBody>
      </p:sp>
      <p:pic>
        <p:nvPicPr>
          <p:cNvPr id="24" name="Image 4" descr="preencoded.png"/>
          <p:cNvPicPr>
            <a:picLocks noChangeAspect="1"/>
          </p:cNvPicPr>
          <p:nvPr/>
        </p:nvPicPr>
        <p:blipFill>
          <a:blip r:embed="rId5"/>
          <a:stretch>
            <a:fillRect/>
          </a:stretch>
        </p:blipFill>
        <p:spPr>
          <a:xfrm>
            <a:off x="1161288" y="4837176"/>
            <a:ext cx="329184" cy="329184"/>
          </a:xfrm>
          <a:prstGeom prst="rect">
            <a:avLst/>
          </a:prstGeom>
        </p:spPr>
      </p:pic>
      <p:sp>
        <p:nvSpPr>
          <p:cNvPr id="25" name="Text 18"/>
          <p:cNvSpPr/>
          <p:nvPr/>
        </p:nvSpPr>
        <p:spPr>
          <a:xfrm>
            <a:off x="1920240" y="4526280"/>
            <a:ext cx="9326880" cy="411480"/>
          </a:xfrm>
          <a:prstGeom prst="rect">
            <a:avLst/>
          </a:prstGeom>
          <a:noFill/>
          <a:ln/>
        </p:spPr>
        <p:txBody>
          <a:bodyPr wrap="square" lIns="0" tIns="0" rIns="0" bIns="0" rtlCol="0" anchor="ctr"/>
          <a:lstStyle/>
          <a:p>
            <a:pPr marL="0" indent="0">
              <a:buNone/>
            </a:pPr>
            <a:r>
              <a:rPr lang="fr-FR" sz="1650" b="1" noProof="0" dirty="0">
                <a:solidFill>
                  <a:srgbClr val="FFFFFF"/>
                </a:solidFill>
                <a:latin typeface="Cambria" pitchFamily="34" charset="0"/>
                <a:ea typeface="Cambria" pitchFamily="34" charset="-122"/>
                <a:cs typeface="Cambria" pitchFamily="34" charset="-120"/>
              </a:rPr>
              <a:t>Une décision méthodologique structurante : une seule image par patient</a:t>
            </a:r>
            <a:endParaRPr lang="fr-FR" sz="1650" noProof="0" dirty="0"/>
          </a:p>
        </p:txBody>
      </p:sp>
      <p:sp>
        <p:nvSpPr>
          <p:cNvPr id="26" name="Text 19"/>
          <p:cNvSpPr/>
          <p:nvPr/>
        </p:nvSpPr>
        <p:spPr>
          <a:xfrm>
            <a:off x="1920240" y="4956048"/>
            <a:ext cx="9326880" cy="640080"/>
          </a:xfrm>
          <a:prstGeom prst="rect">
            <a:avLst/>
          </a:prstGeom>
          <a:noFill/>
          <a:ln/>
        </p:spPr>
        <p:txBody>
          <a:bodyPr wrap="square" lIns="0" tIns="0" rIns="0" bIns="0" rtlCol="0" anchor="t"/>
          <a:lstStyle/>
          <a:p>
            <a:pPr>
              <a:lnSpc>
                <a:spcPct val="105000"/>
              </a:lnSpc>
            </a:pPr>
            <a:r>
              <a:rPr lang="fr-FR" sz="1350" noProof="0" dirty="0">
                <a:solidFill>
                  <a:srgbClr val="CFE0EA"/>
                </a:solidFill>
                <a:latin typeface="Calibri" pitchFamily="34" charset="0"/>
                <a:ea typeface="Calibri" pitchFamily="34" charset="-122"/>
                <a:cs typeface="Calibri" pitchFamily="34" charset="-120"/>
              </a:rPr>
              <a:t>Simplifier le jeu de données et éviter que le modèle n’exploite des indices propres au patient plutôt que la cohérence image/texte.</a:t>
            </a:r>
          </a:p>
          <a:p>
            <a:pPr marL="0" indent="0">
              <a:lnSpc>
                <a:spcPct val="105000"/>
              </a:lnSpc>
              <a:buNone/>
            </a:pPr>
            <a:endParaRPr lang="fr-FR" sz="1350" noProof="0" dirty="0">
              <a:solidFill>
                <a:srgbClr val="CFE0EA"/>
              </a:solidFill>
              <a:latin typeface="Calibri" pitchFamily="34" charset="0"/>
              <a:ea typeface="Calibri" pitchFamily="34" charset="-122"/>
              <a:cs typeface="Calibri" pitchFamily="34" charset="-120"/>
            </a:endParaRPr>
          </a:p>
          <a:p>
            <a:pPr marL="0" indent="0">
              <a:lnSpc>
                <a:spcPct val="105000"/>
              </a:lnSpc>
              <a:buNone/>
            </a:pPr>
            <a:endParaRPr lang="fr-FR" sz="1350" noProof="0" dirty="0"/>
          </a:p>
        </p:txBody>
      </p:sp>
      <p:sp>
        <p:nvSpPr>
          <p:cNvPr id="27" name="Text 20"/>
          <p:cNvSpPr/>
          <p:nvPr/>
        </p:nvSpPr>
        <p:spPr>
          <a:xfrm>
            <a:off x="640080" y="5897880"/>
            <a:ext cx="10881360" cy="320040"/>
          </a:xfrm>
          <a:prstGeom prst="rect">
            <a:avLst/>
          </a:prstGeom>
          <a:noFill/>
          <a:ln/>
        </p:spPr>
        <p:txBody>
          <a:bodyPr wrap="square" lIns="0" tIns="0" rIns="0" bIns="0" rtlCol="0" anchor="ctr"/>
          <a:lstStyle/>
          <a:p>
            <a:pPr marL="0" indent="0">
              <a:buNone/>
            </a:pPr>
            <a:r>
              <a:rPr lang="fr-FR" sz="1050" i="1" noProof="0" dirty="0">
                <a:solidFill>
                  <a:srgbClr val="5E6E7E"/>
                </a:solidFill>
                <a:latin typeface="Calibri" pitchFamily="34" charset="0"/>
                <a:ea typeface="Calibri" pitchFamily="34" charset="-122"/>
                <a:cs typeface="Calibri" pitchFamily="34" charset="-120"/>
              </a:rPr>
              <a:t>Sources : CheXpert (Irvin et al., 2019) ; CheXpert Plus (Chambon et al., 2024) - voir annexe.</a:t>
            </a:r>
            <a:endParaRPr lang="fr-FR" sz="1050" noProof="0" dirty="0"/>
          </a:p>
        </p:txBody>
      </p:sp>
      <p:sp>
        <p:nvSpPr>
          <p:cNvPr id="28"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4</a:t>
            </a:fld>
            <a:endParaRPr lang="fr-FR" noProof="0" dirty="0"/>
          </a:p>
        </p:txBody>
      </p:sp>
      <p:sp>
        <p:nvSpPr>
          <p:cNvPr id="29" name="ZoneTexte 28">
            <a:extLst>
              <a:ext uri="{FF2B5EF4-FFF2-40B4-BE49-F238E27FC236}">
                <a16:creationId xmlns:a16="http://schemas.microsoft.com/office/drawing/2014/main" id="{950AEA19-7288-B354-21F5-53B30737934D}"/>
              </a:ext>
            </a:extLst>
          </p:cNvPr>
          <p:cNvSpPr txBox="1"/>
          <p:nvPr/>
        </p:nvSpPr>
        <p:spPr>
          <a:xfrm>
            <a:off x="5021838" y="2709297"/>
            <a:ext cx="1576512" cy="707886"/>
          </a:xfrm>
          <a:prstGeom prst="rect">
            <a:avLst/>
          </a:prstGeom>
          <a:noFill/>
        </p:spPr>
        <p:txBody>
          <a:bodyPr wrap="square" rtlCol="0">
            <a:spAutoFit/>
          </a:bodyPr>
          <a:lstStyle>
            <a:lvl1pPr algn="ctr">
              <a:defRPr sz="2000"/>
            </a:lvl1pPr>
          </a:lstStyle>
          <a:p>
            <a:r>
              <a:rPr lang="fr-FR" dirty="0"/>
              <a:t> Sample de 36 000 paires</a:t>
            </a:r>
          </a:p>
        </p:txBody>
      </p:sp>
      <p:sp>
        <p:nvSpPr>
          <p:cNvPr id="31" name="ZoneTexte 30">
            <a:extLst>
              <a:ext uri="{FF2B5EF4-FFF2-40B4-BE49-F238E27FC236}">
                <a16:creationId xmlns:a16="http://schemas.microsoft.com/office/drawing/2014/main" id="{60D6359D-C2CD-B652-E210-D939CC754FBE}"/>
              </a:ext>
            </a:extLst>
          </p:cNvPr>
          <p:cNvSpPr txBox="1"/>
          <p:nvPr/>
        </p:nvSpPr>
        <p:spPr>
          <a:xfrm>
            <a:off x="8640080" y="2538680"/>
            <a:ext cx="2419642" cy="1323439"/>
          </a:xfrm>
          <a:prstGeom prst="rect">
            <a:avLst/>
          </a:prstGeom>
          <a:noFill/>
        </p:spPr>
        <p:txBody>
          <a:bodyPr wrap="square" rtlCol="0">
            <a:spAutoFit/>
          </a:bodyPr>
          <a:lstStyle/>
          <a:p>
            <a:r>
              <a:rPr lang="fr-FR" sz="2000" noProof="0" dirty="0"/>
              <a:t>Paires négatives 50%</a:t>
            </a:r>
            <a:br>
              <a:rPr lang="fr-FR" sz="2000" noProof="0" dirty="0"/>
            </a:br>
            <a:r>
              <a:rPr lang="fr-FR" sz="2000" noProof="0" dirty="0"/>
              <a:t>                +</a:t>
            </a:r>
            <a:br>
              <a:rPr lang="fr-FR" sz="2000" noProof="0" dirty="0"/>
            </a:br>
            <a:r>
              <a:rPr lang="fr-FR" sz="2000" dirty="0"/>
              <a:t>Paires positives 50%</a:t>
            </a:r>
          </a:p>
          <a:p>
            <a:endParaRPr lang="fr-FR" sz="2000" noProof="0" dirty="0"/>
          </a:p>
        </p:txBody>
      </p:sp>
      <p:sp>
        <p:nvSpPr>
          <p:cNvPr id="32" name="ZoneTexte 31">
            <a:extLst>
              <a:ext uri="{FF2B5EF4-FFF2-40B4-BE49-F238E27FC236}">
                <a16:creationId xmlns:a16="http://schemas.microsoft.com/office/drawing/2014/main" id="{56E7B439-345E-E225-188C-D3F7465394BB}"/>
              </a:ext>
            </a:extLst>
          </p:cNvPr>
          <p:cNvSpPr txBox="1"/>
          <p:nvPr/>
        </p:nvSpPr>
        <p:spPr>
          <a:xfrm>
            <a:off x="1060704" y="2601172"/>
            <a:ext cx="2022018" cy="1015663"/>
          </a:xfrm>
          <a:prstGeom prst="rect">
            <a:avLst/>
          </a:prstGeom>
          <a:noFill/>
        </p:spPr>
        <p:txBody>
          <a:bodyPr wrap="square" rtlCol="0">
            <a:spAutoFit/>
          </a:bodyPr>
          <a:lstStyle/>
          <a:p>
            <a:pPr algn="ctr"/>
            <a:r>
              <a:rPr lang="fr-FR" sz="2000" noProof="0" dirty="0"/>
              <a:t>Dataset CheXpert+ </a:t>
            </a:r>
            <a:br>
              <a:rPr lang="fr-FR" sz="2000" noProof="0" dirty="0"/>
            </a:br>
            <a:r>
              <a:rPr lang="fr-FR" sz="2000" noProof="0" dirty="0"/>
              <a:t>de 223 462 paires</a:t>
            </a:r>
          </a:p>
        </p:txBody>
      </p:sp>
      <p:sp>
        <p:nvSpPr>
          <p:cNvPr id="33" name="Flèche : droite 32">
            <a:extLst>
              <a:ext uri="{FF2B5EF4-FFF2-40B4-BE49-F238E27FC236}">
                <a16:creationId xmlns:a16="http://schemas.microsoft.com/office/drawing/2014/main" id="{BE8CBA17-FD5A-F91E-C306-5AD884E24596}"/>
              </a:ext>
            </a:extLst>
          </p:cNvPr>
          <p:cNvSpPr/>
          <p:nvPr/>
        </p:nvSpPr>
        <p:spPr>
          <a:xfrm>
            <a:off x="3225420" y="3016942"/>
            <a:ext cx="1379550" cy="247792"/>
          </a:xfrm>
          <a:prstGeom prst="rightArrow">
            <a:avLst/>
          </a:prstGeom>
          <a:solidFill>
            <a:srgbClr val="1624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Flèche : droite 33">
            <a:extLst>
              <a:ext uri="{FF2B5EF4-FFF2-40B4-BE49-F238E27FC236}">
                <a16:creationId xmlns:a16="http://schemas.microsoft.com/office/drawing/2014/main" id="{AE3D677C-E368-7409-DF35-68ECA81CD997}"/>
              </a:ext>
            </a:extLst>
          </p:cNvPr>
          <p:cNvSpPr/>
          <p:nvPr/>
        </p:nvSpPr>
        <p:spPr>
          <a:xfrm>
            <a:off x="7169681" y="3022640"/>
            <a:ext cx="1231507" cy="247792"/>
          </a:xfrm>
          <a:prstGeom prst="rightArrow">
            <a:avLst/>
          </a:prstGeom>
          <a:solidFill>
            <a:srgbClr val="1624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04 - CONSTRUIRE LES PAIRES NÉGATIFS</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Le vrai défi : fabriquer le « faux »</a:t>
            </a:r>
            <a:endParaRPr lang="fr-FR" sz="2700" noProof="0" dirty="0"/>
          </a:p>
        </p:txBody>
      </p:sp>
      <p:sp>
        <p:nvSpPr>
          <p:cNvPr id="6" name="Text 3"/>
          <p:cNvSpPr/>
          <p:nvPr/>
        </p:nvSpPr>
        <p:spPr>
          <a:xfrm>
            <a:off x="640080" y="1627632"/>
            <a:ext cx="6675120" cy="1143000"/>
          </a:xfrm>
          <a:prstGeom prst="rect">
            <a:avLst/>
          </a:prstGeom>
          <a:noFill/>
          <a:ln/>
        </p:spPr>
        <p:txBody>
          <a:bodyPr wrap="square" lIns="0" tIns="0" rIns="0" bIns="0" rtlCol="0" anchor="t"/>
          <a:lstStyle/>
          <a:p>
            <a:pPr marL="0" indent="0">
              <a:lnSpc>
                <a:spcPct val="108000"/>
              </a:lnSpc>
              <a:buNone/>
            </a:pPr>
            <a:r>
              <a:rPr lang="fr-FR" sz="1500" noProof="0" dirty="0">
                <a:solidFill>
                  <a:srgbClr val="1F2A37"/>
                </a:solidFill>
                <a:latin typeface="Calibri" pitchFamily="34" charset="0"/>
                <a:ea typeface="Calibri" pitchFamily="34" charset="-122"/>
                <a:cs typeface="Calibri" pitchFamily="34" charset="-120"/>
              </a:rPr>
              <a:t>Les paires cohérentes sont triviales à produire. Toute la difficulté est de fabriquer de bonnes paires incohérentes : un faux trop grossier n'apprend qu'un raccourci paresseux. La fabrication combine deux axes : le niveau de difficulté de l’incohérence (ci-dessous) et la proximité clinique des pathologies échangées (diapositive suivante).</a:t>
            </a:r>
            <a:endParaRPr lang="fr-FR" sz="1500" noProof="0" dirty="0"/>
          </a:p>
        </p:txBody>
      </p:sp>
      <p:sp>
        <p:nvSpPr>
          <p:cNvPr id="7" name="Shape 4"/>
          <p:cNvSpPr/>
          <p:nvPr/>
        </p:nvSpPr>
        <p:spPr>
          <a:xfrm>
            <a:off x="640080" y="2809537"/>
            <a:ext cx="6675120" cy="868680"/>
          </a:xfrm>
          <a:prstGeom prst="roundRect">
            <a:avLst>
              <a:gd name="adj" fmla="val 9474"/>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8" name="Text 5"/>
          <p:cNvSpPr/>
          <p:nvPr/>
        </p:nvSpPr>
        <p:spPr>
          <a:xfrm>
            <a:off x="777240" y="2916936"/>
            <a:ext cx="1051560" cy="795528"/>
          </a:xfrm>
          <a:prstGeom prst="rect">
            <a:avLst/>
          </a:prstGeom>
          <a:noFill/>
          <a:ln/>
        </p:spPr>
        <p:txBody>
          <a:bodyPr wrap="square" lIns="0" tIns="0" rIns="0" bIns="0" rtlCol="0" anchor="ctr"/>
          <a:lstStyle/>
          <a:p>
            <a:pPr marL="0" indent="0" algn="ctr">
              <a:buNone/>
            </a:pPr>
            <a:r>
              <a:rPr lang="fr-FR" sz="2400" b="1" noProof="0" dirty="0">
                <a:solidFill>
                  <a:srgbClr val="1FA8B8"/>
                </a:solidFill>
                <a:latin typeface="Cambria" pitchFamily="34" charset="0"/>
                <a:ea typeface="Cambria" pitchFamily="34" charset="-122"/>
                <a:cs typeface="Cambria" pitchFamily="34" charset="-120"/>
              </a:rPr>
              <a:t>50 %</a:t>
            </a:r>
            <a:endParaRPr lang="fr-FR" sz="2400" noProof="0" dirty="0"/>
          </a:p>
        </p:txBody>
      </p:sp>
      <p:sp>
        <p:nvSpPr>
          <p:cNvPr id="9" name="Text 6"/>
          <p:cNvSpPr/>
          <p:nvPr/>
        </p:nvSpPr>
        <p:spPr>
          <a:xfrm>
            <a:off x="1965960" y="2990088"/>
            <a:ext cx="5120640" cy="347472"/>
          </a:xfrm>
          <a:prstGeom prst="rect">
            <a:avLst/>
          </a:prstGeom>
          <a:noFill/>
          <a:ln/>
        </p:spPr>
        <p:txBody>
          <a:bodyPr wrap="square" lIns="0" tIns="0" rIns="0" bIns="0" rtlCol="0" anchor="ctr"/>
          <a:lstStyle/>
          <a:p>
            <a:pPr marL="0" indent="0">
              <a:buNone/>
            </a:pPr>
            <a:r>
              <a:rPr lang="fr-FR" sz="1550" b="1" noProof="0" dirty="0">
                <a:solidFill>
                  <a:srgbClr val="16243F"/>
                </a:solidFill>
                <a:latin typeface="Cambria" pitchFamily="34" charset="0"/>
                <a:ea typeface="Cambria" pitchFamily="34" charset="-122"/>
                <a:cs typeface="Cambria" pitchFamily="34" charset="-120"/>
              </a:rPr>
              <a:t>Incohérence totale</a:t>
            </a:r>
            <a:endParaRPr lang="fr-FR" sz="1550" noProof="0" dirty="0"/>
          </a:p>
        </p:txBody>
      </p:sp>
      <p:sp>
        <p:nvSpPr>
          <p:cNvPr id="10" name="Text 7"/>
          <p:cNvSpPr/>
          <p:nvPr/>
        </p:nvSpPr>
        <p:spPr>
          <a:xfrm>
            <a:off x="1965960" y="3337560"/>
            <a:ext cx="5212080" cy="365760"/>
          </a:xfrm>
          <a:prstGeom prst="rect">
            <a:avLst/>
          </a:prstGeom>
          <a:noFill/>
          <a:ln/>
        </p:spPr>
        <p:txBody>
          <a:bodyPr wrap="square" lIns="0" tIns="0" rIns="0" bIns="0" rtlCol="0" anchor="t"/>
          <a:lstStyle/>
          <a:p>
            <a:pPr marL="0" indent="0">
              <a:buNone/>
            </a:pPr>
            <a:r>
              <a:rPr lang="fr-FR" sz="1250" noProof="0" dirty="0">
                <a:solidFill>
                  <a:srgbClr val="5E6E7E"/>
                </a:solidFill>
                <a:latin typeface="Calibri" pitchFamily="34" charset="0"/>
                <a:ea typeface="Calibri" pitchFamily="34" charset="-122"/>
                <a:cs typeface="Calibri" pitchFamily="34" charset="-120"/>
              </a:rPr>
              <a:t>Aucune pathologie en commun. L'incohérence la plus franche.</a:t>
            </a:r>
            <a:endParaRPr lang="fr-FR" sz="1250" noProof="0" dirty="0"/>
          </a:p>
        </p:txBody>
      </p:sp>
      <p:sp>
        <p:nvSpPr>
          <p:cNvPr id="11" name="Shape 8"/>
          <p:cNvSpPr/>
          <p:nvPr/>
        </p:nvSpPr>
        <p:spPr>
          <a:xfrm>
            <a:off x="640080" y="3867912"/>
            <a:ext cx="6675120" cy="868680"/>
          </a:xfrm>
          <a:prstGeom prst="roundRect">
            <a:avLst>
              <a:gd name="adj" fmla="val 9474"/>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2" name="Text 9"/>
          <p:cNvSpPr/>
          <p:nvPr/>
        </p:nvSpPr>
        <p:spPr>
          <a:xfrm>
            <a:off x="777240" y="3904488"/>
            <a:ext cx="1051560" cy="795528"/>
          </a:xfrm>
          <a:prstGeom prst="rect">
            <a:avLst/>
          </a:prstGeom>
          <a:noFill/>
          <a:ln/>
        </p:spPr>
        <p:txBody>
          <a:bodyPr wrap="square" lIns="0" tIns="0" rIns="0" bIns="0" rtlCol="0" anchor="ctr"/>
          <a:lstStyle/>
          <a:p>
            <a:pPr marL="0" indent="0" algn="ctr">
              <a:buNone/>
            </a:pPr>
            <a:r>
              <a:rPr lang="fr-FR" sz="2400" b="1" noProof="0" dirty="0">
                <a:solidFill>
                  <a:srgbClr val="1FA8B8"/>
                </a:solidFill>
                <a:latin typeface="Cambria" pitchFamily="34" charset="0"/>
                <a:ea typeface="Cambria" pitchFamily="34" charset="-122"/>
                <a:cs typeface="Cambria" pitchFamily="34" charset="-120"/>
              </a:rPr>
              <a:t>30 %</a:t>
            </a:r>
            <a:endParaRPr lang="fr-FR" sz="2400" noProof="0" dirty="0"/>
          </a:p>
        </p:txBody>
      </p:sp>
      <p:sp>
        <p:nvSpPr>
          <p:cNvPr id="13" name="Text 10"/>
          <p:cNvSpPr/>
          <p:nvPr/>
        </p:nvSpPr>
        <p:spPr>
          <a:xfrm>
            <a:off x="1965960" y="3977640"/>
            <a:ext cx="5120640" cy="347472"/>
          </a:xfrm>
          <a:prstGeom prst="rect">
            <a:avLst/>
          </a:prstGeom>
          <a:noFill/>
          <a:ln/>
        </p:spPr>
        <p:txBody>
          <a:bodyPr wrap="square" lIns="0" tIns="0" rIns="0" bIns="0" rtlCol="0" anchor="ctr"/>
          <a:lstStyle/>
          <a:p>
            <a:pPr marL="0" indent="0">
              <a:buNone/>
            </a:pPr>
            <a:r>
              <a:rPr lang="fr-FR" sz="1550" b="1" noProof="0" dirty="0">
                <a:solidFill>
                  <a:srgbClr val="16243F"/>
                </a:solidFill>
                <a:latin typeface="Cambria" pitchFamily="34" charset="0"/>
                <a:ea typeface="Cambria" pitchFamily="34" charset="-122"/>
                <a:cs typeface="Cambria" pitchFamily="34" charset="-120"/>
              </a:rPr>
              <a:t>Divergence nette </a:t>
            </a:r>
            <a:endParaRPr lang="fr-FR" sz="1550" noProof="0" dirty="0"/>
          </a:p>
        </p:txBody>
      </p:sp>
      <p:sp>
        <p:nvSpPr>
          <p:cNvPr id="14" name="Text 11"/>
          <p:cNvSpPr/>
          <p:nvPr/>
        </p:nvSpPr>
        <p:spPr>
          <a:xfrm>
            <a:off x="1965960" y="4325112"/>
            <a:ext cx="5212080" cy="365760"/>
          </a:xfrm>
          <a:prstGeom prst="rect">
            <a:avLst/>
          </a:prstGeom>
          <a:noFill/>
          <a:ln/>
        </p:spPr>
        <p:txBody>
          <a:bodyPr wrap="square" lIns="0" tIns="0" rIns="0" bIns="0" rtlCol="0" anchor="t"/>
          <a:lstStyle/>
          <a:p>
            <a:pPr marL="0" indent="0">
              <a:buNone/>
            </a:pPr>
            <a:r>
              <a:rPr lang="fr-FR" sz="1250" noProof="0" dirty="0">
                <a:solidFill>
                  <a:srgbClr val="5E6E7E"/>
                </a:solidFill>
                <a:latin typeface="Calibri" pitchFamily="34" charset="0"/>
                <a:ea typeface="Calibri" pitchFamily="34" charset="-122"/>
                <a:cs typeface="Calibri" pitchFamily="34" charset="-120"/>
              </a:rPr>
              <a:t>Au moins une pathologie positive contradictoire et sans ambiguïté.</a:t>
            </a:r>
            <a:endParaRPr lang="fr-FR" sz="1250" noProof="0" dirty="0"/>
          </a:p>
        </p:txBody>
      </p:sp>
      <p:sp>
        <p:nvSpPr>
          <p:cNvPr id="15" name="Shape 12"/>
          <p:cNvSpPr/>
          <p:nvPr/>
        </p:nvSpPr>
        <p:spPr>
          <a:xfrm>
            <a:off x="640080" y="4855464"/>
            <a:ext cx="6675120" cy="868680"/>
          </a:xfrm>
          <a:prstGeom prst="roundRect">
            <a:avLst>
              <a:gd name="adj" fmla="val 9474"/>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6" name="Text 13"/>
          <p:cNvSpPr/>
          <p:nvPr/>
        </p:nvSpPr>
        <p:spPr>
          <a:xfrm>
            <a:off x="777240" y="4892040"/>
            <a:ext cx="1051560" cy="795528"/>
          </a:xfrm>
          <a:prstGeom prst="rect">
            <a:avLst/>
          </a:prstGeom>
          <a:noFill/>
          <a:ln/>
        </p:spPr>
        <p:txBody>
          <a:bodyPr wrap="square" lIns="0" tIns="0" rIns="0" bIns="0" rtlCol="0" anchor="ctr"/>
          <a:lstStyle/>
          <a:p>
            <a:pPr marL="0" indent="0" algn="ctr">
              <a:buNone/>
            </a:pPr>
            <a:r>
              <a:rPr lang="fr-FR" sz="2400" b="1" noProof="0" dirty="0">
                <a:solidFill>
                  <a:srgbClr val="1FA8B8"/>
                </a:solidFill>
                <a:latin typeface="Cambria" pitchFamily="34" charset="0"/>
                <a:ea typeface="Cambria" pitchFamily="34" charset="-122"/>
                <a:cs typeface="Cambria" pitchFamily="34" charset="-120"/>
              </a:rPr>
              <a:t>20 %</a:t>
            </a:r>
            <a:endParaRPr lang="fr-FR" sz="2400" noProof="0" dirty="0"/>
          </a:p>
        </p:txBody>
      </p:sp>
      <p:sp>
        <p:nvSpPr>
          <p:cNvPr id="17" name="Text 14"/>
          <p:cNvSpPr/>
          <p:nvPr/>
        </p:nvSpPr>
        <p:spPr>
          <a:xfrm>
            <a:off x="1965960" y="4965192"/>
            <a:ext cx="5120640" cy="347472"/>
          </a:xfrm>
          <a:prstGeom prst="rect">
            <a:avLst/>
          </a:prstGeom>
          <a:noFill/>
          <a:ln/>
        </p:spPr>
        <p:txBody>
          <a:bodyPr wrap="square" lIns="0" tIns="0" rIns="0" bIns="0" rtlCol="0" anchor="ctr"/>
          <a:lstStyle/>
          <a:p>
            <a:pPr marL="0" indent="0">
              <a:buNone/>
            </a:pPr>
            <a:r>
              <a:rPr lang="fr-FR" sz="1550" b="1" noProof="0" dirty="0">
                <a:solidFill>
                  <a:srgbClr val="16243F"/>
                </a:solidFill>
                <a:latin typeface="Cambria" pitchFamily="34" charset="0"/>
                <a:ea typeface="Cambria" pitchFamily="34" charset="-122"/>
                <a:cs typeface="Cambria" pitchFamily="34" charset="-120"/>
              </a:rPr>
              <a:t>Divergence ambiguë </a:t>
            </a:r>
            <a:endParaRPr lang="fr-FR" sz="1550" noProof="0" dirty="0"/>
          </a:p>
        </p:txBody>
      </p:sp>
      <p:sp>
        <p:nvSpPr>
          <p:cNvPr id="18" name="Text 15"/>
          <p:cNvSpPr/>
          <p:nvPr/>
        </p:nvSpPr>
        <p:spPr>
          <a:xfrm>
            <a:off x="1965960" y="5312664"/>
            <a:ext cx="5212080" cy="365760"/>
          </a:xfrm>
          <a:prstGeom prst="rect">
            <a:avLst/>
          </a:prstGeom>
          <a:noFill/>
          <a:ln/>
        </p:spPr>
        <p:txBody>
          <a:bodyPr wrap="square" lIns="0" tIns="0" rIns="0" bIns="0" rtlCol="0" anchor="t"/>
          <a:lstStyle/>
          <a:p>
            <a:r>
              <a:rPr lang="fr-FR" sz="1250" noProof="0" dirty="0">
                <a:solidFill>
                  <a:srgbClr val="5E6E7E"/>
                </a:solidFill>
                <a:latin typeface="Calibri" pitchFamily="34" charset="0"/>
                <a:ea typeface="Calibri" pitchFamily="34" charset="-122"/>
                <a:cs typeface="Calibri" pitchFamily="34" charset="-120"/>
              </a:rPr>
              <a:t>Au moins une pathologie positive contradictoire, avec ambiguïté éventuelle</a:t>
            </a:r>
            <a:endParaRPr lang="fr-FR" sz="1250" noProof="0" dirty="0"/>
          </a:p>
        </p:txBody>
      </p:sp>
      <p:sp>
        <p:nvSpPr>
          <p:cNvPr id="19" name="Text 16"/>
          <p:cNvSpPr/>
          <p:nvPr/>
        </p:nvSpPr>
        <p:spPr>
          <a:xfrm>
            <a:off x="7635240" y="1783080"/>
            <a:ext cx="3931920" cy="365760"/>
          </a:xfrm>
          <a:prstGeom prst="rect">
            <a:avLst/>
          </a:prstGeom>
          <a:noFill/>
          <a:ln/>
        </p:spPr>
        <p:txBody>
          <a:bodyPr wrap="square" lIns="0" tIns="0" rIns="0" bIns="0" rtlCol="0" anchor="ctr"/>
          <a:lstStyle/>
          <a:p>
            <a:pPr marL="0" indent="0" algn="ctr">
              <a:buNone/>
            </a:pPr>
            <a:r>
              <a:rPr lang="fr-FR" sz="1500" b="1" noProof="0" dirty="0">
                <a:solidFill>
                  <a:srgbClr val="16243F"/>
                </a:solidFill>
                <a:latin typeface="Cambria" pitchFamily="34" charset="0"/>
                <a:ea typeface="Cambria" pitchFamily="34" charset="-122"/>
                <a:cs typeface="Cambria" pitchFamily="34" charset="-120"/>
              </a:rPr>
              <a:t>Répartition par difficulté</a:t>
            </a:r>
            <a:endParaRPr lang="fr-FR" sz="1500" noProof="0" dirty="0"/>
          </a:p>
        </p:txBody>
      </p:sp>
      <p:graphicFrame>
        <p:nvGraphicFramePr>
          <p:cNvPr id="20" name="Chart 0"/>
          <p:cNvGraphicFramePr/>
          <p:nvPr/>
        </p:nvGraphicFramePr>
        <p:xfrm>
          <a:off x="7498080" y="2103120"/>
          <a:ext cx="420624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5</a:t>
            </a:fld>
            <a:endParaRPr lang="fr-FR"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04 - DES FAUX PLUS DIFFICILES</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Aller plus loin : les grappes cliniques</a:t>
            </a:r>
            <a:endParaRPr lang="fr-FR" sz="2700" noProof="0" dirty="0"/>
          </a:p>
        </p:txBody>
      </p:sp>
      <p:sp>
        <p:nvSpPr>
          <p:cNvPr id="6" name="Text 3"/>
          <p:cNvSpPr/>
          <p:nvPr/>
        </p:nvSpPr>
        <p:spPr>
          <a:xfrm>
            <a:off x="640080" y="1645920"/>
            <a:ext cx="10881360" cy="685800"/>
          </a:xfrm>
          <a:prstGeom prst="rect">
            <a:avLst/>
          </a:prstGeom>
          <a:noFill/>
          <a:ln/>
        </p:spPr>
        <p:txBody>
          <a:bodyPr wrap="square" lIns="0" tIns="0" rIns="0" bIns="0" rtlCol="0" anchor="t"/>
          <a:lstStyle/>
          <a:p>
            <a:pPr marL="0" indent="0">
              <a:lnSpc>
                <a:spcPct val="106000"/>
              </a:lnSpc>
              <a:buNone/>
            </a:pPr>
            <a:r>
              <a:rPr lang="fr-FR" sz="1500" noProof="0" dirty="0">
                <a:solidFill>
                  <a:srgbClr val="1F2A37"/>
                </a:solidFill>
                <a:latin typeface="Calibri" pitchFamily="34" charset="0"/>
                <a:ea typeface="Calibri" pitchFamily="34" charset="-122"/>
                <a:cs typeface="Calibri" pitchFamily="34" charset="-120"/>
              </a:rPr>
              <a:t>Deux pathologies peuvent diverger sur le rapport tout en ayant une radio similaire. </a:t>
            </a:r>
          </a:p>
          <a:p>
            <a:pPr marL="0" indent="0">
              <a:lnSpc>
                <a:spcPct val="106000"/>
              </a:lnSpc>
              <a:buNone/>
            </a:pPr>
            <a:r>
              <a:rPr lang="fr-FR" sz="1500" noProof="0" dirty="0">
                <a:solidFill>
                  <a:srgbClr val="1F2A37"/>
                </a:solidFill>
                <a:latin typeface="Calibri" pitchFamily="34" charset="0"/>
                <a:ea typeface="Calibri" pitchFamily="34" charset="-122"/>
                <a:cs typeface="Calibri" pitchFamily="34" charset="-120"/>
              </a:rPr>
              <a:t>Les douze pathologies sont regroupées en quatre familles anatomiques.</a:t>
            </a:r>
            <a:endParaRPr lang="fr-FR" sz="1500" noProof="0" dirty="0"/>
          </a:p>
        </p:txBody>
      </p:sp>
      <p:sp>
        <p:nvSpPr>
          <p:cNvPr id="7" name="Shape 4"/>
          <p:cNvSpPr/>
          <p:nvPr/>
        </p:nvSpPr>
        <p:spPr>
          <a:xfrm>
            <a:off x="640080" y="251460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8" name="Shape 5"/>
          <p:cNvSpPr/>
          <p:nvPr/>
        </p:nvSpPr>
        <p:spPr>
          <a:xfrm>
            <a:off x="914400" y="2779776"/>
            <a:ext cx="603504" cy="603504"/>
          </a:xfrm>
          <a:prstGeom prst="ellipse">
            <a:avLst/>
          </a:prstGeom>
          <a:solidFill>
            <a:srgbClr val="1FA8B8"/>
          </a:solidFill>
          <a:ln/>
        </p:spPr>
        <p:txBody>
          <a:bodyPr/>
          <a:lstStyle/>
          <a:p>
            <a:endParaRPr lang="fr-FR" noProof="0" dirty="0"/>
          </a:p>
        </p:txBody>
      </p:sp>
      <p:pic>
        <p:nvPicPr>
          <p:cNvPr id="9" name="Image 1" descr="preencoded.png"/>
          <p:cNvPicPr>
            <a:picLocks noChangeAspect="1"/>
          </p:cNvPicPr>
          <p:nvPr/>
        </p:nvPicPr>
        <p:blipFill>
          <a:blip r:embed="rId4"/>
          <a:stretch>
            <a:fillRect/>
          </a:stretch>
        </p:blipFill>
        <p:spPr>
          <a:xfrm>
            <a:off x="1077346" y="2942722"/>
            <a:ext cx="277612" cy="277612"/>
          </a:xfrm>
          <a:prstGeom prst="rect">
            <a:avLst/>
          </a:prstGeom>
        </p:spPr>
      </p:pic>
      <p:sp>
        <p:nvSpPr>
          <p:cNvPr id="10" name="Text 6"/>
          <p:cNvSpPr/>
          <p:nvPr/>
        </p:nvSpPr>
        <p:spPr>
          <a:xfrm>
            <a:off x="1691640" y="267919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Cœur et médiastin</a:t>
            </a:r>
            <a:endParaRPr lang="fr-FR" sz="1600" noProof="0" dirty="0"/>
          </a:p>
        </p:txBody>
      </p:sp>
      <p:sp>
        <p:nvSpPr>
          <p:cNvPr id="11" name="Text 7"/>
          <p:cNvSpPr/>
          <p:nvPr/>
        </p:nvSpPr>
        <p:spPr>
          <a:xfrm>
            <a:off x="1691640" y="306324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Cardiomégalie, élargissement du médiastin.</a:t>
            </a:r>
            <a:endParaRPr lang="fr-FR" sz="1250" noProof="0" dirty="0"/>
          </a:p>
        </p:txBody>
      </p:sp>
      <p:sp>
        <p:nvSpPr>
          <p:cNvPr id="12" name="Shape 8"/>
          <p:cNvSpPr/>
          <p:nvPr/>
        </p:nvSpPr>
        <p:spPr>
          <a:xfrm>
            <a:off x="6126480" y="251460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3" name="Shape 9"/>
          <p:cNvSpPr/>
          <p:nvPr/>
        </p:nvSpPr>
        <p:spPr>
          <a:xfrm>
            <a:off x="6400800" y="2779776"/>
            <a:ext cx="603504" cy="603504"/>
          </a:xfrm>
          <a:prstGeom prst="ellipse">
            <a:avLst/>
          </a:prstGeom>
          <a:solidFill>
            <a:srgbClr val="1FA8B8"/>
          </a:solidFill>
          <a:ln/>
        </p:spPr>
        <p:txBody>
          <a:bodyPr/>
          <a:lstStyle/>
          <a:p>
            <a:endParaRPr lang="fr-FR" noProof="0" dirty="0"/>
          </a:p>
        </p:txBody>
      </p:sp>
      <p:pic>
        <p:nvPicPr>
          <p:cNvPr id="14" name="Image 2" descr="preencoded.png"/>
          <p:cNvPicPr>
            <a:picLocks noChangeAspect="1"/>
          </p:cNvPicPr>
          <p:nvPr/>
        </p:nvPicPr>
        <p:blipFill>
          <a:blip r:embed="rId5"/>
          <a:stretch>
            <a:fillRect/>
          </a:stretch>
        </p:blipFill>
        <p:spPr>
          <a:xfrm>
            <a:off x="6563746" y="2942722"/>
            <a:ext cx="277612" cy="277612"/>
          </a:xfrm>
          <a:prstGeom prst="rect">
            <a:avLst/>
          </a:prstGeom>
        </p:spPr>
      </p:pic>
      <p:sp>
        <p:nvSpPr>
          <p:cNvPr id="15" name="Text 10"/>
          <p:cNvSpPr/>
          <p:nvPr/>
        </p:nvSpPr>
        <p:spPr>
          <a:xfrm>
            <a:off x="7178040" y="267919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Opacités pulmonaires</a:t>
            </a:r>
            <a:endParaRPr lang="fr-FR" sz="1600" noProof="0" dirty="0"/>
          </a:p>
        </p:txBody>
      </p:sp>
      <p:sp>
        <p:nvSpPr>
          <p:cNvPr id="16" name="Text 11"/>
          <p:cNvSpPr/>
          <p:nvPr/>
        </p:nvSpPr>
        <p:spPr>
          <a:xfrm>
            <a:off x="7178040" y="306324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Opacité, œdème, condensation, pneumonie, atélectasie.</a:t>
            </a:r>
            <a:endParaRPr lang="fr-FR" sz="1250" noProof="0" dirty="0"/>
          </a:p>
        </p:txBody>
      </p:sp>
      <p:sp>
        <p:nvSpPr>
          <p:cNvPr id="17" name="Shape 12"/>
          <p:cNvSpPr/>
          <p:nvPr/>
        </p:nvSpPr>
        <p:spPr>
          <a:xfrm>
            <a:off x="640080" y="384048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8" name="Shape 13"/>
          <p:cNvSpPr/>
          <p:nvPr/>
        </p:nvSpPr>
        <p:spPr>
          <a:xfrm>
            <a:off x="914400" y="4105656"/>
            <a:ext cx="603504" cy="603504"/>
          </a:xfrm>
          <a:prstGeom prst="ellipse">
            <a:avLst/>
          </a:prstGeom>
          <a:solidFill>
            <a:srgbClr val="1FA8B8"/>
          </a:solidFill>
          <a:ln/>
        </p:spPr>
        <p:txBody>
          <a:bodyPr/>
          <a:lstStyle/>
          <a:p>
            <a:endParaRPr lang="fr-FR" noProof="0" dirty="0"/>
          </a:p>
        </p:txBody>
      </p:sp>
      <p:pic>
        <p:nvPicPr>
          <p:cNvPr id="19" name="Image 3" descr="preencoded.png"/>
          <p:cNvPicPr>
            <a:picLocks noChangeAspect="1"/>
          </p:cNvPicPr>
          <p:nvPr/>
        </p:nvPicPr>
        <p:blipFill>
          <a:blip r:embed="rId6"/>
          <a:stretch>
            <a:fillRect/>
          </a:stretch>
        </p:blipFill>
        <p:spPr>
          <a:xfrm>
            <a:off x="1077346" y="4268602"/>
            <a:ext cx="277612" cy="277612"/>
          </a:xfrm>
          <a:prstGeom prst="rect">
            <a:avLst/>
          </a:prstGeom>
        </p:spPr>
      </p:pic>
      <p:sp>
        <p:nvSpPr>
          <p:cNvPr id="20" name="Text 14"/>
          <p:cNvSpPr/>
          <p:nvPr/>
        </p:nvSpPr>
        <p:spPr>
          <a:xfrm>
            <a:off x="1691640" y="400507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Espace pleural</a:t>
            </a:r>
            <a:endParaRPr lang="fr-FR" sz="1600" noProof="0" dirty="0"/>
          </a:p>
        </p:txBody>
      </p:sp>
      <p:sp>
        <p:nvSpPr>
          <p:cNvPr id="21" name="Text 15"/>
          <p:cNvSpPr/>
          <p:nvPr/>
        </p:nvSpPr>
        <p:spPr>
          <a:xfrm>
            <a:off x="1691640" y="438912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Pneumothorax, épanchement, atteinte pleurale.</a:t>
            </a:r>
            <a:endParaRPr lang="fr-FR" sz="1250" noProof="0" dirty="0"/>
          </a:p>
        </p:txBody>
      </p:sp>
      <p:sp>
        <p:nvSpPr>
          <p:cNvPr id="22" name="Shape 16"/>
          <p:cNvSpPr/>
          <p:nvPr/>
        </p:nvSpPr>
        <p:spPr>
          <a:xfrm>
            <a:off x="6126480" y="384048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23" name="Shape 17"/>
          <p:cNvSpPr/>
          <p:nvPr/>
        </p:nvSpPr>
        <p:spPr>
          <a:xfrm>
            <a:off x="6400800" y="4105656"/>
            <a:ext cx="603504" cy="603504"/>
          </a:xfrm>
          <a:prstGeom prst="ellipse">
            <a:avLst/>
          </a:prstGeom>
          <a:solidFill>
            <a:srgbClr val="1FA8B8"/>
          </a:solidFill>
          <a:ln/>
        </p:spPr>
        <p:txBody>
          <a:bodyPr/>
          <a:lstStyle/>
          <a:p>
            <a:endParaRPr lang="fr-FR" noProof="0" dirty="0"/>
          </a:p>
        </p:txBody>
      </p:sp>
      <p:pic>
        <p:nvPicPr>
          <p:cNvPr id="24" name="Image 4" descr="preencoded.png"/>
          <p:cNvPicPr>
            <a:picLocks noChangeAspect="1"/>
          </p:cNvPicPr>
          <p:nvPr/>
        </p:nvPicPr>
        <p:blipFill>
          <a:blip r:embed="rId7"/>
          <a:stretch>
            <a:fillRect/>
          </a:stretch>
        </p:blipFill>
        <p:spPr>
          <a:xfrm>
            <a:off x="6563746" y="4268602"/>
            <a:ext cx="277612" cy="277612"/>
          </a:xfrm>
          <a:prstGeom prst="rect">
            <a:avLst/>
          </a:prstGeom>
        </p:spPr>
      </p:pic>
      <p:sp>
        <p:nvSpPr>
          <p:cNvPr id="25" name="Text 18"/>
          <p:cNvSpPr/>
          <p:nvPr/>
        </p:nvSpPr>
        <p:spPr>
          <a:xfrm>
            <a:off x="7178040" y="400507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Lésions focales et os</a:t>
            </a:r>
            <a:endParaRPr lang="fr-FR" sz="1600" noProof="0" dirty="0"/>
          </a:p>
        </p:txBody>
      </p:sp>
      <p:sp>
        <p:nvSpPr>
          <p:cNvPr id="26" name="Text 19"/>
          <p:cNvSpPr/>
          <p:nvPr/>
        </p:nvSpPr>
        <p:spPr>
          <a:xfrm>
            <a:off x="7178040" y="438912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Lésion focale, fracture.</a:t>
            </a:r>
            <a:endParaRPr lang="fr-FR" sz="1250" noProof="0" dirty="0"/>
          </a:p>
        </p:txBody>
      </p:sp>
      <p:sp>
        <p:nvSpPr>
          <p:cNvPr id="27" name="Text 20"/>
          <p:cNvSpPr/>
          <p:nvPr/>
        </p:nvSpPr>
        <p:spPr>
          <a:xfrm>
            <a:off x="640080" y="5257800"/>
            <a:ext cx="10881360" cy="548640"/>
          </a:xfrm>
          <a:prstGeom prst="rect">
            <a:avLst/>
          </a:prstGeom>
          <a:noFill/>
          <a:ln/>
        </p:spPr>
        <p:txBody>
          <a:bodyPr wrap="square" lIns="0" tIns="0" rIns="0" bIns="0" rtlCol="0" anchor="t"/>
          <a:lstStyle/>
          <a:p>
            <a:pPr marL="0" indent="0">
              <a:lnSpc>
                <a:spcPct val="104000"/>
              </a:lnSpc>
              <a:buNone/>
            </a:pPr>
            <a:r>
              <a:rPr lang="fr-FR" sz="1400" b="1" noProof="0" dirty="0">
                <a:solidFill>
                  <a:srgbClr val="16243F"/>
                </a:solidFill>
                <a:latin typeface="Calibri" pitchFamily="34" charset="0"/>
                <a:ea typeface="Calibri" pitchFamily="34" charset="-122"/>
                <a:cs typeface="Calibri" pitchFamily="34" charset="-120"/>
              </a:rPr>
              <a:t>L'idée clé : </a:t>
            </a:r>
            <a:r>
              <a:rPr lang="fr-FR" sz="1400" noProof="0" dirty="0">
                <a:solidFill>
                  <a:srgbClr val="16243F"/>
                </a:solidFill>
                <a:latin typeface="Calibri" pitchFamily="34" charset="0"/>
                <a:ea typeface="Calibri" pitchFamily="34" charset="-122"/>
                <a:cs typeface="Calibri" pitchFamily="34" charset="-120"/>
              </a:rPr>
              <a:t>Cas négatifs appartenant à des familles différentes + cas négatifs appartenant à la même famille</a:t>
            </a:r>
            <a:endParaRPr lang="fr-FR" sz="1400" noProof="0" dirty="0"/>
          </a:p>
        </p:txBody>
      </p:sp>
      <p:sp>
        <p:nvSpPr>
          <p:cNvPr id="28"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6</a:t>
            </a:fld>
            <a:endParaRPr lang="fr-FR" noProof="0" dirty="0"/>
          </a:p>
        </p:txBody>
      </p:sp>
      <p:pic>
        <p:nvPicPr>
          <p:cNvPr id="29" name="Image 28">
            <a:extLst>
              <a:ext uri="{FF2B5EF4-FFF2-40B4-BE49-F238E27FC236}">
                <a16:creationId xmlns:a16="http://schemas.microsoft.com/office/drawing/2014/main" id="{65299A58-1225-2D43-FA79-6BC9430E02E5}"/>
              </a:ext>
            </a:extLst>
          </p:cNvPr>
          <p:cNvPicPr>
            <a:picLocks noChangeAspect="1"/>
          </p:cNvPicPr>
          <p:nvPr/>
        </p:nvPicPr>
        <p:blipFill>
          <a:blip r:embed="rId8"/>
          <a:stretch>
            <a:fillRect/>
          </a:stretch>
        </p:blipFill>
        <p:spPr>
          <a:xfrm>
            <a:off x="9292784" y="393192"/>
            <a:ext cx="2000056" cy="17647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05 - LE MODÈLE UTILISÉ</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Le choix du regard : un œil radiologique</a:t>
            </a:r>
            <a:endParaRPr lang="fr-FR" sz="2700" noProof="0" dirty="0"/>
          </a:p>
        </p:txBody>
      </p:sp>
      <p:sp>
        <p:nvSpPr>
          <p:cNvPr id="6" name="Text 3"/>
          <p:cNvSpPr/>
          <p:nvPr/>
        </p:nvSpPr>
        <p:spPr>
          <a:xfrm>
            <a:off x="640080" y="1259904"/>
            <a:ext cx="10881360" cy="365760"/>
          </a:xfrm>
          <a:prstGeom prst="rect">
            <a:avLst/>
          </a:prstGeom>
          <a:noFill/>
          <a:ln/>
        </p:spPr>
        <p:txBody>
          <a:bodyPr wrap="square" lIns="0" tIns="0" rIns="0" bIns="0" rtlCol="0" anchor="t"/>
          <a:lstStyle/>
          <a:p>
            <a:pPr marL="0" indent="0">
              <a:lnSpc>
                <a:spcPct val="105000"/>
              </a:lnSpc>
              <a:buNone/>
            </a:pPr>
            <a:r>
              <a:rPr lang="fr-FR" sz="1500" noProof="0" dirty="0">
                <a:solidFill>
                  <a:srgbClr val="1F2A37"/>
                </a:solidFill>
                <a:latin typeface="Calibri" pitchFamily="34" charset="0"/>
                <a:ea typeface="Calibri" pitchFamily="34" charset="-122"/>
                <a:cs typeface="Calibri" pitchFamily="34" charset="-120"/>
              </a:rPr>
              <a:t>Un modèle entraîné sur la radiographie thoracique et ses comptes rendus, plutôt qu'un modèle médical généraliste - il réunit deux encodeurs complémentaires.</a:t>
            </a:r>
          </a:p>
          <a:p>
            <a:pPr marL="0" indent="0">
              <a:lnSpc>
                <a:spcPct val="105000"/>
              </a:lnSpc>
              <a:buNone/>
            </a:pPr>
            <a:endParaRPr lang="fr-FR" sz="1500" noProof="0" dirty="0"/>
          </a:p>
        </p:txBody>
      </p:sp>
      <p:sp>
        <p:nvSpPr>
          <p:cNvPr id="30" name="Badge BG"/>
          <p:cNvSpPr/>
          <p:nvPr/>
        </p:nvSpPr>
        <p:spPr>
          <a:xfrm>
            <a:off x="640080" y="1770000"/>
            <a:ext cx="6400800" cy="457200"/>
          </a:xfrm>
          <a:prstGeom prst="roundRect">
            <a:avLst>
              <a:gd name="adj" fmla="val 16667"/>
            </a:avLst>
          </a:prstGeom>
          <a:solidFill>
            <a:srgbClr val="16243F"/>
          </a:solidFill>
          <a:ln/>
        </p:spPr>
        <p:txBody>
          <a:bodyPr wrap="square" lIns="182880" tIns="0" rIns="91440" bIns="0" rtlCol="0" anchor="ctr"/>
          <a:lstStyle/>
          <a:p>
            <a:pPr marL="0" indent="0">
              <a:buNone/>
            </a:pPr>
            <a:r>
              <a:rPr lang="fr-FR" sz="1300" b="1" noProof="0" dirty="0">
                <a:solidFill>
                  <a:srgbClr val="9FC7D6"/>
                </a:solidFill>
                <a:latin typeface="Calibri" pitchFamily="34" charset="0"/>
                <a:ea typeface="Calibri" pitchFamily="34" charset="-122"/>
                <a:cs typeface="Calibri" pitchFamily="34" charset="-120"/>
              </a:rPr>
              <a:t>Modèle pré-entraîné : </a:t>
            </a:r>
            <a:r>
              <a:rPr lang="fr-FR" sz="1300" b="1" noProof="0" dirty="0" err="1">
                <a:solidFill>
                  <a:srgbClr val="1FA8B8"/>
                </a:solidFill>
                <a:latin typeface="Calibri" pitchFamily="34" charset="0"/>
                <a:ea typeface="Calibri" pitchFamily="34" charset="-122"/>
                <a:cs typeface="Calibri" pitchFamily="34" charset="-120"/>
              </a:rPr>
              <a:t>BioViL</a:t>
            </a:r>
            <a:r>
              <a:rPr lang="fr-FR" sz="1300" b="1" noProof="0" dirty="0">
                <a:solidFill>
                  <a:srgbClr val="1FA8B8"/>
                </a:solidFill>
                <a:latin typeface="Calibri" pitchFamily="34" charset="0"/>
                <a:ea typeface="Calibri" pitchFamily="34" charset="-122"/>
                <a:cs typeface="Calibri" pitchFamily="34" charset="-120"/>
              </a:rPr>
              <a:t>-T</a:t>
            </a:r>
            <a:r>
              <a:rPr lang="fr-FR" sz="1300" noProof="0" dirty="0">
                <a:solidFill>
                  <a:srgbClr val="CFE0EA"/>
                </a:solidFill>
                <a:latin typeface="Calibri" pitchFamily="34" charset="0"/>
                <a:ea typeface="Calibri" pitchFamily="34" charset="-122"/>
                <a:cs typeface="Calibri" pitchFamily="34" charset="-120"/>
              </a:rPr>
              <a:t>   -   </a:t>
            </a:r>
            <a:r>
              <a:rPr lang="fr-FR" sz="1300" noProof="0" dirty="0" err="1">
                <a:solidFill>
                  <a:srgbClr val="CFE0EA"/>
                </a:solidFill>
                <a:latin typeface="Calibri" pitchFamily="34" charset="0"/>
                <a:ea typeface="Calibri" pitchFamily="34" charset="-122"/>
                <a:cs typeface="Calibri" pitchFamily="34" charset="-120"/>
              </a:rPr>
              <a:t>microsoft</a:t>
            </a:r>
            <a:r>
              <a:rPr lang="fr-FR" sz="1300" noProof="0" dirty="0">
                <a:solidFill>
                  <a:srgbClr val="CFE0EA"/>
                </a:solidFill>
                <a:latin typeface="Calibri" pitchFamily="34" charset="0"/>
                <a:ea typeface="Calibri" pitchFamily="34" charset="-122"/>
                <a:cs typeface="Calibri" pitchFamily="34" charset="-120"/>
              </a:rPr>
              <a:t>/</a:t>
            </a:r>
            <a:r>
              <a:rPr lang="fr-FR" sz="1300" noProof="0" dirty="0" err="1">
                <a:solidFill>
                  <a:srgbClr val="CFE0EA"/>
                </a:solidFill>
                <a:latin typeface="Calibri" pitchFamily="34" charset="0"/>
                <a:ea typeface="Calibri" pitchFamily="34" charset="-122"/>
                <a:cs typeface="Calibri" pitchFamily="34" charset="-120"/>
              </a:rPr>
              <a:t>BiomedVLP</a:t>
            </a:r>
            <a:r>
              <a:rPr lang="fr-FR" sz="1300" noProof="0" dirty="0">
                <a:solidFill>
                  <a:srgbClr val="CFE0EA"/>
                </a:solidFill>
                <a:latin typeface="Calibri" pitchFamily="34" charset="0"/>
                <a:ea typeface="Calibri" pitchFamily="34" charset="-122"/>
                <a:cs typeface="Calibri" pitchFamily="34" charset="-120"/>
              </a:rPr>
              <a:t>-</a:t>
            </a:r>
            <a:r>
              <a:rPr lang="fr-FR" sz="1300" noProof="0" dirty="0" err="1">
                <a:solidFill>
                  <a:srgbClr val="CFE0EA"/>
                </a:solidFill>
                <a:latin typeface="Calibri" pitchFamily="34" charset="0"/>
                <a:ea typeface="Calibri" pitchFamily="34" charset="-122"/>
                <a:cs typeface="Calibri" pitchFamily="34" charset="-120"/>
              </a:rPr>
              <a:t>BioViL</a:t>
            </a:r>
            <a:r>
              <a:rPr lang="fr-FR" sz="1300" noProof="0" dirty="0">
                <a:solidFill>
                  <a:srgbClr val="CFE0EA"/>
                </a:solidFill>
                <a:latin typeface="Calibri" pitchFamily="34" charset="0"/>
                <a:ea typeface="Calibri" pitchFamily="34" charset="-122"/>
                <a:cs typeface="Calibri" pitchFamily="34" charset="-120"/>
              </a:rPr>
              <a:t>-T</a:t>
            </a:r>
            <a:endParaRPr lang="fr-FR" sz="1300" noProof="0" dirty="0"/>
          </a:p>
        </p:txBody>
      </p:sp>
      <p:sp>
        <p:nvSpPr>
          <p:cNvPr id="7" name="Card A BG"/>
          <p:cNvSpPr/>
          <p:nvPr/>
        </p:nvSpPr>
        <p:spPr>
          <a:xfrm>
            <a:off x="731520" y="2440000"/>
            <a:ext cx="5400000" cy="880000"/>
          </a:xfrm>
          <a:prstGeom prst="roundRect">
            <a:avLst>
              <a:gd name="adj" fmla="val 486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8" name="Card A Icon"/>
          <p:cNvSpPr/>
          <p:nvPr/>
        </p:nvSpPr>
        <p:spPr>
          <a:xfrm>
            <a:off x="900000" y="2540000"/>
            <a:ext cx="560000" cy="560000"/>
          </a:xfrm>
          <a:prstGeom prst="ellipse">
            <a:avLst/>
          </a:prstGeom>
          <a:solidFill>
            <a:srgbClr val="1FA8B8"/>
          </a:solidFill>
          <a:ln/>
        </p:spPr>
        <p:txBody>
          <a:bodyPr/>
          <a:lstStyle/>
          <a:p>
            <a:endParaRPr lang="fr-FR" noProof="0" dirty="0"/>
          </a:p>
        </p:txBody>
      </p:sp>
      <p:pic>
        <p:nvPicPr>
          <p:cNvPr id="9" name="Card A IconImg" descr="preencoded.png"/>
          <p:cNvPicPr>
            <a:picLocks noChangeAspect="1"/>
          </p:cNvPicPr>
          <p:nvPr/>
        </p:nvPicPr>
        <p:blipFill>
          <a:blip r:embed="rId4"/>
          <a:stretch>
            <a:fillRect/>
          </a:stretch>
        </p:blipFill>
        <p:spPr>
          <a:xfrm>
            <a:off x="1028575" y="2668575"/>
            <a:ext cx="302849" cy="302849"/>
          </a:xfrm>
          <a:prstGeom prst="rect">
            <a:avLst/>
          </a:prstGeom>
        </p:spPr>
      </p:pic>
      <p:sp>
        <p:nvSpPr>
          <p:cNvPr id="10" name="Card A Title"/>
          <p:cNvSpPr/>
          <p:nvPr/>
        </p:nvSpPr>
        <p:spPr>
          <a:xfrm>
            <a:off x="1620000" y="2620000"/>
            <a:ext cx="4150000" cy="400000"/>
          </a:xfrm>
          <a:prstGeom prst="rect">
            <a:avLst/>
          </a:prstGeom>
          <a:noFill/>
          <a:ln/>
        </p:spPr>
        <p:txBody>
          <a:bodyPr wrap="square" lIns="0" tIns="0" rIns="0" bIns="0" rtlCol="0" anchor="ctr"/>
          <a:lstStyle/>
          <a:p>
            <a:pPr marL="0" indent="0">
              <a:buNone/>
            </a:pPr>
            <a:r>
              <a:rPr lang="fr-FR" sz="1700" b="1" noProof="0" dirty="0">
                <a:solidFill>
                  <a:srgbClr val="16243F"/>
                </a:solidFill>
                <a:latin typeface="Cambria" pitchFamily="34" charset="0"/>
                <a:ea typeface="Cambria" pitchFamily="34" charset="-122"/>
                <a:cs typeface="Cambria" pitchFamily="34" charset="-120"/>
              </a:rPr>
              <a:t>Encodeur d'images</a:t>
            </a:r>
            <a:endParaRPr lang="fr-FR" sz="1700" noProof="0" dirty="0"/>
          </a:p>
        </p:txBody>
      </p:sp>
      <p:sp>
        <p:nvSpPr>
          <p:cNvPr id="12" name="Card B BG"/>
          <p:cNvSpPr/>
          <p:nvPr/>
        </p:nvSpPr>
        <p:spPr>
          <a:xfrm>
            <a:off x="731520" y="3618932"/>
            <a:ext cx="5400000" cy="860000"/>
          </a:xfrm>
          <a:prstGeom prst="roundRect">
            <a:avLst>
              <a:gd name="adj" fmla="val 486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3" name="Card B Icon"/>
          <p:cNvSpPr/>
          <p:nvPr/>
        </p:nvSpPr>
        <p:spPr>
          <a:xfrm>
            <a:off x="891719" y="3711068"/>
            <a:ext cx="560000" cy="560000"/>
          </a:xfrm>
          <a:prstGeom prst="ellipse">
            <a:avLst/>
          </a:prstGeom>
          <a:solidFill>
            <a:srgbClr val="1FA8B8"/>
          </a:solidFill>
          <a:ln/>
        </p:spPr>
        <p:txBody>
          <a:bodyPr/>
          <a:lstStyle/>
          <a:p>
            <a:endParaRPr lang="fr-FR" noProof="0" dirty="0"/>
          </a:p>
        </p:txBody>
      </p:sp>
      <p:pic>
        <p:nvPicPr>
          <p:cNvPr id="14" name="Card B IconImg" descr="preencoded.png"/>
          <p:cNvPicPr>
            <a:picLocks noChangeAspect="1"/>
          </p:cNvPicPr>
          <p:nvPr/>
        </p:nvPicPr>
        <p:blipFill>
          <a:blip r:embed="rId5"/>
          <a:stretch>
            <a:fillRect/>
          </a:stretch>
        </p:blipFill>
        <p:spPr>
          <a:xfrm>
            <a:off x="1028575" y="4088575"/>
            <a:ext cx="302849" cy="302849"/>
          </a:xfrm>
          <a:prstGeom prst="rect">
            <a:avLst/>
          </a:prstGeom>
        </p:spPr>
      </p:pic>
      <p:sp>
        <p:nvSpPr>
          <p:cNvPr id="15" name="Card B Title"/>
          <p:cNvSpPr/>
          <p:nvPr/>
        </p:nvSpPr>
        <p:spPr>
          <a:xfrm>
            <a:off x="1628479" y="3848932"/>
            <a:ext cx="4150000" cy="400000"/>
          </a:xfrm>
          <a:prstGeom prst="rect">
            <a:avLst/>
          </a:prstGeom>
          <a:noFill/>
          <a:ln/>
        </p:spPr>
        <p:txBody>
          <a:bodyPr wrap="square" lIns="0" tIns="0" rIns="0" bIns="0" rtlCol="0" anchor="ctr"/>
          <a:lstStyle/>
          <a:p>
            <a:pPr marL="0" indent="0">
              <a:buNone/>
            </a:pPr>
            <a:r>
              <a:rPr lang="fr-FR" sz="1700" b="1" noProof="0" dirty="0">
                <a:solidFill>
                  <a:srgbClr val="16243F"/>
                </a:solidFill>
                <a:latin typeface="Cambria" pitchFamily="34" charset="0"/>
                <a:ea typeface="Cambria" pitchFamily="34" charset="-122"/>
                <a:cs typeface="Cambria" pitchFamily="34" charset="-120"/>
              </a:rPr>
              <a:t>Encodeur de texte</a:t>
            </a:r>
            <a:endParaRPr lang="fr-FR" sz="1700" noProof="0" dirty="0"/>
          </a:p>
        </p:txBody>
      </p:sp>
      <p:sp>
        <p:nvSpPr>
          <p:cNvPr id="20" name="Figure Frame"/>
          <p:cNvSpPr/>
          <p:nvPr/>
        </p:nvSpPr>
        <p:spPr>
          <a:xfrm>
            <a:off x="7150000" y="2320000"/>
            <a:ext cx="3700000" cy="2760000"/>
          </a:xfrm>
          <a:prstGeom prst="roundRect">
            <a:avLst>
              <a:gd name="adj" fmla="val 30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22" name="Figure Caption"/>
          <p:cNvSpPr/>
          <p:nvPr/>
        </p:nvSpPr>
        <p:spPr>
          <a:xfrm>
            <a:off x="7300000" y="2440000"/>
            <a:ext cx="3400000" cy="280000"/>
          </a:xfrm>
          <a:prstGeom prst="rect">
            <a:avLst/>
          </a:prstGeom>
          <a:noFill/>
          <a:ln/>
        </p:spPr>
        <p:txBody>
          <a:bodyPr wrap="square" lIns="0" tIns="0" rIns="0" bIns="0" rtlCol="0" anchor="ctr"/>
          <a:lstStyle/>
          <a:p>
            <a:pPr marL="0" indent="0" algn="ctr">
              <a:buNone/>
            </a:pPr>
            <a:r>
              <a:rPr lang="fr-FR" sz="1100" b="1" noProof="0" dirty="0">
                <a:solidFill>
                  <a:srgbClr val="16243F"/>
                </a:solidFill>
                <a:latin typeface="Calibri" pitchFamily="34" charset="0"/>
                <a:ea typeface="Calibri" pitchFamily="34" charset="-122"/>
                <a:cs typeface="Calibri" pitchFamily="34" charset="-120"/>
              </a:rPr>
              <a:t>Pré-entraînement contrastif image-texte</a:t>
            </a:r>
            <a:endParaRPr lang="fr-FR" sz="1100" noProof="0" dirty="0"/>
          </a:p>
        </p:txBody>
      </p:sp>
      <p:pic>
        <p:nvPicPr>
          <p:cNvPr id="21" name="CLIP Screenshot" descr="Schéma de pré-entraînement contrastif image-texte"/>
          <p:cNvPicPr>
            <a:picLocks noChangeAspect="1"/>
          </p:cNvPicPr>
          <p:nvPr/>
        </p:nvPicPr>
        <p:blipFill>
          <a:blip r:embed="rId6"/>
          <a:stretch>
            <a:fillRect/>
          </a:stretch>
        </p:blipFill>
        <p:spPr>
          <a:xfrm>
            <a:off x="7469500" y="2780000"/>
            <a:ext cx="3061000" cy="2220000"/>
          </a:xfrm>
          <a:prstGeom prst="rect">
            <a:avLst/>
          </a:prstGeom>
        </p:spPr>
      </p:pic>
      <p:sp>
        <p:nvSpPr>
          <p:cNvPr id="17" name="Footer BG"/>
          <p:cNvSpPr/>
          <p:nvPr/>
        </p:nvSpPr>
        <p:spPr>
          <a:xfrm>
            <a:off x="640080" y="5300000"/>
            <a:ext cx="10927080" cy="860000"/>
          </a:xfrm>
          <a:prstGeom prst="roundRect">
            <a:avLst>
              <a:gd name="adj" fmla="val 8000"/>
            </a:avLst>
          </a:prstGeom>
          <a:solidFill>
            <a:srgbClr val="16243F"/>
          </a:solidFill>
          <a:ln/>
          <a:effectLst>
            <a:outerShdw blurRad="88900" dist="25400" dir="5400000" algn="bl" rotWithShape="0">
              <a:srgbClr val="000000">
                <a:alpha val="10000"/>
              </a:srgbClr>
            </a:outerShdw>
          </a:effectLst>
        </p:spPr>
        <p:txBody>
          <a:bodyPr/>
          <a:lstStyle/>
          <a:p>
            <a:endParaRPr lang="fr-FR" noProof="0" dirty="0"/>
          </a:p>
        </p:txBody>
      </p:sp>
      <p:sp>
        <p:nvSpPr>
          <p:cNvPr id="18" name="Footer Title"/>
          <p:cNvSpPr/>
          <p:nvPr/>
        </p:nvSpPr>
        <p:spPr>
          <a:xfrm>
            <a:off x="914400" y="5400000"/>
            <a:ext cx="9000000" cy="300000"/>
          </a:xfrm>
          <a:prstGeom prst="rect">
            <a:avLst/>
          </a:prstGeom>
          <a:noFill/>
          <a:ln/>
        </p:spPr>
        <p:txBody>
          <a:bodyPr wrap="square" lIns="0" tIns="0" rIns="0" bIns="0" rtlCol="0" anchor="ctr"/>
          <a:lstStyle/>
          <a:p>
            <a:pPr marL="0" indent="0">
              <a:buNone/>
            </a:pPr>
            <a:r>
              <a:rPr lang="fr-FR" sz="1500" b="1" noProof="0" dirty="0">
                <a:solidFill>
                  <a:srgbClr val="FFFFFF"/>
                </a:solidFill>
                <a:latin typeface="Cambria" pitchFamily="34" charset="0"/>
                <a:ea typeface="Cambria" pitchFamily="34" charset="-122"/>
                <a:cs typeface="Cambria" pitchFamily="34" charset="-120"/>
              </a:rPr>
              <a:t>Deux phases, de plus en plus fines</a:t>
            </a:r>
            <a:endParaRPr lang="fr-FR" sz="1500" noProof="0" dirty="0"/>
          </a:p>
        </p:txBody>
      </p:sp>
      <p:sp>
        <p:nvSpPr>
          <p:cNvPr id="19" name="Footer Phases"/>
          <p:cNvSpPr/>
          <p:nvPr/>
        </p:nvSpPr>
        <p:spPr>
          <a:xfrm>
            <a:off x="914400" y="5740000"/>
            <a:ext cx="10300000" cy="360000"/>
          </a:xfrm>
          <a:prstGeom prst="rect">
            <a:avLst/>
          </a:prstGeom>
          <a:noFill/>
          <a:ln/>
        </p:spPr>
        <p:txBody>
          <a:bodyPr wrap="square" lIns="0" tIns="0" rIns="0" bIns="0" rtlCol="0" anchor="t"/>
          <a:lstStyle/>
          <a:p>
            <a:r>
              <a:rPr lang="fr-FR" sz="1350" b="1" dirty="0">
                <a:solidFill>
                  <a:srgbClr val="1FA8B8"/>
                </a:solidFill>
                <a:latin typeface="Calibri" pitchFamily="34" charset="0"/>
                <a:ea typeface="Calibri" pitchFamily="34" charset="-122"/>
                <a:cs typeface="Calibri" pitchFamily="34" charset="-120"/>
              </a:rPr>
              <a:t>Approche</a:t>
            </a:r>
            <a:r>
              <a:rPr lang="fr-FR" sz="1350" b="1" noProof="0" dirty="0">
                <a:solidFill>
                  <a:srgbClr val="1FA8B8"/>
                </a:solidFill>
                <a:latin typeface="Calibri" pitchFamily="34" charset="0"/>
                <a:ea typeface="Calibri" pitchFamily="34" charset="-122"/>
                <a:cs typeface="Calibri" pitchFamily="34" charset="-120"/>
              </a:rPr>
              <a:t> 1 - </a:t>
            </a:r>
            <a:r>
              <a:rPr lang="fr-FR" sz="1350" noProof="0" dirty="0">
                <a:solidFill>
                  <a:srgbClr val="CFE0EA"/>
                </a:solidFill>
                <a:latin typeface="Calibri" pitchFamily="34" charset="0"/>
                <a:ea typeface="Calibri" pitchFamily="34" charset="-122"/>
                <a:cs typeface="Calibri" pitchFamily="34" charset="-120"/>
              </a:rPr>
              <a:t>comparer les deux résumés globaux (similarité).      </a:t>
            </a:r>
            <a:r>
              <a:rPr lang="fr-FR" sz="1350" b="1" dirty="0">
                <a:solidFill>
                  <a:srgbClr val="1FA8B8"/>
                </a:solidFill>
                <a:latin typeface="Calibri" pitchFamily="34" charset="0"/>
                <a:ea typeface="Calibri" pitchFamily="34" charset="-122"/>
                <a:cs typeface="Calibri" pitchFamily="34" charset="-120"/>
              </a:rPr>
              <a:t>Approche</a:t>
            </a:r>
            <a:r>
              <a:rPr lang="fr-FR" sz="1350" b="1" noProof="0" dirty="0">
                <a:solidFill>
                  <a:srgbClr val="1FA8B8"/>
                </a:solidFill>
                <a:latin typeface="Calibri" pitchFamily="34" charset="0"/>
                <a:ea typeface="Calibri" pitchFamily="34" charset="-122"/>
                <a:cs typeface="Calibri" pitchFamily="34" charset="-120"/>
              </a:rPr>
              <a:t> 2 - </a:t>
            </a:r>
            <a:r>
              <a:rPr lang="fr-FR" sz="1350" noProof="0" dirty="0">
                <a:solidFill>
                  <a:srgbClr val="CFE0EA"/>
                </a:solidFill>
                <a:latin typeface="Calibri" pitchFamily="34" charset="0"/>
                <a:ea typeface="Calibri" pitchFamily="34" charset="-122"/>
                <a:cs typeface="Calibri" pitchFamily="34" charset="-120"/>
              </a:rPr>
              <a:t>faire dialoguer régions et mots (Cross Attention).</a:t>
            </a:r>
            <a:endParaRPr lang="fr-FR" sz="1350" noProof="0" dirty="0"/>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7</a:t>
            </a:fld>
            <a:endParaRPr lang="fr-FR"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C072D-41F2-E8AE-14B4-7D7CEDF60F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037E1F-6424-F457-7D34-53AEF1C06BC1}"/>
              </a:ext>
            </a:extLst>
          </p:cNvPr>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a:extLst>
              <a:ext uri="{FF2B5EF4-FFF2-40B4-BE49-F238E27FC236}">
                <a16:creationId xmlns:a16="http://schemas.microsoft.com/office/drawing/2014/main" id="{3486F431-C3F0-A3C3-C69F-888489F8392F}"/>
              </a:ext>
            </a:extLst>
          </p:cNvPr>
          <p:cNvPicPr>
            <a:picLocks noChangeAspect="1"/>
          </p:cNvPicPr>
          <p:nvPr/>
        </p:nvPicPr>
        <p:blipFill>
          <a:blip r:embed="rId3"/>
          <a:stretch>
            <a:fillRect/>
          </a:stretch>
        </p:blipFill>
        <p:spPr>
          <a:xfrm>
            <a:off x="731520" y="621792"/>
            <a:ext cx="329184" cy="329184"/>
          </a:xfrm>
          <a:prstGeom prst="rect">
            <a:avLst/>
          </a:prstGeom>
        </p:spPr>
      </p:pic>
      <p:sp>
        <p:nvSpPr>
          <p:cNvPr id="4" name="Text 1">
            <a:extLst>
              <a:ext uri="{FF2B5EF4-FFF2-40B4-BE49-F238E27FC236}">
                <a16:creationId xmlns:a16="http://schemas.microsoft.com/office/drawing/2014/main" id="{970910A5-D23C-BA78-8AC7-923A32C3EA5D}"/>
              </a:ext>
            </a:extLst>
          </p:cNvPr>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05 - LECTURE DU MODÈLE</a:t>
            </a:r>
            <a:endParaRPr lang="fr-FR" sz="1100" noProof="0" dirty="0"/>
          </a:p>
        </p:txBody>
      </p:sp>
      <p:sp>
        <p:nvSpPr>
          <p:cNvPr id="5" name="Text 2">
            <a:extLst>
              <a:ext uri="{FF2B5EF4-FFF2-40B4-BE49-F238E27FC236}">
                <a16:creationId xmlns:a16="http://schemas.microsoft.com/office/drawing/2014/main" id="{CE424F99-C93E-D713-051D-AE11F8BBB3DA}"/>
              </a:ext>
            </a:extLst>
          </p:cNvPr>
          <p:cNvSpPr/>
          <p:nvPr/>
        </p:nvSpPr>
        <p:spPr>
          <a:xfrm>
            <a:off x="1417320" y="695538"/>
            <a:ext cx="3997779" cy="529758"/>
          </a:xfrm>
          <a:prstGeom prst="rect">
            <a:avLst/>
          </a:prstGeom>
          <a:noFill/>
          <a:ln/>
        </p:spPr>
        <p:txBody>
          <a:bodyPr wrap="square" lIns="0" tIns="0" rIns="0" bIns="0" rtlCol="0" anchor="ctr"/>
          <a:lstStyle/>
          <a:p>
            <a:pPr marL="0" indent="0">
              <a:buNone/>
            </a:pPr>
            <a:r>
              <a:rPr lang="fr-FR" sz="2700" b="1">
                <a:solidFill>
                  <a:srgbClr val="16243F"/>
                </a:solidFill>
                <a:latin typeface="Cambria"/>
                <a:ea typeface="Cambria"/>
                <a:cs typeface="Cambria" pitchFamily="34" charset="-120"/>
              </a:rPr>
              <a:t>Approche1</a:t>
            </a:r>
            <a:r>
              <a:rPr lang="fr-FR" sz="2700" b="1" noProof="0">
                <a:solidFill>
                  <a:srgbClr val="16243F"/>
                </a:solidFill>
                <a:latin typeface="Cambria"/>
                <a:ea typeface="Cambria"/>
                <a:cs typeface="Cambria" pitchFamily="34" charset="-120"/>
              </a:rPr>
              <a:t> : la similarité</a:t>
            </a:r>
            <a:endParaRPr lang="fr-FR" sz="2700" noProof="0">
              <a:latin typeface="Cambria"/>
              <a:ea typeface="Cambria"/>
            </a:endParaRPr>
          </a:p>
        </p:txBody>
      </p:sp>
      <p:sp>
        <p:nvSpPr>
          <p:cNvPr id="6" name="Text 3">
            <a:extLst>
              <a:ext uri="{FF2B5EF4-FFF2-40B4-BE49-F238E27FC236}">
                <a16:creationId xmlns:a16="http://schemas.microsoft.com/office/drawing/2014/main" id="{51F6705F-F1A3-355F-3AFA-BCC19C70290D}"/>
              </a:ext>
            </a:extLst>
          </p:cNvPr>
          <p:cNvSpPr/>
          <p:nvPr/>
        </p:nvSpPr>
        <p:spPr>
          <a:xfrm>
            <a:off x="1417319" y="1430941"/>
            <a:ext cx="3359265" cy="1191538"/>
          </a:xfrm>
          <a:prstGeom prst="rect">
            <a:avLst/>
          </a:prstGeom>
          <a:noFill/>
          <a:ln/>
        </p:spPr>
        <p:txBody>
          <a:bodyPr wrap="square" lIns="0" tIns="0" rIns="0" bIns="0" rtlCol="0" anchor="t"/>
          <a:lstStyle/>
          <a:p>
            <a:pPr marL="0" indent="0">
              <a:lnSpc>
                <a:spcPct val="108000"/>
              </a:lnSpc>
              <a:buNone/>
            </a:pPr>
            <a:r>
              <a:rPr lang="fr-FR" sz="1500" noProof="0" dirty="0">
                <a:solidFill>
                  <a:srgbClr val="1F2A37"/>
                </a:solidFill>
                <a:latin typeface="Calibri" pitchFamily="34" charset="0"/>
                <a:ea typeface="Calibri" pitchFamily="34" charset="-122"/>
                <a:cs typeface="Calibri" pitchFamily="34" charset="-120"/>
              </a:rPr>
              <a:t>Chaque image et chaque compte rendu sont réduits à leur vecteur global. Un simple score de similarité mesure leur proximité.</a:t>
            </a:r>
            <a:endParaRPr lang="fr-FR" sz="1500" noProof="0" dirty="0"/>
          </a:p>
        </p:txBody>
      </p:sp>
      <p:graphicFrame>
        <p:nvGraphicFramePr>
          <p:cNvPr id="14" name="Table 0">
            <a:extLst>
              <a:ext uri="{FF2B5EF4-FFF2-40B4-BE49-F238E27FC236}">
                <a16:creationId xmlns:a16="http://schemas.microsoft.com/office/drawing/2014/main" id="{40F9A1C5-075C-42EF-A234-2E47B3EF1AE5}"/>
              </a:ext>
            </a:extLst>
          </p:cNvPr>
          <p:cNvGraphicFramePr>
            <a:graphicFrameLocks noGrp="1"/>
          </p:cNvGraphicFramePr>
          <p:nvPr/>
        </p:nvGraphicFramePr>
        <p:xfrm>
          <a:off x="1062412" y="2847293"/>
          <a:ext cx="4069080" cy="2944368"/>
        </p:xfrm>
        <a:graphic>
          <a:graphicData uri="http://schemas.openxmlformats.org/drawingml/2006/table">
            <a:tbl>
              <a:tblPr/>
              <a:tblGrid>
                <a:gridCol w="2788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20624">
                <a:tc>
                  <a:txBody>
                    <a:bodyPr/>
                    <a:lstStyle/>
                    <a:p>
                      <a:pPr marL="0" indent="0" algn="l">
                        <a:buNone/>
                      </a:pPr>
                      <a:r>
                        <a:rPr lang="fr-FR" sz="1300" b="1" noProof="0" dirty="0">
                          <a:solidFill>
                            <a:srgbClr val="FFFFFF"/>
                          </a:solidFill>
                          <a:latin typeface="Calibri" pitchFamily="34" charset="0"/>
                          <a:ea typeface="Calibri" pitchFamily="34" charset="-122"/>
                          <a:cs typeface="Calibri" pitchFamily="34" charset="-120"/>
                        </a:rPr>
                        <a:t>Performance Phase 1</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tc>
                  <a:txBody>
                    <a:bodyPr/>
                    <a:lstStyle/>
                    <a:p>
                      <a:pPr marL="0" indent="0" algn="ctr">
                        <a:buNone/>
                      </a:pPr>
                      <a:r>
                        <a:rPr lang="fr-FR" sz="1300" b="1" noProof="0" dirty="0">
                          <a:solidFill>
                            <a:srgbClr val="FFFFFF"/>
                          </a:solidFill>
                          <a:latin typeface="Calibri" pitchFamily="34" charset="0"/>
                          <a:ea typeface="Calibri" pitchFamily="34" charset="-122"/>
                          <a:cs typeface="Calibri" pitchFamily="34" charset="-120"/>
                        </a:rPr>
                        <a:t>Test</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20624">
                <a:tc>
                  <a:txBody>
                    <a:bodyPr/>
                    <a:lstStyle/>
                    <a:p>
                      <a:pPr marL="0" indent="0" algn="l" defTabSz="914400" rtl="0" eaLnBrk="1" latinLnBrk="0" hangingPunct="1">
                        <a:buNone/>
                      </a:pPr>
                      <a:r>
                        <a:rPr lang="fr-FR" sz="1250" kern="1200" noProof="0" dirty="0">
                          <a:solidFill>
                            <a:srgbClr val="1F2A37"/>
                          </a:solidFill>
                          <a:latin typeface="Calibri" pitchFamily="34" charset="0"/>
                          <a:ea typeface="Calibri" pitchFamily="34" charset="-122"/>
                          <a:cs typeface="Calibri" pitchFamily="34" charset="-120"/>
                        </a:rPr>
                        <a:t>ROC-AUC</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1FA8B8"/>
                          </a:solidFill>
                          <a:latin typeface="Calibri"/>
                          <a:ea typeface="Calibri"/>
                          <a:cs typeface="Calibri"/>
                        </a:rPr>
                        <a:t>86%</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1"/>
                  </a:ext>
                </a:extLst>
              </a:tr>
              <a:tr h="420624">
                <a:tc>
                  <a:txBody>
                    <a:bodyPr/>
                    <a:lstStyle/>
                    <a:p>
                      <a:pPr marL="0" indent="0" algn="l">
                        <a:buNone/>
                      </a:pPr>
                      <a:r>
                        <a:rPr lang="fr-FR" sz="1250" noProof="0" dirty="0" err="1">
                          <a:solidFill>
                            <a:srgbClr val="1F2A37"/>
                          </a:solidFill>
                          <a:latin typeface="Calibri" pitchFamily="34" charset="0"/>
                          <a:ea typeface="Calibri" pitchFamily="34" charset="-122"/>
                          <a:cs typeface="Calibri" pitchFamily="34" charset="-120"/>
                        </a:rPr>
                        <a:t>Accuracy</a:t>
                      </a:r>
                      <a:endParaRPr lang="fr-FR" sz="125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1FA8B8"/>
                          </a:solidFill>
                          <a:latin typeface="Calibri"/>
                          <a:ea typeface="Calibri"/>
                          <a:cs typeface="Calibri"/>
                        </a:rPr>
                        <a:t>78%</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fr-FR" sz="1250" noProof="0" dirty="0" err="1">
                          <a:solidFill>
                            <a:srgbClr val="1F2A37"/>
                          </a:solidFill>
                          <a:latin typeface="Calibri" pitchFamily="34" charset="0"/>
                          <a:ea typeface="Calibri" pitchFamily="34" charset="-122"/>
                          <a:cs typeface="Calibri" pitchFamily="34" charset="-120"/>
                        </a:rPr>
                        <a:t>Precision</a:t>
                      </a:r>
                      <a:endParaRPr lang="fr-FR" sz="125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1FA8B8"/>
                          </a:solidFill>
                          <a:latin typeface="Calibri"/>
                          <a:ea typeface="Calibri"/>
                          <a:cs typeface="Calibri"/>
                        </a:rPr>
                        <a:t>77%</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3"/>
                  </a:ext>
                </a:extLst>
              </a:tr>
              <a:tr h="420624">
                <a:tc>
                  <a:txBody>
                    <a:bodyPr/>
                    <a:lstStyle/>
                    <a:p>
                      <a:pPr marL="0" indent="0" algn="l">
                        <a:buNone/>
                      </a:pPr>
                      <a:r>
                        <a:rPr lang="fr-FR" sz="1250" noProof="0" dirty="0" err="1">
                          <a:solidFill>
                            <a:srgbClr val="1F2A37"/>
                          </a:solidFill>
                          <a:latin typeface="Calibri" pitchFamily="34" charset="0"/>
                          <a:ea typeface="Calibri" pitchFamily="34" charset="-122"/>
                          <a:cs typeface="Calibri" pitchFamily="34" charset="-120"/>
                        </a:rPr>
                        <a:t>Recall</a:t>
                      </a:r>
                      <a:endParaRPr lang="fr-FR" sz="125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1FA8B8"/>
                          </a:solidFill>
                          <a:latin typeface="Calibri"/>
                          <a:ea typeface="Calibri"/>
                          <a:cs typeface="Calibri"/>
                        </a:rPr>
                        <a:t>79%</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defTabSz="914400" rtl="0" eaLnBrk="1" latinLnBrk="0" hangingPunct="1">
                        <a:buNone/>
                      </a:pPr>
                      <a:r>
                        <a:rPr lang="fr-FR" sz="1250" kern="1200" noProof="0" dirty="0">
                          <a:solidFill>
                            <a:srgbClr val="1F2A37"/>
                          </a:solidFill>
                          <a:latin typeface="Calibri" pitchFamily="34" charset="0"/>
                          <a:ea typeface="Calibri" pitchFamily="34" charset="-122"/>
                          <a:cs typeface="Calibri" pitchFamily="34" charset="-120"/>
                        </a:rPr>
                        <a:t>F1-Score</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1FA8B8"/>
                          </a:solidFill>
                          <a:latin typeface="Calibri"/>
                          <a:ea typeface="Calibri"/>
                          <a:cs typeface="Calibri"/>
                        </a:rPr>
                        <a:t>78%</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5"/>
                  </a:ext>
                </a:extLst>
              </a:tr>
              <a:tr h="420624">
                <a:tc>
                  <a:txBody>
                    <a:bodyPr/>
                    <a:lstStyle/>
                    <a:p>
                      <a:pPr marL="0" indent="0" algn="l" defTabSz="914400" rtl="0" eaLnBrk="1" latinLnBrk="0" hangingPunct="1">
                        <a:buNone/>
                      </a:pPr>
                      <a:r>
                        <a:rPr lang="fr-FR" sz="1250" kern="1200" noProof="0" dirty="0">
                          <a:solidFill>
                            <a:srgbClr val="1F2A37"/>
                          </a:solidFill>
                          <a:latin typeface="Calibri" pitchFamily="34" charset="0"/>
                          <a:ea typeface="Calibri" pitchFamily="34" charset="-122"/>
                          <a:cs typeface="Calibri" pitchFamily="34" charset="-120"/>
                        </a:rPr>
                        <a:t>Specificity</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1FA8B8"/>
                          </a:solidFill>
                          <a:latin typeface="Calibri"/>
                          <a:ea typeface="Calibri"/>
                          <a:cs typeface="Calibri"/>
                        </a:rPr>
                        <a:t>76%</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a:extLst>
              <a:ext uri="{FF2B5EF4-FFF2-40B4-BE49-F238E27FC236}">
                <a16:creationId xmlns:a16="http://schemas.microsoft.com/office/drawing/2014/main" id="{A5DA2BCE-101F-99E5-D65A-7C6838BA6811}"/>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8</a:t>
            </a:fld>
            <a:endParaRPr lang="fr-FR" noProof="0" dirty="0"/>
          </a:p>
        </p:txBody>
      </p:sp>
      <p:sp>
        <p:nvSpPr>
          <p:cNvPr id="13" name="Text 2">
            <a:extLst>
              <a:ext uri="{FF2B5EF4-FFF2-40B4-BE49-F238E27FC236}">
                <a16:creationId xmlns:a16="http://schemas.microsoft.com/office/drawing/2014/main" id="{56EA49CD-BFAB-A51F-FE17-2A987688E401}"/>
              </a:ext>
            </a:extLst>
          </p:cNvPr>
          <p:cNvSpPr/>
          <p:nvPr/>
        </p:nvSpPr>
        <p:spPr>
          <a:xfrm>
            <a:off x="6779491" y="694944"/>
            <a:ext cx="4674117" cy="529758"/>
          </a:xfrm>
          <a:prstGeom prst="rect">
            <a:avLst/>
          </a:prstGeom>
          <a:noFill/>
          <a:ln/>
        </p:spPr>
        <p:txBody>
          <a:bodyPr wrap="square" lIns="0" tIns="0" rIns="0" bIns="0" rtlCol="0" anchor="ctr"/>
          <a:lstStyle/>
          <a:p>
            <a:r>
              <a:rPr lang="fr-FR" sz="2700" b="1">
                <a:solidFill>
                  <a:srgbClr val="16243F"/>
                </a:solidFill>
                <a:latin typeface="Cambria"/>
                <a:ea typeface="Cambria"/>
                <a:cs typeface="Cambria" pitchFamily="34" charset="-120"/>
              </a:rPr>
              <a:t>Approche 2</a:t>
            </a:r>
            <a:r>
              <a:rPr lang="fr-FR" sz="2700" b="1" noProof="0">
                <a:solidFill>
                  <a:srgbClr val="16243F"/>
                </a:solidFill>
                <a:latin typeface="Cambria"/>
                <a:ea typeface="Cambria"/>
                <a:cs typeface="Cambria" pitchFamily="34" charset="-120"/>
              </a:rPr>
              <a:t> : Cross Attention </a:t>
            </a:r>
            <a:endParaRPr lang="fr-FR" sz="2700" noProof="0">
              <a:latin typeface="Cambria"/>
              <a:ea typeface="Cambria"/>
            </a:endParaRPr>
          </a:p>
        </p:txBody>
      </p:sp>
      <p:graphicFrame>
        <p:nvGraphicFramePr>
          <p:cNvPr id="15" name="Table 0">
            <a:extLst>
              <a:ext uri="{FF2B5EF4-FFF2-40B4-BE49-F238E27FC236}">
                <a16:creationId xmlns:a16="http://schemas.microsoft.com/office/drawing/2014/main" id="{A4352CAB-90E6-9FFB-5168-4103FF391165}"/>
              </a:ext>
            </a:extLst>
          </p:cNvPr>
          <p:cNvGraphicFramePr>
            <a:graphicFrameLocks noGrp="1"/>
          </p:cNvGraphicFramePr>
          <p:nvPr/>
        </p:nvGraphicFramePr>
        <p:xfrm>
          <a:off x="6779490" y="2847293"/>
          <a:ext cx="4069080" cy="2944368"/>
        </p:xfrm>
        <a:graphic>
          <a:graphicData uri="http://schemas.openxmlformats.org/drawingml/2006/table">
            <a:tbl>
              <a:tblPr/>
              <a:tblGrid>
                <a:gridCol w="2788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20624">
                <a:tc>
                  <a:txBody>
                    <a:bodyPr/>
                    <a:lstStyle/>
                    <a:p>
                      <a:pPr marL="0" indent="0" algn="l">
                        <a:buNone/>
                      </a:pPr>
                      <a:r>
                        <a:rPr lang="fr-FR" sz="1300" b="1" noProof="0" dirty="0">
                          <a:solidFill>
                            <a:srgbClr val="FFFFFF"/>
                          </a:solidFill>
                          <a:latin typeface="Calibri" pitchFamily="34" charset="0"/>
                          <a:ea typeface="Calibri" pitchFamily="34" charset="-122"/>
                          <a:cs typeface="Calibri" pitchFamily="34" charset="-120"/>
                        </a:rPr>
                        <a:t>Performance Phase 2</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tc>
                  <a:txBody>
                    <a:bodyPr/>
                    <a:lstStyle/>
                    <a:p>
                      <a:pPr marL="0" indent="0" algn="ctr">
                        <a:buNone/>
                      </a:pPr>
                      <a:r>
                        <a:rPr lang="fr-FR" sz="1300" b="1" noProof="0" dirty="0">
                          <a:solidFill>
                            <a:srgbClr val="FFFFFF"/>
                          </a:solidFill>
                          <a:latin typeface="Calibri" pitchFamily="34" charset="0"/>
                          <a:ea typeface="Calibri" pitchFamily="34" charset="-122"/>
                          <a:cs typeface="Calibri" pitchFamily="34" charset="-120"/>
                        </a:rPr>
                        <a:t>Test</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20624">
                <a:tc>
                  <a:txBody>
                    <a:bodyPr/>
                    <a:lstStyle/>
                    <a:p>
                      <a:pPr marL="0" indent="0" algn="l" defTabSz="914400" rtl="0" eaLnBrk="1" latinLnBrk="0" hangingPunct="1">
                        <a:buNone/>
                      </a:pPr>
                      <a:r>
                        <a:rPr lang="fr-FR" sz="1250" kern="1200" noProof="0" dirty="0">
                          <a:solidFill>
                            <a:schemeClr val="tx1"/>
                          </a:solidFill>
                          <a:latin typeface="Calibri" pitchFamily="34" charset="0"/>
                          <a:ea typeface="Calibri" pitchFamily="34" charset="-122"/>
                          <a:cs typeface="Calibri" pitchFamily="34" charset="-120"/>
                        </a:rPr>
                        <a:t>ROC-AUC</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00B050"/>
                          </a:solidFill>
                          <a:latin typeface="Calibri"/>
                          <a:ea typeface="Calibri"/>
                          <a:cs typeface="Calibri"/>
                        </a:rPr>
                        <a:t>95%</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1"/>
                  </a:ext>
                </a:extLst>
              </a:tr>
              <a:tr h="420624">
                <a:tc>
                  <a:txBody>
                    <a:bodyPr/>
                    <a:lstStyle/>
                    <a:p>
                      <a:pPr marL="0" indent="0" algn="l">
                        <a:buNone/>
                      </a:pPr>
                      <a:r>
                        <a:rPr lang="fr-FR" sz="1250" noProof="0" dirty="0" err="1">
                          <a:solidFill>
                            <a:schemeClr val="tx1"/>
                          </a:solidFill>
                          <a:latin typeface="Calibri" pitchFamily="34" charset="0"/>
                          <a:ea typeface="Calibri" pitchFamily="34" charset="-122"/>
                          <a:cs typeface="Calibri" pitchFamily="34" charset="-120"/>
                        </a:rPr>
                        <a:t>Accuracy</a:t>
                      </a:r>
                      <a:endParaRPr lang="fr-FR" sz="1250" noProof="0" dirty="0">
                        <a:solidFill>
                          <a:schemeClr val="tx1"/>
                        </a:solidFill>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00B050"/>
                          </a:solidFill>
                          <a:latin typeface="Calibri"/>
                          <a:ea typeface="Calibri"/>
                          <a:cs typeface="Calibri"/>
                        </a:rPr>
                        <a:t>88%</a:t>
                      </a:r>
                      <a:endParaRPr lang="fr-FR" sz="1250" noProof="0">
                        <a:solidFill>
                          <a:srgbClr val="00B050"/>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fr-FR" sz="1250" noProof="0" dirty="0" err="1">
                          <a:solidFill>
                            <a:schemeClr val="tx1"/>
                          </a:solidFill>
                          <a:latin typeface="Calibri" pitchFamily="34" charset="0"/>
                          <a:ea typeface="Calibri" pitchFamily="34" charset="-122"/>
                          <a:cs typeface="Calibri" pitchFamily="34" charset="-120"/>
                        </a:rPr>
                        <a:t>Precision</a:t>
                      </a:r>
                      <a:endParaRPr lang="fr-FR" sz="1250" noProof="0" dirty="0">
                        <a:solidFill>
                          <a:schemeClr val="tx1"/>
                        </a:solidFill>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00B050"/>
                          </a:solidFill>
                          <a:latin typeface="Calibri"/>
                          <a:ea typeface="Calibri"/>
                          <a:cs typeface="Calibri"/>
                        </a:rPr>
                        <a:t>88%</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3"/>
                  </a:ext>
                </a:extLst>
              </a:tr>
              <a:tr h="420624">
                <a:tc>
                  <a:txBody>
                    <a:bodyPr/>
                    <a:lstStyle/>
                    <a:p>
                      <a:pPr marL="0" indent="0" algn="l">
                        <a:buNone/>
                      </a:pPr>
                      <a:r>
                        <a:rPr lang="fr-FR" sz="1250" noProof="0" dirty="0" err="1">
                          <a:solidFill>
                            <a:schemeClr val="tx1"/>
                          </a:solidFill>
                          <a:latin typeface="Calibri" pitchFamily="34" charset="0"/>
                          <a:ea typeface="Calibri" pitchFamily="34" charset="-122"/>
                          <a:cs typeface="Calibri" pitchFamily="34" charset="-120"/>
                        </a:rPr>
                        <a:t>Recall</a:t>
                      </a:r>
                      <a:endParaRPr lang="fr-FR" sz="1250" noProof="0" dirty="0">
                        <a:solidFill>
                          <a:schemeClr val="tx1"/>
                        </a:solidFill>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00B050"/>
                          </a:solidFill>
                          <a:latin typeface="Calibri"/>
                          <a:ea typeface="Calibri"/>
                          <a:cs typeface="Calibri"/>
                        </a:rPr>
                        <a:t>90%</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defTabSz="914400" rtl="0" eaLnBrk="1" latinLnBrk="0" hangingPunct="1">
                        <a:buNone/>
                      </a:pPr>
                      <a:r>
                        <a:rPr lang="fr-FR" sz="1250" kern="1200" noProof="0" dirty="0">
                          <a:solidFill>
                            <a:schemeClr val="tx1"/>
                          </a:solidFill>
                          <a:latin typeface="Calibri" pitchFamily="34" charset="0"/>
                          <a:ea typeface="Calibri" pitchFamily="34" charset="-122"/>
                          <a:cs typeface="Calibri" pitchFamily="34" charset="-120"/>
                        </a:rPr>
                        <a:t>F1-Score</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00B050"/>
                          </a:solidFill>
                          <a:latin typeface="Calibri"/>
                          <a:ea typeface="Calibri"/>
                          <a:cs typeface="Calibri"/>
                        </a:rPr>
                        <a:t>89%</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5"/>
                  </a:ext>
                </a:extLst>
              </a:tr>
              <a:tr h="420624">
                <a:tc>
                  <a:txBody>
                    <a:bodyPr/>
                    <a:lstStyle/>
                    <a:p>
                      <a:pPr marL="0" indent="0" algn="l" defTabSz="914400" rtl="0" eaLnBrk="1" latinLnBrk="0" hangingPunct="1">
                        <a:buNone/>
                      </a:pPr>
                      <a:r>
                        <a:rPr lang="fr-FR" sz="1250" kern="1200" noProof="0" dirty="0">
                          <a:solidFill>
                            <a:schemeClr val="tx1"/>
                          </a:solidFill>
                          <a:latin typeface="Calibri" pitchFamily="34" charset="0"/>
                          <a:ea typeface="Calibri" pitchFamily="34" charset="-122"/>
                          <a:cs typeface="Calibri" pitchFamily="34" charset="-120"/>
                        </a:rPr>
                        <a:t>Specificity</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00B050"/>
                          </a:solidFill>
                          <a:latin typeface="Calibri"/>
                          <a:ea typeface="Calibri"/>
                          <a:cs typeface="Calibri"/>
                        </a:rPr>
                        <a:t>87%</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6" name="Text 3">
            <a:extLst>
              <a:ext uri="{FF2B5EF4-FFF2-40B4-BE49-F238E27FC236}">
                <a16:creationId xmlns:a16="http://schemas.microsoft.com/office/drawing/2014/main" id="{3EDFB4AD-D4B7-5271-81E1-D27E4F0D88DB}"/>
              </a:ext>
            </a:extLst>
          </p:cNvPr>
          <p:cNvSpPr/>
          <p:nvPr/>
        </p:nvSpPr>
        <p:spPr>
          <a:xfrm>
            <a:off x="6779490" y="1440525"/>
            <a:ext cx="3902825" cy="1191538"/>
          </a:xfrm>
          <a:prstGeom prst="rect">
            <a:avLst/>
          </a:prstGeom>
          <a:noFill/>
          <a:ln/>
        </p:spPr>
        <p:txBody>
          <a:bodyPr wrap="square" lIns="0" tIns="0" rIns="0" bIns="0" rtlCol="0" anchor="t"/>
          <a:lstStyle/>
          <a:p>
            <a:pPr>
              <a:lnSpc>
                <a:spcPct val="108000"/>
              </a:lnSpc>
            </a:pPr>
            <a:r>
              <a:rPr lang="fr-FR" sz="1500" noProof="0" dirty="0">
                <a:solidFill>
                  <a:srgbClr val="1F2A37"/>
                </a:solidFill>
                <a:latin typeface="Calibri" pitchFamily="34" charset="0"/>
                <a:ea typeface="Calibri" pitchFamily="34" charset="-122"/>
                <a:cs typeface="Calibri" pitchFamily="34" charset="-120"/>
              </a:rPr>
              <a:t>Au lieu des résumés globaux, chaque mot du compte rendu « regarde » l'ensemble des régions de l'image et retient celles qui le concernent.</a:t>
            </a:r>
            <a:endParaRPr lang="fr-FR" sz="1500" noProof="0" dirty="0"/>
          </a:p>
        </p:txBody>
      </p:sp>
    </p:spTree>
    <p:extLst>
      <p:ext uri="{BB962C8B-B14F-4D97-AF65-F5344CB8AC3E}">
        <p14:creationId xmlns:p14="http://schemas.microsoft.com/office/powerpoint/2010/main" val="282745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2FD1-BD63-AE73-F8C5-B545DA7851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540348-C0CF-1E07-7141-23FB128D2A42}"/>
              </a:ext>
            </a:extLst>
          </p:cNvPr>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a:extLst>
              <a:ext uri="{FF2B5EF4-FFF2-40B4-BE49-F238E27FC236}">
                <a16:creationId xmlns:a16="http://schemas.microsoft.com/office/drawing/2014/main" id="{F3ADC3F1-8C17-5F39-0FE5-46BFE49A73B6}"/>
              </a:ext>
            </a:extLst>
          </p:cNvPr>
          <p:cNvPicPr>
            <a:picLocks noChangeAspect="1"/>
          </p:cNvPicPr>
          <p:nvPr/>
        </p:nvPicPr>
        <p:blipFill>
          <a:blip r:embed="rId3"/>
          <a:stretch>
            <a:fillRect/>
          </a:stretch>
        </p:blipFill>
        <p:spPr>
          <a:xfrm>
            <a:off x="731520" y="621792"/>
            <a:ext cx="329184" cy="329184"/>
          </a:xfrm>
          <a:prstGeom prst="rect">
            <a:avLst/>
          </a:prstGeom>
        </p:spPr>
      </p:pic>
      <p:sp>
        <p:nvSpPr>
          <p:cNvPr id="4" name="Text 1">
            <a:extLst>
              <a:ext uri="{FF2B5EF4-FFF2-40B4-BE49-F238E27FC236}">
                <a16:creationId xmlns:a16="http://schemas.microsoft.com/office/drawing/2014/main" id="{B74649CF-524E-1554-2185-05874BAF25DB}"/>
              </a:ext>
            </a:extLst>
          </p:cNvPr>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05 - CE QUE RACONTENT LES CHIFFRES</a:t>
            </a:r>
            <a:endParaRPr lang="fr-FR" sz="1100" noProof="0" dirty="0"/>
          </a:p>
        </p:txBody>
      </p:sp>
      <p:sp>
        <p:nvSpPr>
          <p:cNvPr id="5" name="Text 2">
            <a:extLst>
              <a:ext uri="{FF2B5EF4-FFF2-40B4-BE49-F238E27FC236}">
                <a16:creationId xmlns:a16="http://schemas.microsoft.com/office/drawing/2014/main" id="{3985DFBF-F171-091E-AD37-EA7008BA044D}"/>
              </a:ext>
            </a:extLst>
          </p:cNvPr>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rPr>
              <a:t>Matrices de confusion</a:t>
            </a:r>
            <a:endParaRPr lang="fr-FR" sz="2700" noProof="0" dirty="0"/>
          </a:p>
        </p:txBody>
      </p:sp>
      <p:sp>
        <p:nvSpPr>
          <p:cNvPr id="6" name="Text 3">
            <a:extLst>
              <a:ext uri="{FF2B5EF4-FFF2-40B4-BE49-F238E27FC236}">
                <a16:creationId xmlns:a16="http://schemas.microsoft.com/office/drawing/2014/main" id="{29213612-5A48-59B7-BD43-E07D3A582AC7}"/>
              </a:ext>
            </a:extLst>
          </p:cNvPr>
          <p:cNvSpPr/>
          <p:nvPr/>
        </p:nvSpPr>
        <p:spPr>
          <a:xfrm>
            <a:off x="2394483" y="1600200"/>
            <a:ext cx="2147217" cy="365760"/>
          </a:xfrm>
          <a:prstGeom prst="rect">
            <a:avLst/>
          </a:prstGeom>
          <a:noFill/>
          <a:ln/>
        </p:spPr>
        <p:txBody>
          <a:bodyPr wrap="square" lIns="0" tIns="0" rIns="0" bIns="0" rtlCol="0" anchor="ctr"/>
          <a:lstStyle/>
          <a:p>
            <a:r>
              <a:rPr lang="fr-FR" sz="1600" b="1">
                <a:solidFill>
                  <a:srgbClr val="16243F"/>
                </a:solidFill>
                <a:latin typeface="Cambria"/>
                <a:ea typeface="Cambria"/>
              </a:rPr>
              <a:t>La similarité</a:t>
            </a:r>
            <a:endParaRPr lang="fr-FR" sz="1600" noProof="0" dirty="0"/>
          </a:p>
        </p:txBody>
      </p:sp>
      <p:sp>
        <p:nvSpPr>
          <p:cNvPr id="25" name="Slide Number Placeholder 0">
            <a:extLst>
              <a:ext uri="{FF2B5EF4-FFF2-40B4-BE49-F238E27FC236}">
                <a16:creationId xmlns:a16="http://schemas.microsoft.com/office/drawing/2014/main" id="{A20053B0-029D-DAAB-9131-2B7ECA3C456A}"/>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9</a:t>
            </a:fld>
            <a:endParaRPr lang="fr-FR" noProof="0" dirty="0"/>
          </a:p>
        </p:txBody>
      </p:sp>
      <p:sp>
        <p:nvSpPr>
          <p:cNvPr id="7" name="Text 3">
            <a:extLst>
              <a:ext uri="{FF2B5EF4-FFF2-40B4-BE49-F238E27FC236}">
                <a16:creationId xmlns:a16="http://schemas.microsoft.com/office/drawing/2014/main" id="{A018F4DE-35D8-F33F-5DEC-5623FC02AF6C}"/>
              </a:ext>
            </a:extLst>
          </p:cNvPr>
          <p:cNvSpPr/>
          <p:nvPr/>
        </p:nvSpPr>
        <p:spPr>
          <a:xfrm>
            <a:off x="8066117" y="1600200"/>
            <a:ext cx="1627728" cy="365760"/>
          </a:xfrm>
          <a:prstGeom prst="rect">
            <a:avLst/>
          </a:prstGeom>
          <a:noFill/>
          <a:ln/>
        </p:spPr>
        <p:txBody>
          <a:bodyPr wrap="square" lIns="0" tIns="0" rIns="0" bIns="0" rtlCol="0" anchor="ctr"/>
          <a:lstStyle/>
          <a:p>
            <a:r>
              <a:rPr lang="fr-FR" sz="1600" b="1">
                <a:solidFill>
                  <a:srgbClr val="16243F"/>
                </a:solidFill>
                <a:latin typeface="Cambria"/>
                <a:ea typeface="Cambria"/>
              </a:rPr>
              <a:t>Cross Attention</a:t>
            </a:r>
            <a:endParaRPr lang="fr-FR" sz="1600" noProof="0" dirty="0"/>
          </a:p>
        </p:txBody>
      </p:sp>
      <p:pic>
        <p:nvPicPr>
          <p:cNvPr id="8" name="Image 7" descr="Une image contenant texte, capture d’écran, Police, diagramme  Le contenu généré par l’IA peut être incorrect.">
            <a:extLst>
              <a:ext uri="{FF2B5EF4-FFF2-40B4-BE49-F238E27FC236}">
                <a16:creationId xmlns:a16="http://schemas.microsoft.com/office/drawing/2014/main" id="{8931718B-D51E-AD6A-231B-854AF1B76B72}"/>
              </a:ext>
            </a:extLst>
          </p:cNvPr>
          <p:cNvPicPr>
            <a:picLocks noChangeAspect="1"/>
          </p:cNvPicPr>
          <p:nvPr/>
        </p:nvPicPr>
        <p:blipFill>
          <a:blip r:embed="rId4"/>
          <a:stretch>
            <a:fillRect/>
          </a:stretch>
        </p:blipFill>
        <p:spPr>
          <a:xfrm>
            <a:off x="1088988" y="2062743"/>
            <a:ext cx="3908734" cy="3829050"/>
          </a:xfrm>
          <a:prstGeom prst="rect">
            <a:avLst/>
          </a:prstGeom>
        </p:spPr>
      </p:pic>
      <p:pic>
        <p:nvPicPr>
          <p:cNvPr id="9" name="Image 8" descr="Une image contenant texte, capture d’écran, Police, nombre  Le contenu généré par l’IA peut être incorrect.">
            <a:extLst>
              <a:ext uri="{FF2B5EF4-FFF2-40B4-BE49-F238E27FC236}">
                <a16:creationId xmlns:a16="http://schemas.microsoft.com/office/drawing/2014/main" id="{9245F59E-EA40-E3E2-8B7E-868F32C57DBD}"/>
              </a:ext>
            </a:extLst>
          </p:cNvPr>
          <p:cNvPicPr>
            <a:picLocks noChangeAspect="1"/>
          </p:cNvPicPr>
          <p:nvPr/>
        </p:nvPicPr>
        <p:blipFill>
          <a:blip r:embed="rId5"/>
          <a:stretch>
            <a:fillRect/>
          </a:stretch>
        </p:blipFill>
        <p:spPr>
          <a:xfrm>
            <a:off x="6746837" y="2059375"/>
            <a:ext cx="4255351" cy="3724275"/>
          </a:xfrm>
          <a:prstGeom prst="rect">
            <a:avLst/>
          </a:prstGeom>
        </p:spPr>
      </p:pic>
    </p:spTree>
    <p:extLst>
      <p:ext uri="{BB962C8B-B14F-4D97-AF65-F5344CB8AC3E}">
        <p14:creationId xmlns:p14="http://schemas.microsoft.com/office/powerpoint/2010/main" val="3567918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3" name="Shape 1"/>
          <p:cNvSpPr/>
          <p:nvPr/>
        </p:nvSpPr>
        <p:spPr>
          <a:xfrm>
            <a:off x="868680" y="777240"/>
            <a:ext cx="868680" cy="868680"/>
          </a:xfrm>
          <a:prstGeom prst="ellipse">
            <a:avLst/>
          </a:prstGeom>
          <a:solidFill>
            <a:srgbClr val="1FA8B8"/>
          </a:solidFill>
          <a:ln/>
        </p:spPr>
        <p:txBody>
          <a:bodyPr/>
          <a:lstStyle/>
          <a:p>
            <a:endParaRPr lang="fr-FR" noProof="0" dirty="0"/>
          </a:p>
        </p:txBody>
      </p:sp>
      <p:pic>
        <p:nvPicPr>
          <p:cNvPr id="4" name="Image 0" descr="preencoded.png"/>
          <p:cNvPicPr>
            <a:picLocks noChangeAspect="1"/>
          </p:cNvPicPr>
          <p:nvPr/>
        </p:nvPicPr>
        <p:blipFill>
          <a:blip r:embed="rId3"/>
          <a:stretch>
            <a:fillRect/>
          </a:stretch>
        </p:blipFill>
        <p:spPr>
          <a:xfrm>
            <a:off x="1103224" y="1011784"/>
            <a:ext cx="399593" cy="399593"/>
          </a:xfrm>
          <a:prstGeom prst="rect">
            <a:avLst/>
          </a:prstGeom>
        </p:spPr>
      </p:pic>
      <p:sp>
        <p:nvSpPr>
          <p:cNvPr id="5" name="Text 2"/>
          <p:cNvSpPr/>
          <p:nvPr/>
        </p:nvSpPr>
        <p:spPr>
          <a:xfrm>
            <a:off x="1920240" y="841248"/>
            <a:ext cx="9144000" cy="36576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06 - LA SUITE DE L'HISTOIRE</a:t>
            </a:r>
          </a:p>
        </p:txBody>
      </p:sp>
      <p:sp>
        <p:nvSpPr>
          <p:cNvPr id="6" name="Text 3"/>
          <p:cNvSpPr/>
          <p:nvPr/>
        </p:nvSpPr>
        <p:spPr>
          <a:xfrm>
            <a:off x="1920240" y="1170432"/>
            <a:ext cx="9144000" cy="640080"/>
          </a:xfrm>
          <a:prstGeom prst="rect">
            <a:avLst/>
          </a:prstGeom>
          <a:noFill/>
          <a:ln/>
        </p:spPr>
        <p:txBody>
          <a:bodyPr wrap="square" lIns="0" tIns="0" rIns="0" bIns="0" rtlCol="0" anchor="ctr"/>
          <a:lstStyle/>
          <a:p>
            <a:pPr marL="0" indent="0">
              <a:buNone/>
            </a:pPr>
            <a:r>
              <a:rPr lang="fr-FR" sz="3000" b="1" noProof="0" dirty="0">
                <a:latin typeface="Cambria" pitchFamily="34" charset="0"/>
                <a:ea typeface="Cambria" pitchFamily="34" charset="-122"/>
                <a:cs typeface="Cambria" pitchFamily="34" charset="-120"/>
              </a:rPr>
              <a:t>Les prochaines étapes</a:t>
            </a:r>
            <a:endParaRPr lang="fr-FR" sz="3000" noProof="0" dirty="0"/>
          </a:p>
        </p:txBody>
      </p:sp>
      <p:sp>
        <p:nvSpPr>
          <p:cNvPr id="8" name="Text 5"/>
          <p:cNvSpPr/>
          <p:nvPr/>
        </p:nvSpPr>
        <p:spPr>
          <a:xfrm>
            <a:off x="1097280" y="2560320"/>
            <a:ext cx="640080" cy="640080"/>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cs typeface="Cambria" pitchFamily="34" charset="-120"/>
              </a:rPr>
              <a:t>1</a:t>
            </a:r>
            <a:endParaRPr lang="fr-FR" sz="3000" noProof="0" dirty="0"/>
          </a:p>
        </p:txBody>
      </p:sp>
      <p:sp>
        <p:nvSpPr>
          <p:cNvPr id="9" name="Text 6"/>
          <p:cNvSpPr/>
          <p:nvPr/>
        </p:nvSpPr>
        <p:spPr>
          <a:xfrm>
            <a:off x="1874520" y="2468880"/>
            <a:ext cx="4023360" cy="384048"/>
          </a:xfrm>
          <a:prstGeom prst="rect">
            <a:avLst/>
          </a:prstGeom>
          <a:noFill/>
          <a:ln/>
        </p:spPr>
        <p:txBody>
          <a:bodyPr wrap="square" lIns="0" tIns="0" rIns="0" bIns="0" rtlCol="0" anchor="ctr"/>
          <a:lstStyle/>
          <a:p>
            <a:pPr marL="0" indent="0">
              <a:buNone/>
            </a:pPr>
            <a:r>
              <a:rPr lang="fr-FR" sz="1550" b="1" noProof="0" dirty="0">
                <a:solidFill>
                  <a:srgbClr val="FFFFFF"/>
                </a:solidFill>
                <a:latin typeface="Cambria" pitchFamily="34" charset="0"/>
                <a:ea typeface="Cambria" pitchFamily="34" charset="-122"/>
              </a:rPr>
              <a:t>Enrichir les “faux” cas</a:t>
            </a:r>
            <a:endParaRPr lang="fr-FR" sz="1550" noProof="0" dirty="0"/>
          </a:p>
        </p:txBody>
      </p:sp>
      <p:sp>
        <p:nvSpPr>
          <p:cNvPr id="30" name="Tech1 Label"/>
          <p:cNvSpPr/>
          <p:nvPr/>
        </p:nvSpPr>
        <p:spPr>
          <a:xfrm>
            <a:off x="1168803" y="3140250"/>
            <a:ext cx="4600000" cy="280000"/>
          </a:xfrm>
          <a:prstGeom prst="rect">
            <a:avLst/>
          </a:prstGeom>
          <a:noFill/>
          <a:ln/>
        </p:spPr>
        <p:txBody>
          <a:bodyPr wrap="square" lIns="0" tIns="0" rIns="0" bIns="0" rtlCol="0" anchor="ctr"/>
          <a:lstStyle/>
          <a:p>
            <a:pPr marL="0" indent="0">
              <a:buNone/>
            </a:pPr>
            <a:r>
              <a:rPr lang="fr-FR" sz="1050" b="1" spc="150" noProof="0" dirty="0">
                <a:solidFill>
                  <a:srgbClr val="1FA8B8"/>
                </a:solidFill>
                <a:latin typeface="Calibri" pitchFamily="34" charset="0"/>
                <a:ea typeface="Calibri" pitchFamily="34" charset="-122"/>
                <a:cs typeface="Calibri" pitchFamily="34" charset="-120"/>
              </a:rPr>
              <a:t>EXEMPLE DE TECHNIQUE</a:t>
            </a:r>
            <a:endParaRPr lang="fr-FR" sz="1050" noProof="0" dirty="0"/>
          </a:p>
        </p:txBody>
      </p:sp>
      <p:sp>
        <p:nvSpPr>
          <p:cNvPr id="16" name="Text 13"/>
          <p:cNvSpPr/>
          <p:nvPr/>
        </p:nvSpPr>
        <p:spPr>
          <a:xfrm>
            <a:off x="1097280" y="3931920"/>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23" name="Text 20"/>
          <p:cNvSpPr/>
          <p:nvPr/>
        </p:nvSpPr>
        <p:spPr>
          <a:xfrm>
            <a:off x="868680" y="5806440"/>
            <a:ext cx="10424160" cy="640080"/>
          </a:xfrm>
          <a:prstGeom prst="rect">
            <a:avLst/>
          </a:prstGeom>
          <a:noFill/>
          <a:ln/>
        </p:spPr>
        <p:txBody>
          <a:bodyPr wrap="square" lIns="0" tIns="0" rIns="0" bIns="0" rtlCol="0" anchor="t"/>
          <a:lstStyle/>
          <a:p>
            <a:pPr marL="0" indent="0">
              <a:lnSpc>
                <a:spcPct val="105000"/>
              </a:lnSpc>
              <a:buNone/>
            </a:pPr>
            <a:r>
              <a:rPr lang="fr-FR" sz="1450" i="1" noProof="0" dirty="0">
                <a:latin typeface="Calibri" pitchFamily="34" charset="0"/>
                <a:ea typeface="Calibri" pitchFamily="34" charset="-122"/>
                <a:cs typeface="Calibri" pitchFamily="34" charset="-120"/>
              </a:rPr>
              <a:t>Apprendre à une machine à vérifier qu'une image et son texte racontent la même histoire - un second regard fiable, au service de la sécurité du patient.</a:t>
            </a:r>
            <a:endParaRPr lang="fr-FR" sz="1450" noProof="0" dirty="0"/>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C7D6"/>
                </a:solidFill>
                <a:latin typeface="Calibri"/>
                <a:ea typeface="Calibri"/>
                <a:cs typeface="Calibri"/>
              </a:defRPr>
            </a:lvl1pPr>
          </a:lstStyle>
          <a:p>
            <a:pPr algn="r"/>
            <a:fld id="{F7021451-1387-4CA6-816F-3879F97B5CBC}" type="slidenum">
              <a:rPr lang="fr-FR" b="0" noProof="0" smtClean="0"/>
              <a:t>10</a:t>
            </a:fld>
            <a:endParaRPr lang="fr-FR" noProof="0" dirty="0"/>
          </a:p>
        </p:txBody>
      </p:sp>
      <p:sp>
        <p:nvSpPr>
          <p:cNvPr id="12" name="Text 5">
            <a:extLst>
              <a:ext uri="{FF2B5EF4-FFF2-40B4-BE49-F238E27FC236}">
                <a16:creationId xmlns:a16="http://schemas.microsoft.com/office/drawing/2014/main" id="{38C24DF3-AA3C-D8D8-E617-7B3478878E0D}"/>
              </a:ext>
            </a:extLst>
          </p:cNvPr>
          <p:cNvSpPr/>
          <p:nvPr/>
        </p:nvSpPr>
        <p:spPr>
          <a:xfrm>
            <a:off x="1097280" y="2542033"/>
            <a:ext cx="640080" cy="640080"/>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cs typeface="Cambria" pitchFamily="34" charset="-120"/>
              </a:rPr>
              <a:t>1</a:t>
            </a:r>
            <a:endParaRPr lang="fr-FR" sz="3000" noProof="0" dirty="0"/>
          </a:p>
        </p:txBody>
      </p:sp>
      <p:sp>
        <p:nvSpPr>
          <p:cNvPr id="13" name="Shape 4">
            <a:extLst>
              <a:ext uri="{FF2B5EF4-FFF2-40B4-BE49-F238E27FC236}">
                <a16:creationId xmlns:a16="http://schemas.microsoft.com/office/drawing/2014/main" id="{877AB69A-65A7-BDFE-D106-175DAE8E266B}"/>
              </a:ext>
            </a:extLst>
          </p:cNvPr>
          <p:cNvSpPr/>
          <p:nvPr/>
        </p:nvSpPr>
        <p:spPr>
          <a:xfrm>
            <a:off x="868680" y="1861941"/>
            <a:ext cx="4971646" cy="3773647"/>
          </a:xfrm>
          <a:prstGeom prst="roundRect">
            <a:avLst>
              <a:gd name="adj" fmla="val 6923"/>
            </a:avLst>
          </a:prstGeom>
          <a:solidFill>
            <a:srgbClr val="1E3252"/>
          </a:solidFill>
          <a:ln/>
        </p:spPr>
        <p:txBody>
          <a:bodyPr/>
          <a:lstStyle/>
          <a:p>
            <a:endParaRPr lang="fr-FR" noProof="0" dirty="0"/>
          </a:p>
        </p:txBody>
      </p:sp>
      <p:sp>
        <p:nvSpPr>
          <p:cNvPr id="14" name="Text 5">
            <a:extLst>
              <a:ext uri="{FF2B5EF4-FFF2-40B4-BE49-F238E27FC236}">
                <a16:creationId xmlns:a16="http://schemas.microsoft.com/office/drawing/2014/main" id="{80921CB7-A54F-DE4E-745F-C920F83F17FF}"/>
              </a:ext>
            </a:extLst>
          </p:cNvPr>
          <p:cNvSpPr/>
          <p:nvPr/>
        </p:nvSpPr>
        <p:spPr>
          <a:xfrm>
            <a:off x="722240" y="1995004"/>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15" name="Text 6">
            <a:extLst>
              <a:ext uri="{FF2B5EF4-FFF2-40B4-BE49-F238E27FC236}">
                <a16:creationId xmlns:a16="http://schemas.microsoft.com/office/drawing/2014/main" id="{B95ACE3B-9A78-D380-CAEC-D6CA60ED382F}"/>
              </a:ext>
            </a:extLst>
          </p:cNvPr>
          <p:cNvSpPr/>
          <p:nvPr/>
        </p:nvSpPr>
        <p:spPr>
          <a:xfrm>
            <a:off x="1580930" y="2085270"/>
            <a:ext cx="4023360" cy="384048"/>
          </a:xfrm>
          <a:prstGeom prst="rect">
            <a:avLst/>
          </a:prstGeom>
          <a:noFill/>
          <a:ln/>
        </p:spPr>
        <p:txBody>
          <a:bodyPr wrap="square" lIns="0" tIns="0" rIns="0" bIns="0" rtlCol="0" anchor="ctr"/>
          <a:lstStyle/>
          <a:p>
            <a:pPr marL="0" indent="0">
              <a:buNone/>
            </a:pPr>
            <a:r>
              <a:rPr lang="fr-FR" b="1" noProof="0" dirty="0">
                <a:solidFill>
                  <a:srgbClr val="FFFFFF"/>
                </a:solidFill>
                <a:latin typeface="Cambria" pitchFamily="34" charset="0"/>
                <a:ea typeface="Cambria" pitchFamily="34" charset="-122"/>
              </a:rPr>
              <a:t>Enrichir les “faux” cas</a:t>
            </a:r>
            <a:endParaRPr lang="fr-FR" noProof="0" dirty="0"/>
          </a:p>
        </p:txBody>
      </p:sp>
      <p:sp>
        <p:nvSpPr>
          <p:cNvPr id="17" name="Tech1 Label">
            <a:extLst>
              <a:ext uri="{FF2B5EF4-FFF2-40B4-BE49-F238E27FC236}">
                <a16:creationId xmlns:a16="http://schemas.microsoft.com/office/drawing/2014/main" id="{631E854F-7DEB-E063-78B1-9DE7CBD4776C}"/>
              </a:ext>
            </a:extLst>
          </p:cNvPr>
          <p:cNvSpPr/>
          <p:nvPr/>
        </p:nvSpPr>
        <p:spPr>
          <a:xfrm>
            <a:off x="1065459" y="2785203"/>
            <a:ext cx="4600000" cy="280000"/>
          </a:xfrm>
          <a:prstGeom prst="rect">
            <a:avLst/>
          </a:prstGeom>
          <a:noFill/>
          <a:ln/>
        </p:spPr>
        <p:txBody>
          <a:bodyPr wrap="square" lIns="0" tIns="0" rIns="0" bIns="0" rtlCol="0" anchor="ctr"/>
          <a:lstStyle/>
          <a:p>
            <a:pPr marL="0" indent="0">
              <a:buNone/>
            </a:pPr>
            <a:r>
              <a:rPr lang="fr-FR" sz="1400" b="1" spc="150" noProof="0" dirty="0">
                <a:solidFill>
                  <a:srgbClr val="1FA8B8"/>
                </a:solidFill>
                <a:latin typeface="Calibri" pitchFamily="34" charset="0"/>
                <a:ea typeface="Calibri" pitchFamily="34" charset="-122"/>
                <a:cs typeface="Calibri" pitchFamily="34" charset="-120"/>
              </a:rPr>
              <a:t>EXEMPLE DE TECHNIQUE</a:t>
            </a:r>
            <a:endParaRPr lang="fr-FR" sz="1400" noProof="0" dirty="0"/>
          </a:p>
        </p:txBody>
      </p:sp>
      <p:sp>
        <p:nvSpPr>
          <p:cNvPr id="18" name="Tech1 Text">
            <a:extLst>
              <a:ext uri="{FF2B5EF4-FFF2-40B4-BE49-F238E27FC236}">
                <a16:creationId xmlns:a16="http://schemas.microsoft.com/office/drawing/2014/main" id="{0EA6EBFA-6CD1-AC9E-54E6-1B7F2359CF48}"/>
              </a:ext>
            </a:extLst>
          </p:cNvPr>
          <p:cNvSpPr/>
          <p:nvPr/>
        </p:nvSpPr>
        <p:spPr>
          <a:xfrm>
            <a:off x="1041365" y="3355791"/>
            <a:ext cx="4600000" cy="1276995"/>
          </a:xfrm>
          <a:prstGeom prst="rect">
            <a:avLst/>
          </a:prstGeom>
          <a:noFill/>
          <a:ln/>
        </p:spPr>
        <p:txBody>
          <a:bodyPr wrap="square" lIns="0" tIns="0" rIns="0" bIns="0" rtlCol="0" anchor="t"/>
          <a:lstStyle/>
          <a:p>
            <a:pPr>
              <a:lnSpc>
                <a:spcPct val="106000"/>
              </a:lnSpc>
            </a:pPr>
            <a:r>
              <a:rPr lang="fr-FR" sz="1600" noProof="0" dirty="0">
                <a:solidFill>
                  <a:srgbClr val="D9E4F0"/>
                </a:solidFill>
                <a:latin typeface="Calibri" pitchFamily="34" charset="0"/>
                <a:ea typeface="Calibri" pitchFamily="34" charset="-122"/>
                <a:cs typeface="Calibri" pitchFamily="34" charset="-120"/>
              </a:rPr>
              <a:t>En modifiant le texte du rapport en jouant sur des mots contraires, changer des pathologies … En utilisant des Transformers/LLM,  </a:t>
            </a:r>
            <a:r>
              <a:rPr lang="fr-FR" sz="1600" noProof="0" dirty="0" err="1">
                <a:solidFill>
                  <a:srgbClr val="D9E4F0"/>
                </a:solidFill>
                <a:latin typeface="Calibri" pitchFamily="34" charset="0"/>
                <a:ea typeface="Calibri" pitchFamily="34" charset="-122"/>
                <a:cs typeface="Calibri" pitchFamily="34" charset="-120"/>
              </a:rPr>
              <a:t>RadGraph</a:t>
            </a:r>
            <a:r>
              <a:rPr lang="fr-FR" sz="1600" noProof="0" dirty="0">
                <a:solidFill>
                  <a:srgbClr val="D9E4F0"/>
                </a:solidFill>
                <a:latin typeface="Calibri" pitchFamily="34" charset="0"/>
                <a:ea typeface="Calibri" pitchFamily="34" charset="-122"/>
                <a:cs typeface="Calibri" pitchFamily="34" charset="-120"/>
              </a:rPr>
              <a:t> …</a:t>
            </a:r>
          </a:p>
        </p:txBody>
      </p:sp>
      <p:sp>
        <p:nvSpPr>
          <p:cNvPr id="24" name="Text 5">
            <a:extLst>
              <a:ext uri="{FF2B5EF4-FFF2-40B4-BE49-F238E27FC236}">
                <a16:creationId xmlns:a16="http://schemas.microsoft.com/office/drawing/2014/main" id="{1F092DF3-3CC1-276D-9C0F-068124590085}"/>
              </a:ext>
            </a:extLst>
          </p:cNvPr>
          <p:cNvSpPr/>
          <p:nvPr/>
        </p:nvSpPr>
        <p:spPr>
          <a:xfrm>
            <a:off x="960120" y="1917922"/>
            <a:ext cx="640080" cy="640080"/>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cs typeface="Cambria" pitchFamily="34" charset="-120"/>
              </a:rPr>
              <a:t>1</a:t>
            </a:r>
            <a:endParaRPr lang="fr-FR" sz="3000" noProof="0" dirty="0"/>
          </a:p>
        </p:txBody>
      </p:sp>
      <p:sp>
        <p:nvSpPr>
          <p:cNvPr id="27" name="Text 17">
            <a:extLst>
              <a:ext uri="{FF2B5EF4-FFF2-40B4-BE49-F238E27FC236}">
                <a16:creationId xmlns:a16="http://schemas.microsoft.com/office/drawing/2014/main" id="{B92DF207-4505-6F62-619C-756B4EFC5909}"/>
              </a:ext>
            </a:extLst>
          </p:cNvPr>
          <p:cNvSpPr/>
          <p:nvPr/>
        </p:nvSpPr>
        <p:spPr>
          <a:xfrm>
            <a:off x="405901" y="4103578"/>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39" name="Text 13">
            <a:extLst>
              <a:ext uri="{FF2B5EF4-FFF2-40B4-BE49-F238E27FC236}">
                <a16:creationId xmlns:a16="http://schemas.microsoft.com/office/drawing/2014/main" id="{3DFEB2D5-D6E9-C242-412E-63DBAB9E097E}"/>
              </a:ext>
            </a:extLst>
          </p:cNvPr>
          <p:cNvSpPr/>
          <p:nvPr/>
        </p:nvSpPr>
        <p:spPr>
          <a:xfrm>
            <a:off x="5315881" y="378185"/>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40" name="Shape 16">
            <a:extLst>
              <a:ext uri="{FF2B5EF4-FFF2-40B4-BE49-F238E27FC236}">
                <a16:creationId xmlns:a16="http://schemas.microsoft.com/office/drawing/2014/main" id="{34177371-7741-EB73-ABB7-CA4EF7224ADD}"/>
              </a:ext>
            </a:extLst>
          </p:cNvPr>
          <p:cNvSpPr/>
          <p:nvPr/>
        </p:nvSpPr>
        <p:spPr>
          <a:xfrm>
            <a:off x="6583045" y="1861941"/>
            <a:ext cx="4971646" cy="3773647"/>
          </a:xfrm>
          <a:prstGeom prst="roundRect">
            <a:avLst>
              <a:gd name="adj" fmla="val 6923"/>
            </a:avLst>
          </a:prstGeom>
          <a:solidFill>
            <a:srgbClr val="1E3252"/>
          </a:solidFill>
          <a:ln/>
        </p:spPr>
        <p:txBody>
          <a:bodyPr/>
          <a:lstStyle/>
          <a:p>
            <a:endParaRPr lang="fr-FR" noProof="0" dirty="0"/>
          </a:p>
        </p:txBody>
      </p:sp>
      <p:sp>
        <p:nvSpPr>
          <p:cNvPr id="34" name="Tech2 Text">
            <a:extLst>
              <a:ext uri="{FF2B5EF4-FFF2-40B4-BE49-F238E27FC236}">
                <a16:creationId xmlns:a16="http://schemas.microsoft.com/office/drawing/2014/main" id="{B528E9DA-F35A-E51F-F72B-6E18511C9339}"/>
              </a:ext>
            </a:extLst>
          </p:cNvPr>
          <p:cNvSpPr/>
          <p:nvPr/>
        </p:nvSpPr>
        <p:spPr>
          <a:xfrm>
            <a:off x="6881091" y="3420250"/>
            <a:ext cx="4481559" cy="1037205"/>
          </a:xfrm>
          <a:prstGeom prst="rect">
            <a:avLst/>
          </a:prstGeom>
          <a:noFill/>
          <a:ln/>
        </p:spPr>
        <p:txBody>
          <a:bodyPr wrap="square" lIns="0" tIns="0" rIns="0" bIns="0" rtlCol="0" anchor="t"/>
          <a:lstStyle/>
          <a:p>
            <a:pPr marL="0" indent="0">
              <a:lnSpc>
                <a:spcPct val="106000"/>
              </a:lnSpc>
              <a:buNone/>
            </a:pPr>
            <a:r>
              <a:rPr lang="fr-FR" sz="1600" noProof="0" dirty="0">
                <a:solidFill>
                  <a:srgbClr val="D9E4F0"/>
                </a:solidFill>
                <a:latin typeface="Calibri" pitchFamily="34" charset="0"/>
                <a:ea typeface="Calibri" pitchFamily="34" charset="-122"/>
                <a:cs typeface="Calibri" pitchFamily="34" charset="-120"/>
              </a:rPr>
              <a:t>Une carte d'attention (Grad-CAM) surlignant les régions </a:t>
            </a:r>
            <a:r>
              <a:rPr lang="fr-FR" sz="1600" noProof="0" dirty="0">
                <a:solidFill>
                  <a:schemeClr val="bg1"/>
                </a:solidFill>
                <a:latin typeface="Calibri" pitchFamily="34" charset="0"/>
                <a:ea typeface="Calibri" pitchFamily="34" charset="-122"/>
                <a:cs typeface="Calibri" pitchFamily="34" charset="-120"/>
              </a:rPr>
              <a:t>décisives, un RAG médical …</a:t>
            </a:r>
            <a:endParaRPr lang="fr-FR" sz="1600" noProof="0" dirty="0">
              <a:solidFill>
                <a:schemeClr val="bg1"/>
              </a:solidFill>
            </a:endParaRPr>
          </a:p>
        </p:txBody>
      </p:sp>
      <p:sp>
        <p:nvSpPr>
          <p:cNvPr id="43" name="Tech2 Label">
            <a:extLst>
              <a:ext uri="{FF2B5EF4-FFF2-40B4-BE49-F238E27FC236}">
                <a16:creationId xmlns:a16="http://schemas.microsoft.com/office/drawing/2014/main" id="{B928519C-E6CD-CA85-A40B-A2CA4C3257CD}"/>
              </a:ext>
            </a:extLst>
          </p:cNvPr>
          <p:cNvSpPr/>
          <p:nvPr/>
        </p:nvSpPr>
        <p:spPr>
          <a:xfrm>
            <a:off x="6935339" y="2812784"/>
            <a:ext cx="2528600" cy="280000"/>
          </a:xfrm>
          <a:prstGeom prst="rect">
            <a:avLst/>
          </a:prstGeom>
          <a:noFill/>
          <a:ln/>
        </p:spPr>
        <p:txBody>
          <a:bodyPr wrap="square" lIns="0" tIns="0" rIns="0" bIns="0" rtlCol="0" anchor="ctr"/>
          <a:lstStyle/>
          <a:p>
            <a:pPr marL="0" indent="0">
              <a:buNone/>
            </a:pPr>
            <a:r>
              <a:rPr lang="fr-FR" sz="1400" b="1" spc="150" noProof="0" dirty="0">
                <a:solidFill>
                  <a:srgbClr val="1FA8B8"/>
                </a:solidFill>
                <a:latin typeface="Calibri" pitchFamily="34" charset="0"/>
                <a:ea typeface="Calibri" pitchFamily="34" charset="-122"/>
                <a:cs typeface="Calibri" pitchFamily="34" charset="-120"/>
              </a:rPr>
              <a:t>EXEMPLE DE TECHNIQUE</a:t>
            </a:r>
            <a:endParaRPr lang="fr-FR" sz="1400" noProof="0" dirty="0"/>
          </a:p>
        </p:txBody>
      </p:sp>
      <p:sp>
        <p:nvSpPr>
          <p:cNvPr id="42" name="Text 18">
            <a:extLst>
              <a:ext uri="{FF2B5EF4-FFF2-40B4-BE49-F238E27FC236}">
                <a16:creationId xmlns:a16="http://schemas.microsoft.com/office/drawing/2014/main" id="{D4D78C65-8B65-9EDA-E762-6DF2E012664A}"/>
              </a:ext>
            </a:extLst>
          </p:cNvPr>
          <p:cNvSpPr/>
          <p:nvPr/>
        </p:nvSpPr>
        <p:spPr>
          <a:xfrm>
            <a:off x="7354599" y="2085270"/>
            <a:ext cx="2788458" cy="384048"/>
          </a:xfrm>
          <a:prstGeom prst="rect">
            <a:avLst/>
          </a:prstGeom>
          <a:noFill/>
          <a:ln/>
        </p:spPr>
        <p:txBody>
          <a:bodyPr wrap="square" lIns="0" tIns="0" rIns="0" bIns="0" rtlCol="0" anchor="ctr"/>
          <a:lstStyle/>
          <a:p>
            <a:pPr marL="0" indent="0">
              <a:buNone/>
            </a:pPr>
            <a:r>
              <a:rPr lang="fr-FR" b="1" noProof="0" dirty="0">
                <a:solidFill>
                  <a:srgbClr val="FFFFFF"/>
                </a:solidFill>
                <a:latin typeface="Cambria" pitchFamily="34" charset="0"/>
                <a:ea typeface="Cambria" pitchFamily="34" charset="-122"/>
                <a:cs typeface="Cambria" pitchFamily="34" charset="-120"/>
              </a:rPr>
              <a:t>Rendre l'outil plus intuitif</a:t>
            </a:r>
            <a:endParaRPr lang="fr-FR" noProof="0" dirty="0"/>
          </a:p>
        </p:txBody>
      </p:sp>
      <p:sp>
        <p:nvSpPr>
          <p:cNvPr id="41" name="Text 17">
            <a:extLst>
              <a:ext uri="{FF2B5EF4-FFF2-40B4-BE49-F238E27FC236}">
                <a16:creationId xmlns:a16="http://schemas.microsoft.com/office/drawing/2014/main" id="{F4754885-F948-ECA4-7761-6AE8B45BFBDD}"/>
              </a:ext>
            </a:extLst>
          </p:cNvPr>
          <p:cNvSpPr/>
          <p:nvPr/>
        </p:nvSpPr>
        <p:spPr>
          <a:xfrm>
            <a:off x="6714519" y="1916338"/>
            <a:ext cx="640080" cy="625695"/>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rPr>
              <a:t>2</a:t>
            </a:r>
            <a:endParaRPr lang="fr-FR" sz="30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07 - PROVENANCE DES DONNÉES ET DU MODÈLE</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Annexe - Sources et références</a:t>
            </a:r>
            <a:endParaRPr lang="fr-FR" sz="2700" noProof="0" dirty="0"/>
          </a:p>
        </p:txBody>
      </p:sp>
      <p:sp>
        <p:nvSpPr>
          <p:cNvPr id="6" name="Shape 3"/>
          <p:cNvSpPr/>
          <p:nvPr/>
        </p:nvSpPr>
        <p:spPr>
          <a:xfrm>
            <a:off x="640080" y="1417320"/>
            <a:ext cx="10908792" cy="1060704"/>
          </a:xfrm>
          <a:prstGeom prst="roundRect">
            <a:avLst>
              <a:gd name="adj" fmla="val 7759"/>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7" name="Text 4"/>
          <p:cNvSpPr/>
          <p:nvPr/>
        </p:nvSpPr>
        <p:spPr>
          <a:xfrm>
            <a:off x="914400" y="1517904"/>
            <a:ext cx="10332720" cy="301752"/>
          </a:xfrm>
          <a:prstGeom prst="rect">
            <a:avLst/>
          </a:prstGeom>
          <a:noFill/>
          <a:ln/>
        </p:spPr>
        <p:txBody>
          <a:bodyPr wrap="square" lIns="0" tIns="0" rIns="0" bIns="0" rtlCol="0" anchor="ctr"/>
          <a:lstStyle/>
          <a:p>
            <a:pPr marL="0" indent="0">
              <a:buNone/>
            </a:pPr>
            <a:r>
              <a:rPr lang="fr-FR" sz="1400" b="1" noProof="0" dirty="0">
                <a:solidFill>
                  <a:srgbClr val="16243F"/>
                </a:solidFill>
                <a:latin typeface="Cambria" pitchFamily="34" charset="0"/>
                <a:ea typeface="Cambria" pitchFamily="34" charset="-122"/>
                <a:cs typeface="Cambria" pitchFamily="34" charset="-120"/>
              </a:rPr>
              <a:t>Images et étiquettes - CheXpert (version « </a:t>
            </a:r>
            <a:r>
              <a:rPr lang="fr-FR" sz="1400" b="1" noProof="0" dirty="0" err="1">
                <a:solidFill>
                  <a:srgbClr val="16243F"/>
                </a:solidFill>
                <a:latin typeface="Cambria" pitchFamily="34" charset="0"/>
                <a:ea typeface="Cambria" pitchFamily="34" charset="-122"/>
                <a:cs typeface="Cambria" pitchFamily="34" charset="-120"/>
              </a:rPr>
              <a:t>small</a:t>
            </a:r>
            <a:r>
              <a:rPr lang="fr-FR" sz="1400" b="1" noProof="0" dirty="0">
                <a:solidFill>
                  <a:srgbClr val="16243F"/>
                </a:solidFill>
                <a:latin typeface="Cambria" pitchFamily="34" charset="0"/>
                <a:ea typeface="Cambria" pitchFamily="34" charset="-122"/>
                <a:cs typeface="Cambria" pitchFamily="34" charset="-120"/>
              </a:rPr>
              <a:t> »)</a:t>
            </a:r>
            <a:endParaRPr lang="fr-FR" sz="1400" noProof="0" dirty="0"/>
          </a:p>
        </p:txBody>
      </p:sp>
      <p:sp>
        <p:nvSpPr>
          <p:cNvPr id="8" name="Text 5"/>
          <p:cNvSpPr/>
          <p:nvPr/>
        </p:nvSpPr>
        <p:spPr>
          <a:xfrm>
            <a:off x="914400" y="1819656"/>
            <a:ext cx="10332720" cy="420624"/>
          </a:xfrm>
          <a:prstGeom prst="rect">
            <a:avLst/>
          </a:prstGeom>
          <a:noFill/>
          <a:ln/>
        </p:spPr>
        <p:txBody>
          <a:bodyPr wrap="square" lIns="0" tIns="0" rIns="0" bIns="0" rtlCol="0" anchor="t"/>
          <a:lstStyle/>
          <a:p>
            <a:pPr marL="0" indent="0">
              <a:lnSpc>
                <a:spcPct val="100000"/>
              </a:lnSpc>
              <a:buNone/>
            </a:pPr>
            <a:r>
              <a:rPr lang="fr-FR" sz="1150" noProof="0" dirty="0">
                <a:solidFill>
                  <a:srgbClr val="1F2A37"/>
                </a:solidFill>
                <a:latin typeface="Calibri" pitchFamily="34" charset="0"/>
                <a:ea typeface="Calibri" pitchFamily="34" charset="-122"/>
                <a:cs typeface="Calibri" pitchFamily="34" charset="-120"/>
              </a:rPr>
              <a:t>Irvin, J., </a:t>
            </a:r>
            <a:r>
              <a:rPr lang="fr-FR" sz="1150" noProof="0" dirty="0" err="1">
                <a:solidFill>
                  <a:srgbClr val="1F2A37"/>
                </a:solidFill>
                <a:latin typeface="Calibri" pitchFamily="34" charset="0"/>
                <a:ea typeface="Calibri" pitchFamily="34" charset="-122"/>
                <a:cs typeface="Calibri" pitchFamily="34" charset="-120"/>
              </a:rPr>
              <a:t>Rajpurkar</a:t>
            </a:r>
            <a:r>
              <a:rPr lang="fr-FR" sz="1150" noProof="0" dirty="0">
                <a:solidFill>
                  <a:srgbClr val="1F2A37"/>
                </a:solidFill>
                <a:latin typeface="Calibri" pitchFamily="34" charset="0"/>
                <a:ea typeface="Calibri" pitchFamily="34" charset="-122"/>
                <a:cs typeface="Calibri" pitchFamily="34" charset="-120"/>
              </a:rPr>
              <a:t>, P., Ko, M., et al. (2019). CheXpert: A Large Chest </a:t>
            </a:r>
            <a:r>
              <a:rPr lang="fr-FR" sz="1150" noProof="0" dirty="0" err="1">
                <a:solidFill>
                  <a:srgbClr val="1F2A37"/>
                </a:solidFill>
                <a:latin typeface="Calibri" pitchFamily="34" charset="0"/>
                <a:ea typeface="Calibri" pitchFamily="34" charset="-122"/>
                <a:cs typeface="Calibri" pitchFamily="34" charset="-120"/>
              </a:rPr>
              <a:t>Radiograph</a:t>
            </a:r>
            <a:r>
              <a:rPr lang="fr-FR" sz="1150" noProof="0" dirty="0">
                <a:solidFill>
                  <a:srgbClr val="1F2A37"/>
                </a:solidFill>
                <a:latin typeface="Calibri" pitchFamily="34" charset="0"/>
                <a:ea typeface="Calibri" pitchFamily="34" charset="-122"/>
                <a:cs typeface="Calibri" pitchFamily="34" charset="-120"/>
              </a:rPr>
              <a:t> Dataset </a:t>
            </a:r>
            <a:r>
              <a:rPr lang="fr-FR" sz="1150" noProof="0" dirty="0" err="1">
                <a:solidFill>
                  <a:srgbClr val="1F2A37"/>
                </a:solidFill>
                <a:latin typeface="Calibri" pitchFamily="34" charset="0"/>
                <a:ea typeface="Calibri" pitchFamily="34" charset="-122"/>
                <a:cs typeface="Calibri" pitchFamily="34" charset="-120"/>
              </a:rPr>
              <a:t>with</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Uncertainty</a:t>
            </a:r>
            <a:r>
              <a:rPr lang="fr-FR" sz="1150" noProof="0" dirty="0">
                <a:solidFill>
                  <a:srgbClr val="1F2A37"/>
                </a:solidFill>
                <a:latin typeface="Calibri" pitchFamily="34" charset="0"/>
                <a:ea typeface="Calibri" pitchFamily="34" charset="-122"/>
                <a:cs typeface="Calibri" pitchFamily="34" charset="-120"/>
              </a:rPr>
              <a:t> Labels and Expert </a:t>
            </a:r>
            <a:r>
              <a:rPr lang="fr-FR" sz="1150" noProof="0" dirty="0" err="1">
                <a:solidFill>
                  <a:srgbClr val="1F2A37"/>
                </a:solidFill>
                <a:latin typeface="Calibri" pitchFamily="34" charset="0"/>
                <a:ea typeface="Calibri" pitchFamily="34" charset="-122"/>
                <a:cs typeface="Calibri" pitchFamily="34" charset="-120"/>
              </a:rPr>
              <a:t>Comparison</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Proceedings</a:t>
            </a:r>
            <a:r>
              <a:rPr lang="fr-FR" sz="1150" noProof="0" dirty="0">
                <a:solidFill>
                  <a:srgbClr val="1F2A37"/>
                </a:solidFill>
                <a:latin typeface="Calibri" pitchFamily="34" charset="0"/>
                <a:ea typeface="Calibri" pitchFamily="34" charset="-122"/>
                <a:cs typeface="Calibri" pitchFamily="34" charset="-120"/>
              </a:rPr>
              <a:t> of the AAAI </a:t>
            </a:r>
            <a:r>
              <a:rPr lang="fr-FR" sz="1150" noProof="0" dirty="0" err="1">
                <a:solidFill>
                  <a:srgbClr val="1F2A37"/>
                </a:solidFill>
                <a:latin typeface="Calibri" pitchFamily="34" charset="0"/>
                <a:ea typeface="Calibri" pitchFamily="34" charset="-122"/>
                <a:cs typeface="Calibri" pitchFamily="34" charset="-120"/>
              </a:rPr>
              <a:t>Conference</a:t>
            </a:r>
            <a:r>
              <a:rPr lang="fr-FR" sz="1150" noProof="0" dirty="0">
                <a:solidFill>
                  <a:srgbClr val="1F2A37"/>
                </a:solidFill>
                <a:latin typeface="Calibri" pitchFamily="34" charset="0"/>
                <a:ea typeface="Calibri" pitchFamily="34" charset="-122"/>
                <a:cs typeface="Calibri" pitchFamily="34" charset="-120"/>
              </a:rPr>
              <a:t> on </a:t>
            </a:r>
            <a:r>
              <a:rPr lang="fr-FR" sz="1150" noProof="0" dirty="0" err="1">
                <a:solidFill>
                  <a:srgbClr val="1F2A37"/>
                </a:solidFill>
                <a:latin typeface="Calibri" pitchFamily="34" charset="0"/>
                <a:ea typeface="Calibri" pitchFamily="34" charset="-122"/>
                <a:cs typeface="Calibri" pitchFamily="34" charset="-120"/>
              </a:rPr>
              <a:t>Artificial</a:t>
            </a:r>
            <a:r>
              <a:rPr lang="fr-FR" sz="1150" noProof="0" dirty="0">
                <a:solidFill>
                  <a:srgbClr val="1F2A37"/>
                </a:solidFill>
                <a:latin typeface="Calibri" pitchFamily="34" charset="0"/>
                <a:ea typeface="Calibri" pitchFamily="34" charset="-122"/>
                <a:cs typeface="Calibri" pitchFamily="34" charset="-120"/>
              </a:rPr>
              <a:t> Intelligence, 33(01), 590-597.</a:t>
            </a:r>
            <a:endParaRPr lang="fr-FR" sz="1150" noProof="0" dirty="0"/>
          </a:p>
        </p:txBody>
      </p:sp>
      <p:sp>
        <p:nvSpPr>
          <p:cNvPr id="9" name="Text 6"/>
          <p:cNvSpPr/>
          <p:nvPr/>
        </p:nvSpPr>
        <p:spPr>
          <a:xfrm>
            <a:off x="914400" y="2221992"/>
            <a:ext cx="10332720" cy="237744"/>
          </a:xfrm>
          <a:prstGeom prst="rect">
            <a:avLst/>
          </a:prstGeom>
          <a:noFill/>
          <a:ln/>
        </p:spPr>
        <p:txBody>
          <a:bodyPr wrap="square" lIns="0" tIns="0" rIns="0" bIns="0" rtlCol="0" anchor="ctr"/>
          <a:lstStyle/>
          <a:p>
            <a:pPr marL="0" indent="0">
              <a:buNone/>
            </a:pPr>
            <a:r>
              <a:rPr lang="fr-FR" sz="1050" i="1" noProof="0" dirty="0">
                <a:solidFill>
                  <a:srgbClr val="12798A"/>
                </a:solidFill>
                <a:latin typeface="Calibri" pitchFamily="34" charset="0"/>
                <a:ea typeface="Calibri" pitchFamily="34" charset="-122"/>
                <a:cs typeface="Calibri" pitchFamily="34" charset="-120"/>
              </a:rPr>
              <a:t>DOI : 10.1609/aaai.v33i01.3301590   -   Accès : kaggle.com (CheXpert-v1.0-small)</a:t>
            </a:r>
            <a:endParaRPr lang="fr-FR" sz="1050" noProof="0" dirty="0"/>
          </a:p>
        </p:txBody>
      </p:sp>
      <p:sp>
        <p:nvSpPr>
          <p:cNvPr id="10" name="Shape 7"/>
          <p:cNvSpPr/>
          <p:nvPr/>
        </p:nvSpPr>
        <p:spPr>
          <a:xfrm>
            <a:off x="640080" y="2606040"/>
            <a:ext cx="10908792" cy="1060704"/>
          </a:xfrm>
          <a:prstGeom prst="roundRect">
            <a:avLst>
              <a:gd name="adj" fmla="val 7759"/>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1" name="Text 8"/>
          <p:cNvSpPr/>
          <p:nvPr/>
        </p:nvSpPr>
        <p:spPr>
          <a:xfrm>
            <a:off x="914400" y="2706624"/>
            <a:ext cx="10332720" cy="301752"/>
          </a:xfrm>
          <a:prstGeom prst="rect">
            <a:avLst/>
          </a:prstGeom>
          <a:noFill/>
          <a:ln/>
        </p:spPr>
        <p:txBody>
          <a:bodyPr wrap="square" lIns="0" tIns="0" rIns="0" bIns="0" rtlCol="0" anchor="ctr"/>
          <a:lstStyle/>
          <a:p>
            <a:pPr marL="0" indent="0">
              <a:buNone/>
            </a:pPr>
            <a:r>
              <a:rPr lang="fr-FR" sz="1400" b="1" noProof="0" dirty="0">
                <a:solidFill>
                  <a:srgbClr val="16243F"/>
                </a:solidFill>
                <a:latin typeface="Cambria" pitchFamily="34" charset="0"/>
                <a:ea typeface="Cambria" pitchFamily="34" charset="-122"/>
                <a:cs typeface="Cambria" pitchFamily="34" charset="-120"/>
              </a:rPr>
              <a:t>Rapports et métadonnées - CheXpert Plus (df_chexpert_plus_240401.csv)</a:t>
            </a:r>
            <a:endParaRPr lang="fr-FR" sz="1400" noProof="0" dirty="0"/>
          </a:p>
        </p:txBody>
      </p:sp>
      <p:sp>
        <p:nvSpPr>
          <p:cNvPr id="12" name="Text 9"/>
          <p:cNvSpPr/>
          <p:nvPr/>
        </p:nvSpPr>
        <p:spPr>
          <a:xfrm>
            <a:off x="914400" y="3008376"/>
            <a:ext cx="10332720" cy="420624"/>
          </a:xfrm>
          <a:prstGeom prst="rect">
            <a:avLst/>
          </a:prstGeom>
          <a:noFill/>
          <a:ln/>
        </p:spPr>
        <p:txBody>
          <a:bodyPr wrap="square" lIns="0" tIns="0" rIns="0" bIns="0" rtlCol="0" anchor="t"/>
          <a:lstStyle/>
          <a:p>
            <a:pPr marL="0" indent="0">
              <a:lnSpc>
                <a:spcPct val="100000"/>
              </a:lnSpc>
              <a:buNone/>
            </a:pPr>
            <a:r>
              <a:rPr lang="fr-FR" sz="1150" noProof="0" dirty="0">
                <a:solidFill>
                  <a:srgbClr val="1F2A37"/>
                </a:solidFill>
                <a:latin typeface="Calibri" pitchFamily="34" charset="0"/>
                <a:ea typeface="Calibri" pitchFamily="34" charset="-122"/>
                <a:cs typeface="Calibri" pitchFamily="34" charset="-120"/>
              </a:rPr>
              <a:t>Chambon, P., </a:t>
            </a:r>
            <a:r>
              <a:rPr lang="fr-FR" sz="1150" noProof="0" dirty="0" err="1">
                <a:solidFill>
                  <a:srgbClr val="1F2A37"/>
                </a:solidFill>
                <a:latin typeface="Calibri" pitchFamily="34" charset="0"/>
                <a:ea typeface="Calibri" pitchFamily="34" charset="-122"/>
                <a:cs typeface="Calibri" pitchFamily="34" charset="-120"/>
              </a:rPr>
              <a:t>Delbrouck</a:t>
            </a:r>
            <a:r>
              <a:rPr lang="fr-FR" sz="1150" noProof="0" dirty="0">
                <a:solidFill>
                  <a:srgbClr val="1F2A37"/>
                </a:solidFill>
                <a:latin typeface="Calibri" pitchFamily="34" charset="0"/>
                <a:ea typeface="Calibri" pitchFamily="34" charset="-122"/>
                <a:cs typeface="Calibri" pitchFamily="34" charset="-120"/>
              </a:rPr>
              <a:t>, J.-B., </a:t>
            </a:r>
            <a:r>
              <a:rPr lang="fr-FR" sz="1150" noProof="0" dirty="0" err="1">
                <a:solidFill>
                  <a:srgbClr val="1F2A37"/>
                </a:solidFill>
                <a:latin typeface="Calibri" pitchFamily="34" charset="0"/>
                <a:ea typeface="Calibri" pitchFamily="34" charset="-122"/>
                <a:cs typeface="Calibri" pitchFamily="34" charset="-120"/>
              </a:rPr>
              <a:t>Sounack</a:t>
            </a:r>
            <a:r>
              <a:rPr lang="fr-FR" sz="1150" noProof="0" dirty="0">
                <a:solidFill>
                  <a:srgbClr val="1F2A37"/>
                </a:solidFill>
                <a:latin typeface="Calibri" pitchFamily="34" charset="0"/>
                <a:ea typeface="Calibri" pitchFamily="34" charset="-122"/>
                <a:cs typeface="Calibri" pitchFamily="34" charset="-120"/>
              </a:rPr>
              <a:t>, T., et al. (2024). CheXpert Plus: </a:t>
            </a:r>
            <a:r>
              <a:rPr lang="fr-FR" sz="1150" noProof="0" dirty="0" err="1">
                <a:solidFill>
                  <a:srgbClr val="1F2A37"/>
                </a:solidFill>
                <a:latin typeface="Calibri" pitchFamily="34" charset="0"/>
                <a:ea typeface="Calibri" pitchFamily="34" charset="-122"/>
                <a:cs typeface="Calibri" pitchFamily="34" charset="-120"/>
              </a:rPr>
              <a:t>Augmenting</a:t>
            </a:r>
            <a:r>
              <a:rPr lang="fr-FR" sz="1150" noProof="0" dirty="0">
                <a:solidFill>
                  <a:srgbClr val="1F2A37"/>
                </a:solidFill>
                <a:latin typeface="Calibri" pitchFamily="34" charset="0"/>
                <a:ea typeface="Calibri" pitchFamily="34" charset="-122"/>
                <a:cs typeface="Calibri" pitchFamily="34" charset="-120"/>
              </a:rPr>
              <a:t> a Large Chest X-ray Dataset </a:t>
            </a:r>
            <a:r>
              <a:rPr lang="fr-FR" sz="1150" noProof="0" dirty="0" err="1">
                <a:solidFill>
                  <a:srgbClr val="1F2A37"/>
                </a:solidFill>
                <a:latin typeface="Calibri" pitchFamily="34" charset="0"/>
                <a:ea typeface="Calibri" pitchFamily="34" charset="-122"/>
                <a:cs typeface="Calibri" pitchFamily="34" charset="-120"/>
              </a:rPr>
              <a:t>with</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Text</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Radiology</a:t>
            </a:r>
            <a:r>
              <a:rPr lang="fr-FR" sz="1150" noProof="0" dirty="0">
                <a:solidFill>
                  <a:srgbClr val="1F2A37"/>
                </a:solidFill>
                <a:latin typeface="Calibri" pitchFamily="34" charset="0"/>
                <a:ea typeface="Calibri" pitchFamily="34" charset="-122"/>
                <a:cs typeface="Calibri" pitchFamily="34" charset="-120"/>
              </a:rPr>
              <a:t> Reports, Patient </a:t>
            </a:r>
            <a:r>
              <a:rPr lang="fr-FR" sz="1150" noProof="0" dirty="0" err="1">
                <a:solidFill>
                  <a:srgbClr val="1F2A37"/>
                </a:solidFill>
                <a:latin typeface="Calibri" pitchFamily="34" charset="0"/>
                <a:ea typeface="Calibri" pitchFamily="34" charset="-122"/>
                <a:cs typeface="Calibri" pitchFamily="34" charset="-120"/>
              </a:rPr>
              <a:t>Demographics</a:t>
            </a:r>
            <a:r>
              <a:rPr lang="fr-FR" sz="1150" noProof="0" dirty="0">
                <a:solidFill>
                  <a:srgbClr val="1F2A37"/>
                </a:solidFill>
                <a:latin typeface="Calibri" pitchFamily="34" charset="0"/>
                <a:ea typeface="Calibri" pitchFamily="34" charset="-122"/>
                <a:cs typeface="Calibri" pitchFamily="34" charset="-120"/>
              </a:rPr>
              <a:t> and </a:t>
            </a:r>
            <a:r>
              <a:rPr lang="fr-FR" sz="1150" noProof="0" dirty="0" err="1">
                <a:solidFill>
                  <a:srgbClr val="1F2A37"/>
                </a:solidFill>
                <a:latin typeface="Calibri" pitchFamily="34" charset="0"/>
                <a:ea typeface="Calibri" pitchFamily="34" charset="-122"/>
                <a:cs typeface="Calibri" pitchFamily="34" charset="-120"/>
              </a:rPr>
              <a:t>Additional</a:t>
            </a:r>
            <a:r>
              <a:rPr lang="fr-FR" sz="1150" noProof="0" dirty="0">
                <a:solidFill>
                  <a:srgbClr val="1F2A37"/>
                </a:solidFill>
                <a:latin typeface="Calibri" pitchFamily="34" charset="0"/>
                <a:ea typeface="Calibri" pitchFamily="34" charset="-122"/>
                <a:cs typeface="Calibri" pitchFamily="34" charset="-120"/>
              </a:rPr>
              <a:t> Image Formats. arXiv:2405.19538.</a:t>
            </a:r>
            <a:endParaRPr lang="fr-FR" sz="1150" noProof="0" dirty="0"/>
          </a:p>
        </p:txBody>
      </p:sp>
      <p:sp>
        <p:nvSpPr>
          <p:cNvPr id="13" name="Text 10"/>
          <p:cNvSpPr/>
          <p:nvPr/>
        </p:nvSpPr>
        <p:spPr>
          <a:xfrm>
            <a:off x="914400" y="3410712"/>
            <a:ext cx="10332720" cy="237744"/>
          </a:xfrm>
          <a:prstGeom prst="rect">
            <a:avLst/>
          </a:prstGeom>
          <a:noFill/>
          <a:ln/>
        </p:spPr>
        <p:txBody>
          <a:bodyPr wrap="square" lIns="0" tIns="0" rIns="0" bIns="0" rtlCol="0" anchor="ctr"/>
          <a:lstStyle/>
          <a:p>
            <a:pPr marL="0" indent="0">
              <a:buNone/>
            </a:pPr>
            <a:r>
              <a:rPr lang="fr-FR" sz="1050" i="1" noProof="0" dirty="0">
                <a:solidFill>
                  <a:srgbClr val="12798A"/>
                </a:solidFill>
                <a:latin typeface="Calibri" pitchFamily="34" charset="0"/>
                <a:ea typeface="Calibri" pitchFamily="34" charset="-122"/>
                <a:cs typeface="Calibri" pitchFamily="34" charset="-120"/>
              </a:rPr>
              <a:t>Accès : stanfordaimi.azurewebsites.net (Stanford AIMI)</a:t>
            </a:r>
            <a:endParaRPr lang="fr-FR" sz="1050" noProof="0" dirty="0"/>
          </a:p>
        </p:txBody>
      </p:sp>
      <p:sp>
        <p:nvSpPr>
          <p:cNvPr id="14" name="Shape 11"/>
          <p:cNvSpPr/>
          <p:nvPr/>
        </p:nvSpPr>
        <p:spPr>
          <a:xfrm>
            <a:off x="640080" y="3794760"/>
            <a:ext cx="10908792" cy="1060704"/>
          </a:xfrm>
          <a:prstGeom prst="roundRect">
            <a:avLst>
              <a:gd name="adj" fmla="val 7759"/>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5" name="Text 12"/>
          <p:cNvSpPr/>
          <p:nvPr/>
        </p:nvSpPr>
        <p:spPr>
          <a:xfrm>
            <a:off x="914400" y="3895344"/>
            <a:ext cx="10332720" cy="301752"/>
          </a:xfrm>
          <a:prstGeom prst="rect">
            <a:avLst/>
          </a:prstGeom>
          <a:noFill/>
          <a:ln/>
        </p:spPr>
        <p:txBody>
          <a:bodyPr wrap="square" lIns="0" tIns="0" rIns="0" bIns="0" rtlCol="0" anchor="ctr"/>
          <a:lstStyle/>
          <a:p>
            <a:pPr marL="0" indent="0">
              <a:buNone/>
            </a:pPr>
            <a:r>
              <a:rPr lang="fr-FR" sz="1400" b="1" noProof="0" dirty="0">
                <a:solidFill>
                  <a:srgbClr val="16243F"/>
                </a:solidFill>
                <a:latin typeface="Cambria" pitchFamily="34" charset="0"/>
                <a:ea typeface="Cambria" pitchFamily="34" charset="-122"/>
                <a:cs typeface="Cambria" pitchFamily="34" charset="-120"/>
              </a:rPr>
              <a:t>Modèle pré-entraîné - </a:t>
            </a:r>
            <a:r>
              <a:rPr lang="fr-FR" sz="1400" b="1" noProof="0" dirty="0" err="1">
                <a:solidFill>
                  <a:srgbClr val="16243F"/>
                </a:solidFill>
                <a:latin typeface="Cambria" pitchFamily="34" charset="0"/>
                <a:ea typeface="Cambria" pitchFamily="34" charset="-122"/>
                <a:cs typeface="Cambria" pitchFamily="34" charset="-120"/>
              </a:rPr>
              <a:t>BioViL</a:t>
            </a:r>
            <a:r>
              <a:rPr lang="fr-FR" sz="1400" b="1" noProof="0" dirty="0">
                <a:solidFill>
                  <a:srgbClr val="16243F"/>
                </a:solidFill>
                <a:latin typeface="Cambria" pitchFamily="34" charset="0"/>
                <a:ea typeface="Cambria" pitchFamily="34" charset="-122"/>
                <a:cs typeface="Cambria" pitchFamily="34" charset="-120"/>
              </a:rPr>
              <a:t>-T</a:t>
            </a:r>
            <a:endParaRPr lang="fr-FR" sz="1400" noProof="0" dirty="0"/>
          </a:p>
        </p:txBody>
      </p:sp>
      <p:sp>
        <p:nvSpPr>
          <p:cNvPr id="16" name="Text 13"/>
          <p:cNvSpPr/>
          <p:nvPr/>
        </p:nvSpPr>
        <p:spPr>
          <a:xfrm>
            <a:off x="914400" y="4197096"/>
            <a:ext cx="10332720" cy="420624"/>
          </a:xfrm>
          <a:prstGeom prst="rect">
            <a:avLst/>
          </a:prstGeom>
          <a:noFill/>
          <a:ln/>
        </p:spPr>
        <p:txBody>
          <a:bodyPr wrap="square" lIns="0" tIns="0" rIns="0" bIns="0" rtlCol="0" anchor="t"/>
          <a:lstStyle/>
          <a:p>
            <a:pPr marL="0" indent="0">
              <a:lnSpc>
                <a:spcPct val="100000"/>
              </a:lnSpc>
              <a:buNone/>
            </a:pPr>
            <a:r>
              <a:rPr lang="fr-FR" sz="1150" noProof="0" dirty="0" err="1">
                <a:solidFill>
                  <a:srgbClr val="1F2A37"/>
                </a:solidFill>
                <a:latin typeface="Calibri" pitchFamily="34" charset="0"/>
                <a:ea typeface="Calibri" pitchFamily="34" charset="-122"/>
                <a:cs typeface="Calibri" pitchFamily="34" charset="-120"/>
              </a:rPr>
              <a:t>Bannur</a:t>
            </a:r>
            <a:r>
              <a:rPr lang="fr-FR" sz="1150" noProof="0" dirty="0">
                <a:solidFill>
                  <a:srgbClr val="1F2A37"/>
                </a:solidFill>
                <a:latin typeface="Calibri" pitchFamily="34" charset="0"/>
                <a:ea typeface="Calibri" pitchFamily="34" charset="-122"/>
                <a:cs typeface="Calibri" pitchFamily="34" charset="-120"/>
              </a:rPr>
              <a:t>, S., Hyland, S., Liu, Q., et al. (2023). Learning to Exploit Temporal Structure for </a:t>
            </a:r>
            <a:r>
              <a:rPr lang="fr-FR" sz="1150" noProof="0" dirty="0" err="1">
                <a:solidFill>
                  <a:srgbClr val="1F2A37"/>
                </a:solidFill>
                <a:latin typeface="Calibri" pitchFamily="34" charset="0"/>
                <a:ea typeface="Calibri" pitchFamily="34" charset="-122"/>
                <a:cs typeface="Calibri" pitchFamily="34" charset="-120"/>
              </a:rPr>
              <a:t>Biomedical</a:t>
            </a:r>
            <a:r>
              <a:rPr lang="fr-FR" sz="1150" noProof="0" dirty="0">
                <a:solidFill>
                  <a:srgbClr val="1F2A37"/>
                </a:solidFill>
                <a:latin typeface="Calibri" pitchFamily="34" charset="0"/>
                <a:ea typeface="Calibri" pitchFamily="34" charset="-122"/>
                <a:cs typeface="Calibri" pitchFamily="34" charset="-120"/>
              </a:rPr>
              <a:t> Vision-</a:t>
            </a:r>
            <a:r>
              <a:rPr lang="fr-FR" sz="1150" noProof="0" dirty="0" err="1">
                <a:solidFill>
                  <a:srgbClr val="1F2A37"/>
                </a:solidFill>
                <a:latin typeface="Calibri" pitchFamily="34" charset="0"/>
                <a:ea typeface="Calibri" pitchFamily="34" charset="-122"/>
                <a:cs typeface="Calibri" pitchFamily="34" charset="-120"/>
              </a:rPr>
              <a:t>Language</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Processing</a:t>
            </a:r>
            <a:r>
              <a:rPr lang="fr-FR" sz="1150" noProof="0" dirty="0">
                <a:solidFill>
                  <a:srgbClr val="1F2A37"/>
                </a:solidFill>
                <a:latin typeface="Calibri" pitchFamily="34" charset="0"/>
                <a:ea typeface="Calibri" pitchFamily="34" charset="-122"/>
                <a:cs typeface="Calibri" pitchFamily="34" charset="-120"/>
              </a:rPr>
              <a:t>. CVPR 2023.</a:t>
            </a:r>
            <a:endParaRPr lang="fr-FR" sz="1150" noProof="0" dirty="0"/>
          </a:p>
        </p:txBody>
      </p:sp>
      <p:sp>
        <p:nvSpPr>
          <p:cNvPr id="17" name="Text 14"/>
          <p:cNvSpPr/>
          <p:nvPr/>
        </p:nvSpPr>
        <p:spPr>
          <a:xfrm>
            <a:off x="914400" y="4599432"/>
            <a:ext cx="10332720" cy="237744"/>
          </a:xfrm>
          <a:prstGeom prst="rect">
            <a:avLst/>
          </a:prstGeom>
          <a:noFill/>
          <a:ln/>
        </p:spPr>
        <p:txBody>
          <a:bodyPr wrap="square" lIns="0" tIns="0" rIns="0" bIns="0" rtlCol="0" anchor="ctr"/>
          <a:lstStyle/>
          <a:p>
            <a:pPr marL="0" indent="0">
              <a:buNone/>
            </a:pPr>
            <a:r>
              <a:rPr lang="fr-FR" sz="1050" i="1" noProof="0" dirty="0">
                <a:solidFill>
                  <a:srgbClr val="12798A"/>
                </a:solidFill>
                <a:latin typeface="Calibri" pitchFamily="34" charset="0"/>
                <a:ea typeface="Calibri" pitchFamily="34" charset="-122"/>
                <a:cs typeface="Calibri" pitchFamily="34" charset="-120"/>
              </a:rPr>
              <a:t>Modèle : </a:t>
            </a:r>
            <a:r>
              <a:rPr lang="fr-FR" sz="1050" i="1" noProof="0" dirty="0" err="1">
                <a:solidFill>
                  <a:srgbClr val="12798A"/>
                </a:solidFill>
                <a:latin typeface="Calibri" pitchFamily="34" charset="0"/>
                <a:ea typeface="Calibri" pitchFamily="34" charset="-122"/>
                <a:cs typeface="Calibri" pitchFamily="34" charset="-120"/>
              </a:rPr>
              <a:t>microsoft</a:t>
            </a:r>
            <a:r>
              <a:rPr lang="fr-FR" sz="1050" i="1" noProof="0" dirty="0">
                <a:solidFill>
                  <a:srgbClr val="12798A"/>
                </a:solidFill>
                <a:latin typeface="Calibri" pitchFamily="34" charset="0"/>
                <a:ea typeface="Calibri" pitchFamily="34" charset="-122"/>
                <a:cs typeface="Calibri" pitchFamily="34" charset="-120"/>
              </a:rPr>
              <a:t>/</a:t>
            </a:r>
            <a:r>
              <a:rPr lang="fr-FR" sz="1050" i="1" noProof="0" dirty="0" err="1">
                <a:solidFill>
                  <a:srgbClr val="12798A"/>
                </a:solidFill>
                <a:latin typeface="Calibri" pitchFamily="34" charset="0"/>
                <a:ea typeface="Calibri" pitchFamily="34" charset="-122"/>
                <a:cs typeface="Calibri" pitchFamily="34" charset="-120"/>
              </a:rPr>
              <a:t>BiomedVLP</a:t>
            </a:r>
            <a:r>
              <a:rPr lang="fr-FR" sz="1050" i="1" noProof="0" dirty="0">
                <a:solidFill>
                  <a:srgbClr val="12798A"/>
                </a:solidFill>
                <a:latin typeface="Calibri" pitchFamily="34" charset="0"/>
                <a:ea typeface="Calibri" pitchFamily="34" charset="-122"/>
                <a:cs typeface="Calibri" pitchFamily="34" charset="-120"/>
              </a:rPr>
              <a:t>-</a:t>
            </a:r>
            <a:r>
              <a:rPr lang="fr-FR" sz="1050" i="1" noProof="0" dirty="0" err="1">
                <a:solidFill>
                  <a:srgbClr val="12798A"/>
                </a:solidFill>
                <a:latin typeface="Calibri" pitchFamily="34" charset="0"/>
                <a:ea typeface="Calibri" pitchFamily="34" charset="-122"/>
                <a:cs typeface="Calibri" pitchFamily="34" charset="-120"/>
              </a:rPr>
              <a:t>BioViL</a:t>
            </a:r>
            <a:r>
              <a:rPr lang="fr-FR" sz="1050" i="1" noProof="0" dirty="0">
                <a:solidFill>
                  <a:srgbClr val="12798A"/>
                </a:solidFill>
                <a:latin typeface="Calibri" pitchFamily="34" charset="0"/>
                <a:ea typeface="Calibri" pitchFamily="34" charset="-122"/>
                <a:cs typeface="Calibri" pitchFamily="34" charset="-120"/>
              </a:rPr>
              <a:t>-T</a:t>
            </a:r>
            <a:endParaRPr lang="fr-FR" sz="1050" noProof="0" dirty="0"/>
          </a:p>
        </p:txBody>
      </p:sp>
      <p:sp>
        <p:nvSpPr>
          <p:cNvPr id="18" name="Shape 15"/>
          <p:cNvSpPr/>
          <p:nvPr/>
        </p:nvSpPr>
        <p:spPr>
          <a:xfrm>
            <a:off x="640080" y="5029200"/>
            <a:ext cx="10908792" cy="1325880"/>
          </a:xfrm>
          <a:prstGeom prst="roundRect">
            <a:avLst>
              <a:gd name="adj" fmla="val 6207"/>
            </a:avLst>
          </a:prstGeom>
          <a:solidFill>
            <a:srgbClr val="E4F3F5"/>
          </a:solidFill>
          <a:ln/>
          <a:effectLst>
            <a:outerShdw blurRad="88900" dist="25400" dir="5400000" algn="bl" rotWithShape="0">
              <a:srgbClr val="000000">
                <a:alpha val="10000"/>
              </a:srgbClr>
            </a:outerShdw>
          </a:effectLst>
        </p:spPr>
        <p:txBody>
          <a:bodyPr/>
          <a:lstStyle/>
          <a:p>
            <a:endParaRPr lang="fr-FR" noProof="0" dirty="0"/>
          </a:p>
        </p:txBody>
      </p:sp>
      <p:sp>
        <p:nvSpPr>
          <p:cNvPr id="19" name="Shape 16"/>
          <p:cNvSpPr/>
          <p:nvPr/>
        </p:nvSpPr>
        <p:spPr>
          <a:xfrm>
            <a:off x="914400" y="5321808"/>
            <a:ext cx="603504" cy="603504"/>
          </a:xfrm>
          <a:prstGeom prst="ellipse">
            <a:avLst/>
          </a:prstGeom>
          <a:solidFill>
            <a:srgbClr val="1FA8B8"/>
          </a:solidFill>
          <a:ln/>
        </p:spPr>
        <p:txBody>
          <a:bodyPr/>
          <a:lstStyle/>
          <a:p>
            <a:endParaRPr lang="fr-FR" noProof="0" dirty="0"/>
          </a:p>
        </p:txBody>
      </p:sp>
      <p:pic>
        <p:nvPicPr>
          <p:cNvPr id="20" name="Image 1" descr="preencoded.png"/>
          <p:cNvPicPr>
            <a:picLocks noChangeAspect="1"/>
          </p:cNvPicPr>
          <p:nvPr/>
        </p:nvPicPr>
        <p:blipFill>
          <a:blip r:embed="rId4"/>
          <a:stretch>
            <a:fillRect/>
          </a:stretch>
        </p:blipFill>
        <p:spPr>
          <a:xfrm>
            <a:off x="1078992" y="5486400"/>
            <a:ext cx="274320" cy="274320"/>
          </a:xfrm>
          <a:prstGeom prst="rect">
            <a:avLst/>
          </a:prstGeom>
        </p:spPr>
      </p:pic>
      <p:sp>
        <p:nvSpPr>
          <p:cNvPr id="21" name="Text 17"/>
          <p:cNvSpPr/>
          <p:nvPr/>
        </p:nvSpPr>
        <p:spPr>
          <a:xfrm>
            <a:off x="1691640" y="5175504"/>
            <a:ext cx="9692640" cy="320040"/>
          </a:xfrm>
          <a:prstGeom prst="rect">
            <a:avLst/>
          </a:prstGeom>
          <a:noFill/>
          <a:ln/>
        </p:spPr>
        <p:txBody>
          <a:bodyPr wrap="square" lIns="0" tIns="0" rIns="0" bIns="0" rtlCol="0" anchor="ctr"/>
          <a:lstStyle/>
          <a:p>
            <a:pPr marL="0" indent="0">
              <a:buNone/>
            </a:pPr>
            <a:r>
              <a:rPr lang="fr-FR" sz="1450" b="1" noProof="0" dirty="0">
                <a:solidFill>
                  <a:srgbClr val="16243F"/>
                </a:solidFill>
                <a:latin typeface="Cambria" pitchFamily="34" charset="0"/>
                <a:ea typeface="Cambria" pitchFamily="34" charset="-122"/>
                <a:cs typeface="Cambria" pitchFamily="34" charset="-120"/>
              </a:rPr>
              <a:t>Protection des données (RGPD)</a:t>
            </a:r>
            <a:endParaRPr lang="fr-FR" sz="1450" noProof="0" dirty="0"/>
          </a:p>
        </p:txBody>
      </p:sp>
      <p:sp>
        <p:nvSpPr>
          <p:cNvPr id="22" name="Text 18"/>
          <p:cNvSpPr/>
          <p:nvPr/>
        </p:nvSpPr>
        <p:spPr>
          <a:xfrm>
            <a:off x="1691640" y="5522976"/>
            <a:ext cx="9646920" cy="777240"/>
          </a:xfrm>
          <a:prstGeom prst="rect">
            <a:avLst/>
          </a:prstGeom>
          <a:noFill/>
          <a:ln/>
        </p:spPr>
        <p:txBody>
          <a:bodyPr wrap="square" lIns="0" tIns="0" rIns="0" bIns="0" rtlCol="0" anchor="t"/>
          <a:lstStyle/>
          <a:p>
            <a:pPr marL="0" indent="0">
              <a:lnSpc>
                <a:spcPct val="104000"/>
              </a:lnSpc>
              <a:buNone/>
            </a:pPr>
            <a:r>
              <a:rPr lang="fr-FR" sz="1200" noProof="0" dirty="0">
                <a:solidFill>
                  <a:srgbClr val="1F2A37"/>
                </a:solidFill>
                <a:latin typeface="Calibri" pitchFamily="34" charset="0"/>
                <a:ea typeface="Calibri" pitchFamily="34" charset="-122"/>
                <a:cs typeface="Calibri" pitchFamily="34" charset="-120"/>
              </a:rPr>
              <a:t>Données de santé au sens de l'article 9 du RGPD, fournies dé-identifiées et utilisées dans le seul cadre de la recherche et de la formation - sans tentative de </a:t>
            </a:r>
            <a:r>
              <a:rPr lang="fr-FR" sz="1200" noProof="0" dirty="0" err="1">
                <a:solidFill>
                  <a:srgbClr val="1F2A37"/>
                </a:solidFill>
                <a:latin typeface="Calibri" pitchFamily="34" charset="0"/>
                <a:ea typeface="Calibri" pitchFamily="34" charset="-122"/>
                <a:cs typeface="Calibri" pitchFamily="34" charset="-120"/>
              </a:rPr>
              <a:t>ré-identification</a:t>
            </a:r>
            <a:r>
              <a:rPr lang="fr-FR" sz="1200" noProof="0" dirty="0">
                <a:solidFill>
                  <a:srgbClr val="1F2A37"/>
                </a:solidFill>
                <a:latin typeface="Calibri" pitchFamily="34" charset="0"/>
                <a:ea typeface="Calibri" pitchFamily="34" charset="-122"/>
                <a:cs typeface="Calibri" pitchFamily="34" charset="-120"/>
              </a:rPr>
              <a:t>, selon un principe de minimisation (une image par patient) et conformément à l'accord d'usage applicable.</a:t>
            </a:r>
            <a:endParaRPr lang="fr-FR" sz="1200" noProof="0" dirty="0"/>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11</a:t>
            </a:fld>
            <a:endParaRPr lang="fr-FR"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6629400" y="2560320"/>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6629400" y="3931920"/>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C7D6"/>
                </a:solidFill>
                <a:latin typeface="Calibri"/>
                <a:ea typeface="Calibri"/>
                <a:cs typeface="Calibri"/>
              </a:defRPr>
            </a:lvl1pPr>
          </a:lstStyle>
          <a:p>
            <a:pPr algn="r"/>
            <a:fld id="{F7021451-1387-4CA6-816F-3879F97B5CBC}" type="slidenum">
              <a:rPr lang="fr-FR" b="0" noProof="0" smtClean="0"/>
              <a:t>12</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2053087" y="2432649"/>
            <a:ext cx="6806242" cy="1661993"/>
          </a:xfrm>
          <a:prstGeom prst="rect">
            <a:avLst/>
          </a:prstGeom>
          <a:noFill/>
        </p:spPr>
        <p:txBody>
          <a:bodyPr wrap="square" rtlCol="0">
            <a:spAutoFit/>
          </a:bodyPr>
          <a:lstStyle/>
          <a:p>
            <a:pPr algn="ctr"/>
            <a:r>
              <a:rPr lang="fr-FR" sz="2800" noProof="0" dirty="0">
                <a:solidFill>
                  <a:schemeClr val="bg1"/>
                </a:solidFill>
                <a:latin typeface="Cambria" panose="02040503050406030204" pitchFamily="18" charset="0"/>
                <a:ea typeface="Cambria" panose="02040503050406030204" pitchFamily="18" charset="0"/>
              </a:rPr>
              <a:t>Des questions ?</a:t>
            </a:r>
            <a:br>
              <a:rPr lang="fr-FR" sz="2800" noProof="0" dirty="0">
                <a:solidFill>
                  <a:schemeClr val="bg1"/>
                </a:solidFill>
                <a:latin typeface="Cambria" panose="02040503050406030204" pitchFamily="18" charset="0"/>
                <a:ea typeface="Cambria" panose="02040503050406030204" pitchFamily="18" charset="0"/>
              </a:rPr>
            </a:br>
            <a:br>
              <a:rPr lang="fr-FR" sz="2800" noProof="0" dirty="0">
                <a:solidFill>
                  <a:schemeClr val="bg1"/>
                </a:solidFill>
                <a:latin typeface="Cambria" panose="02040503050406030204" pitchFamily="18" charset="0"/>
                <a:ea typeface="Cambria" panose="02040503050406030204" pitchFamily="18" charset="0"/>
              </a:rPr>
            </a:br>
            <a:r>
              <a:rPr lang="fr-FR" sz="2800" noProof="0" dirty="0">
                <a:solidFill>
                  <a:schemeClr val="bg1"/>
                </a:solidFill>
                <a:latin typeface="Cambria" panose="02040503050406030204" pitchFamily="18" charset="0"/>
                <a:ea typeface="Cambria" panose="02040503050406030204" pitchFamily="18" charset="0"/>
              </a:rPr>
              <a:t>Merci de votre attention ! </a:t>
            </a:r>
          </a:p>
          <a:p>
            <a:pPr algn="ctr"/>
            <a:r>
              <a:rPr lang="fr-FR" noProof="0" dirty="0"/>
              <a:t> </a:t>
            </a:r>
          </a:p>
        </p:txBody>
      </p:sp>
      <p:sp>
        <p:nvSpPr>
          <p:cNvPr id="26" name="ZoneTexte 25">
            <a:extLst>
              <a:ext uri="{FF2B5EF4-FFF2-40B4-BE49-F238E27FC236}">
                <a16:creationId xmlns:a16="http://schemas.microsoft.com/office/drawing/2014/main" id="{90941A79-90BF-0303-C9D0-815A918A4A2C}"/>
              </a:ext>
            </a:extLst>
          </p:cNvPr>
          <p:cNvSpPr txBox="1"/>
          <p:nvPr/>
        </p:nvSpPr>
        <p:spPr>
          <a:xfrm>
            <a:off x="698740" y="5089585"/>
            <a:ext cx="10593237" cy="1415772"/>
          </a:xfrm>
          <a:prstGeom prst="rect">
            <a:avLst/>
          </a:prstGeom>
          <a:noFill/>
        </p:spPr>
        <p:txBody>
          <a:bodyPr wrap="square" rtlCol="0">
            <a:spAutoFit/>
          </a:bodyPr>
          <a:lstStyle/>
          <a:p>
            <a:pPr marL="114300" indent="0">
              <a:buNone/>
            </a:pPr>
            <a:endParaRPr lang="fr-FR" noProof="0" dirty="0">
              <a:latin typeface="Abadi" panose="020B0604020104020204" pitchFamily="34" charset="0"/>
            </a:endParaRPr>
          </a:p>
          <a:p>
            <a:pPr marL="114300" indent="0">
              <a:buNone/>
            </a:pPr>
            <a:r>
              <a:rPr lang="fr-FR" sz="1000" noProof="0" dirty="0">
                <a:solidFill>
                  <a:schemeClr val="bg1"/>
                </a:solidFill>
                <a:latin typeface="Cambria" panose="02040503050406030204" pitchFamily="18" charset="0"/>
                <a:ea typeface="Cambria" panose="02040503050406030204" pitchFamily="18" charset="0"/>
              </a:rPr>
              <a:t>Licence et utilisation :</a:t>
            </a:r>
          </a:p>
          <a:p>
            <a:pPr marL="114300" indent="0">
              <a:buNone/>
            </a:pPr>
            <a:r>
              <a:rPr lang="fr-FR" sz="1000" noProof="0" dirty="0">
                <a:solidFill>
                  <a:schemeClr val="bg1"/>
                </a:solidFill>
                <a:latin typeface="Cambria" panose="02040503050406030204" pitchFamily="18" charset="0"/>
                <a:ea typeface="Cambria" panose="02040503050406030204" pitchFamily="18" charset="0"/>
              </a:rPr>
              <a:t>Cet ensemble de données est publié à des fins éducatives et de recherche uniquement.</a:t>
            </a:r>
          </a:p>
          <a:p>
            <a:pPr marL="114300" indent="0">
              <a:buNone/>
            </a:pPr>
            <a:r>
              <a:rPr lang="fr-FR" sz="1000" noProof="0" dirty="0">
                <a:solidFill>
                  <a:schemeClr val="bg1"/>
                </a:solidFill>
                <a:latin typeface="Cambria" panose="02040503050406030204" pitchFamily="18" charset="0"/>
                <a:ea typeface="Cambria" panose="02040503050406030204" pitchFamily="18" charset="0"/>
              </a:rPr>
              <a:t>Il s’agit d’une version traitée de données raclées, avec des transformations pour respecter la vie privée et éviter la redistribution du contenu propriétaire brut.</a:t>
            </a:r>
          </a:p>
          <a:p>
            <a:pPr marL="114300" indent="0">
              <a:buNone/>
            </a:pPr>
            <a:r>
              <a:rPr lang="fr-FR" sz="1000" noProof="0" dirty="0">
                <a:solidFill>
                  <a:schemeClr val="bg1"/>
                </a:solidFill>
                <a:latin typeface="Cambria" panose="02040503050406030204" pitchFamily="18" charset="0"/>
                <a:ea typeface="Cambria" panose="02040503050406030204" pitchFamily="18" charset="0"/>
              </a:rPr>
              <a:t>Ne l'utilisez pas à des fins commerciales.</a:t>
            </a:r>
          </a:p>
          <a:p>
            <a:pPr marL="114300" indent="0">
              <a:buNone/>
            </a:pPr>
            <a:r>
              <a:rPr lang="fr-FR" sz="1000" noProof="0" dirty="0">
                <a:solidFill>
                  <a:schemeClr val="bg1"/>
                </a:solidFill>
                <a:latin typeface="Cambria" panose="02040503050406030204" pitchFamily="18" charset="0"/>
                <a:ea typeface="Cambria" panose="02040503050406030204" pitchFamily="18" charset="0"/>
              </a:rPr>
              <a:t>L'attribution est appréciée si elle est utilisée dans des projets académiques ou personnels.</a:t>
            </a:r>
          </a:p>
          <a:p>
            <a:endParaRPr lang="fr-FR" noProof="0" dirty="0"/>
          </a:p>
        </p:txBody>
      </p:sp>
      <p:sp>
        <p:nvSpPr>
          <p:cNvPr id="2" name="Shape 0">
            <a:extLst>
              <a:ext uri="{FF2B5EF4-FFF2-40B4-BE49-F238E27FC236}">
                <a16:creationId xmlns:a16="http://schemas.microsoft.com/office/drawing/2014/main" id="{AB2DBBB2-0054-B161-A744-D06F2F1E22AC}"/>
              </a:ext>
            </a:extLst>
          </p:cNvPr>
          <p:cNvSpPr/>
          <p:nvPr/>
        </p:nvSpPr>
        <p:spPr>
          <a:xfrm>
            <a:off x="3078768" y="622438"/>
            <a:ext cx="4754880" cy="4754880"/>
          </a:xfrm>
          <a:prstGeom prst="ellipse">
            <a:avLst/>
          </a:prstGeom>
          <a:solidFill>
            <a:srgbClr val="1FA8B8">
              <a:alpha val="13725"/>
            </a:srgbClr>
          </a:solidFill>
          <a:ln/>
        </p:spPr>
        <p:txBody>
          <a:bodyPr/>
          <a:lstStyle/>
          <a:p>
            <a:endParaRPr lang="fr-FR"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736</TotalTime>
  <Words>1875</Words>
  <Application>Microsoft Office PowerPoint</Application>
  <PresentationFormat>Grand écran</PresentationFormat>
  <Paragraphs>190</Paragraphs>
  <Slides>12</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Abadi</vt: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Auditeur de Cohérence Médicale</dc:title>
  <dc:subject>PptxGenJS Presentation</dc:subject>
  <dc:creator>Auditeur de Cohérence Médicale</dc:creator>
  <cp:lastModifiedBy>Aicha FATHELLAH</cp:lastModifiedBy>
  <cp:revision>50</cp:revision>
  <dcterms:created xsi:type="dcterms:W3CDTF">2026-06-11T21:05:50Z</dcterms:created>
  <dcterms:modified xsi:type="dcterms:W3CDTF">2026-06-30T13:18:24Z</dcterms:modified>
</cp:coreProperties>
</file>