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6C-4B0A-B7DE-4DF07E3449ED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6C-4B0A-B7DE-4DF07E3449E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6C-4B0A-B7DE-4DF07E3449ED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Lin. Regression</c:v>
                </c:pt>
                <c:pt idx="1">
                  <c:v>Ridge (a=0.1)</c:v>
                </c:pt>
                <c:pt idx="2">
                  <c:v>Lasso (a=1000)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0.93130000000000002</c:v>
                </c:pt>
                <c:pt idx="1">
                  <c:v>0.9365</c:v>
                </c:pt>
                <c:pt idx="2">
                  <c:v>0.94379999999999997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6C-4B0A-B7DE-4DF07E3449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Test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25-4C6A-8ABC-6A6CE8994CEB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25-4C6A-8ABC-6A6CE8994CEB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25-4C6A-8ABC-6A6CE8994C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Lin. Regression</c:v>
                </c:pt>
                <c:pt idx="1">
                  <c:v>Ridge (a=0.1)</c:v>
                </c:pt>
                <c:pt idx="2">
                  <c:v>Lasso (a=1000)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127770</c:v>
                </c:pt>
                <c:pt idx="1">
                  <c:v>117536</c:v>
                </c:pt>
                <c:pt idx="2">
                  <c:v>114353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25-4C6A-8ABC-6A6CE8994C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0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9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08710"/>
            <a:ext cx="822960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800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ventes hebdomadaires</a:t>
            </a:r>
            <a:endParaRPr lang="fr-FR" sz="3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supervisé - Régression linéaire et régularisée</a:t>
            </a:r>
            <a:endParaRPr lang="fr-F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: Python  |  pandas  |  scikit-learn  |  matplotlib</a:t>
            </a:r>
            <a:endParaRPr lang="fr-F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 du projet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jeu de données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- EDA</a:t>
            </a:r>
            <a:endParaRPr lang="fr-F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fr-F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0" y="10424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257800" y="1042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- Régréssion linéaire (baseline)</a:t>
            </a:r>
            <a:endParaRPr lang="fr-FR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1810512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54880" y="19385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5257800" y="1938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- Ridge et Lasso</a:t>
            </a:r>
            <a:endParaRPr lang="fr-FR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4754880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fr-FR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5257800" y="2834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comparaison des modèles</a:t>
            </a:r>
            <a:endParaRPr lang="fr-FR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4754880" y="36027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4754880" y="3602736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4754880" y="3730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fr-FR" sz="1400" noProof="0" dirty="0"/>
          </a:p>
        </p:txBody>
      </p:sp>
      <p:sp>
        <p:nvSpPr>
          <p:cNvPr id="35" name="Text 33"/>
          <p:cNvSpPr/>
          <p:nvPr/>
        </p:nvSpPr>
        <p:spPr>
          <a:xfrm>
            <a:off x="5257800" y="3730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et recommandations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Contexte et objectifs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fr-F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Inc. est le premier distributeur mondial, fondé en 1962 par Sam Walton.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marketing souhaite un modèle capable d'estimer les ventes hebdomadaires de ses magasins.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 modèle permettrait de mieux comprendre l'influence des indicateurs économiques et d'optimiser les campagnes marketing.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932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fr-FR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0916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fr-F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5596128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et prétraitement des données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709160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5596128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 linéaire (baseline)</a:t>
            </a:r>
            <a:endParaRPr lang="fr-F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fr-F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5596128" y="2962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Ridge et Lasso pour réduire l'</a:t>
            </a:r>
            <a:r>
              <a:rPr lang="fr-FR" sz="11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fr-F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365760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4709160" y="3694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fr-F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5596128" y="3694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 l'hyperparamètre alpha via GridSearchCV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02 - Description du jeu de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fr-F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initiales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242316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fr-FR" sz="3200" noProof="0" dirty="0"/>
          </a:p>
        </p:txBody>
      </p:sp>
      <p:sp>
        <p:nvSpPr>
          <p:cNvPr id="9" name="Text 7"/>
          <p:cNvSpPr/>
          <p:nvPr/>
        </p:nvSpPr>
        <p:spPr>
          <a:xfrm>
            <a:off x="242316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d'origine</a:t>
            </a:r>
            <a:endParaRPr lang="fr-F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fr-FR" sz="32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après nettoyage</a:t>
            </a:r>
            <a:endParaRPr lang="fr-FR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672084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fr-FR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672084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après preprocessing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 dataset</a:t>
            </a:r>
            <a:endParaRPr lang="fr-FR" sz="14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10365"/>
              </p:ext>
            </p:extLst>
          </p:nvPr>
        </p:nvGraphicFramePr>
        <p:xfrm>
          <a:off x="274320" y="2331720"/>
          <a:ext cx="8229600" cy="25176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Weekly_Sales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hebdomadaires ($)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(y)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du magasin (19 magasins)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Holiday_Flag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d'un jour férié (0 ou 1)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régionale (degrés F)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Fuel_Price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du carburant ($)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des prix à la consommation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chômage régional (%)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Semaine - décomposée en Year/Month/Day (DayOfWeek écartée - variance nulle)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 (transformée)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Analyse exploratoire (EDA)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1 - Distribution des ventes</a:t>
            </a:r>
            <a:endParaRPr lang="fr-F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bimodale (270k$ à 2,8M$), médiane ~1,2M$.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groupes de magasins aux profils très distincts. Moustache droite allongée : hétérogénéité inter-magasins réelle.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80060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2 - Evolution temporelle</a:t>
            </a:r>
            <a:endParaRPr lang="fr-F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480060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haussière et saisonnalité régulière, justifiant l'extraction de features Year, Month, Day.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25856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228600" y="2258568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3 - Hétérogénéité inter-magasins</a:t>
            </a:r>
            <a:endParaRPr lang="fr-F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264261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Certains magasins génèrent 3x plus de ventes. 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est la variable la plus déterminante du modèle.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663440" y="225856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4663440" y="2258568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4 - Indicateurs économiques</a:t>
            </a:r>
            <a:endParaRPr lang="fr-F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800600" y="264261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Fêtes : +7,5% de ventes. IPC (CPI) : r = -0,29 - hausse = perte de pouvoir d'achat = baisse des ventes. Chômage élevé : tendance négative marquée sur les ventes.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364845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3648456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5 - Matrice de corrélation</a:t>
            </a:r>
            <a:endParaRPr lang="fr-F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0325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variable isolée n'est fortement corrélée a la cible (max |r| = 0.29). Combinaison nécessaire.</a:t>
            </a:r>
            <a:endParaRPr lang="fr-F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4663440" y="364845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4663440" y="3648456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80060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6 - Corrélation Features vs Target</a:t>
            </a:r>
            <a:endParaRPr lang="fr-F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4800600" y="40325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CPI (|r|=0.287) et Température (|r|=0.166) sont les plus corrélées. 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|r| restent sous 0.30.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04 -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Pretraitement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des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avec pandas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1380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1</a:t>
            </a:r>
            <a:endParaRPr lang="fr-F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14 lignes ou Weekly_Sales est manquant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(aucune imputation sur la variable cible)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fr-F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1143000" y="24505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de Date en 3 features : Year, Month, Day (DayOfWeek écartée - variance nulle)</a:t>
            </a:r>
            <a:endParaRPr lang="fr-F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11480" y="354787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11480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fr-F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des outliers hors [X - 3sigma, X + 3sigma]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Temperature, Fuel_Price, CPI, Unemployment</a:t>
            </a:r>
            <a:endParaRPr lang="fr-F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61772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avec scikit-learn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135331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1380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fr-F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5961888" y="135331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(19 magasins - 1 = 18 cols)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Holiday_Flag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(2 valeurs - 1 = 1 col)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drop='first' pour éviter la multi colinéarité</a:t>
            </a:r>
            <a:endParaRPr lang="fr-F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4709160" y="24780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fr-F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5961888" y="2450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Fuel_Price, CPI, Unemployment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(</a:t>
            </a: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=0) et réduit (std=1)</a:t>
            </a:r>
            <a:endParaRPr lang="fr-F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4709160" y="354787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09160" y="3575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final</a:t>
            </a:r>
            <a:endParaRPr lang="fr-FR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961888" y="354787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(56, 26)  |  </a:t>
            </a: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(15, 26)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colonnes = 18 + 1 + 7 (cohérent)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Modélisation - Régression linéaire (baseline)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0.9865</a:t>
            </a:r>
            <a:endParaRPr lang="fr-FR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1920240" cy="73152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24231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0.9313</a:t>
            </a:r>
            <a:endParaRPr lang="fr-FR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242316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1920240" cy="73152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127 770 $</a:t>
            </a:r>
            <a:endParaRPr lang="fr-FR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672084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6720840" y="804672"/>
            <a:ext cx="1920240" cy="73152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7208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149 685 $</a:t>
            </a:r>
            <a:endParaRPr lang="fr-FR" sz="2200" noProof="0" dirty="0"/>
          </a:p>
        </p:txBody>
      </p:sp>
      <p:sp>
        <p:nvSpPr>
          <p:cNvPr id="19" name="Text 17"/>
          <p:cNvSpPr/>
          <p:nvPr/>
        </p:nvSpPr>
        <p:spPr>
          <a:xfrm>
            <a:off x="672084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274320" y="187452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Train-Test : 0.9865 - 0.9313 = 0.0552 - Surapprentissage (overfitting) détecté - nécessaire de régulariser</a:t>
            </a:r>
            <a:endParaRPr lang="fr-F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20040" y="24048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 variables - impact sur </a:t>
            </a:r>
            <a:r>
              <a:rPr lang="fr-F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Weekly_Sales</a:t>
            </a:r>
            <a:endParaRPr lang="fr-F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658368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Store (identité magasin)</a:t>
            </a:r>
            <a:endParaRPr lang="fr-F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32461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fr-F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365760" y="317296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658368" y="3172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Year</a:t>
            </a:r>
            <a:endParaRPr lang="fr-F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324612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Elevé</a:t>
            </a:r>
            <a:endParaRPr lang="fr-FR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228600" cy="2286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658368" y="3493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Unemployment</a:t>
            </a:r>
            <a:endParaRPr lang="fr-F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324612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fr-FR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365760" y="381304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58368" y="3813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Month</a:t>
            </a:r>
            <a:endParaRPr lang="fr-FR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324612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fr-FR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658368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Holiday_Flag</a:t>
            </a:r>
            <a:endParaRPr lang="fr-FR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3246120" y="4133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365760" y="4453128"/>
            <a:ext cx="228600" cy="2286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658368" y="4453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CPI, Temperature</a:t>
            </a:r>
            <a:endParaRPr lang="fr-FR" sz="1000" noProof="0" dirty="0"/>
          </a:p>
        </p:txBody>
      </p:sp>
      <p:sp>
        <p:nvSpPr>
          <p:cNvPr id="42" name="Text 40"/>
          <p:cNvSpPr/>
          <p:nvPr/>
        </p:nvSpPr>
        <p:spPr>
          <a:xfrm>
            <a:off x="3246120" y="44531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fr-FR" sz="1000" noProof="0" dirty="0"/>
          </a:p>
        </p:txBody>
      </p:sp>
      <p:sp>
        <p:nvSpPr>
          <p:cNvPr id="43" name="Shape 41"/>
          <p:cNvSpPr/>
          <p:nvPr/>
        </p:nvSpPr>
        <p:spPr>
          <a:xfrm>
            <a:off x="4663440" y="237744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4663440" y="2377440"/>
            <a:ext cx="4206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4709160" y="24048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du modèle</a:t>
            </a:r>
            <a:endParaRPr lang="fr-FR" sz="1200" noProof="0" dirty="0"/>
          </a:p>
        </p:txBody>
      </p:sp>
      <p:sp>
        <p:nvSpPr>
          <p:cNvPr id="46" name="Text 44"/>
          <p:cNvSpPr/>
          <p:nvPr/>
        </p:nvSpPr>
        <p:spPr>
          <a:xfrm>
            <a:off x="4800600" y="283464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prédictions se regroupent autour de la droite parfaite (y=x), confirmant la performance globale du modèle.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résidus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résidus sont distribués autour de 0 sans structure particulière. Les hypothèses du modèle linéaire sont respectées.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Régularisation - Ridge et Lasso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La régularisation pénalise les grands coefficients pour réduire l'overfitting. </a:t>
            </a:r>
          </a:p>
          <a:p>
            <a:pPr marL="0" indent="0">
              <a:buNone/>
            </a:pP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L'hyperparamètre alpha contrôle la force de la pénalité : plus alpha est grand, plus les </a:t>
            </a:r>
            <a:r>
              <a:rPr lang="fr-FR" sz="1100" i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coéfficients</a:t>
            </a: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sont contraints.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- Meilleur alpha = 0.1</a:t>
            </a:r>
            <a:endParaRPr lang="fr-F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la somme des carres des coefficients (L2). Réduit tous les coefficients sans les annuler.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(cv=5)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alpha = 0.1. Le R² chute rapidement au-delà : une régularisation trop forte conduit au sous-apprentissage.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: 0.9821  |  R² Test : 0.9365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: 117 536 $  |  RMSE : 143 863 $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Train-Test : 0.0456 (réduit vs Baseline)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09160" y="1527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- Meilleur alpha = 1000</a:t>
            </a:r>
            <a:endParaRPr lang="fr-F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la somme des valeurs absolues (L1). Peut annuler certains coefficients : sélection automatique de variables.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(cv=5)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alpha = 1000. Le R² augmente jusqu’au bord de la grille : élargir la recherche (5 000, 10 000) pour confirmer l’optimum global.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: 0.9844  |  R² Test : 0.9438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: 114 353 $  |  RMSE : 135 369 $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Train-Test : 0.0406 (meilleur des 3)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 et comparaison des modèles</a:t>
            </a:r>
            <a:endParaRPr lang="fr-FR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performance comparatif</a:t>
            </a:r>
            <a:endParaRPr lang="fr-FR" sz="14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52003"/>
              </p:ext>
            </p:extLst>
          </p:nvPr>
        </p:nvGraphicFramePr>
        <p:xfrm>
          <a:off x="274320" y="1097280"/>
          <a:ext cx="8869680" cy="11704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Train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Ecart Train-Test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Linéaire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0.9313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127 770 $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149 685 $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E85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0.0552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(alpha = 0.1)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0.9821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0.9365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117 536 $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143 863 $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(alpha = 1000)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0.9438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114 353 $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135 369 $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0.0406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par modèle</a:t>
            </a:r>
            <a:endParaRPr lang="fr-FR" sz="1200" noProof="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2788920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75488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 par modèle ($)</a:t>
            </a:r>
            <a:endParaRPr lang="fr-FR" sz="1200" noProof="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54880" y="27889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Conclusions et recommandations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recommandé : Lasso (alpha = 1000) - Meilleur R² Test (0.9438), MAE et RMSE les plus faibles, overfitting le plus réduit, sélection automatique de variables.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023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importantes</a:t>
            </a:r>
            <a:endParaRPr lang="fr-F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320040" cy="32004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795528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fr-F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795528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dominant - hétérogénéité forte entre magasins</a:t>
            </a:r>
            <a:endParaRPr lang="fr-FR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320040" cy="3200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795528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fr-F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795528" y="2871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haussière des ventes dans le temps</a:t>
            </a:r>
            <a:endParaRPr lang="fr-FR" sz="950" noProof="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320040" cy="32004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795528" y="3145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fr-F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795528" y="3419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négative - chômage élevé = ventes faibles</a:t>
            </a:r>
            <a:endParaRPr lang="fr-FR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411480" y="3694176"/>
            <a:ext cx="320040" cy="3200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795528" y="3694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fr-F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795528" y="3968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mensuelle des ventes</a:t>
            </a:r>
            <a:endParaRPr lang="fr-FR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411480" y="4242816"/>
            <a:ext cx="3200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" y="427939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795528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Holiday_Flag</a:t>
            </a:r>
            <a:endParaRPr lang="fr-F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795528" y="45171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de fêtes : +7.5% de ventes en moyenne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4572000" y="155448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0" y="1554480"/>
            <a:ext cx="429768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4617720" y="1572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fr-FR" sz="1300" noProof="0" dirty="0"/>
          </a:p>
        </p:txBody>
      </p:sp>
      <p:sp>
        <p:nvSpPr>
          <p:cNvPr id="32" name="Text 30"/>
          <p:cNvSpPr/>
          <p:nvPr/>
        </p:nvSpPr>
        <p:spPr>
          <a:xfrm>
            <a:off x="470916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endParaRPr lang="fr-FR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4709160" y="23042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réduit (71 obs. après nettoyage) - résultats à confirmer sur plus de données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alpha Lasso (max 1000) pourrait être élargie pour confirmer l'optimum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suppose une relation linéaire entre X et y</a:t>
            </a:r>
            <a:endParaRPr lang="fr-FR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4709160" y="3401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fr-FR" sz="1200" noProof="0" dirty="0"/>
          </a:p>
        </p:txBody>
      </p:sp>
      <p:sp>
        <p:nvSpPr>
          <p:cNvPr id="35" name="Text 33"/>
          <p:cNvSpPr/>
          <p:nvPr/>
        </p:nvSpPr>
        <p:spPr>
          <a:xfrm>
            <a:off x="4709160" y="3675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des modèles non linéaires : Random Forest, XGBoost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dataset avec des données externes (météo, évènements)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production via une API pour prédiction en temps réel</a:t>
            </a:r>
            <a:endParaRPr lang="fr-FR" sz="10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itle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</a:rPr>
              <a:t>09 - Implications pour le service marketing</a:t>
            </a:r>
          </a:p>
        </p:txBody>
      </p:sp>
      <p:sp>
        <p:nvSpPr>
          <p:cNvPr id="4" name="SubBanner"/>
          <p:cNvSpPr/>
          <p:nvPr/>
        </p:nvSpPr>
        <p:spPr>
          <a:xfrm>
            <a:off x="274320" y="804672"/>
            <a:ext cx="8595360" cy="548640"/>
          </a:xfrm>
          <a:prstGeom prst="rect">
            <a:avLst/>
          </a:prstGeom>
          <a:solidFill>
            <a:srgbClr val="0071CE">
              <a:alpha val="12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ubText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071CE"/>
                </a:solidFill>
                <a:latin typeface="Calibri" pitchFamily="34" charset="0"/>
              </a:rPr>
              <a:t>Le modèle Lasso quantifie l'influence des indicateurs économiques - leviers actionables pour planifier les campagnes</a:t>
            </a:r>
          </a:p>
        </p:txBody>
      </p:sp>
      <p:sp>
        <p:nvSpPr>
          <p:cNvPr id="10" name="C1bg"/>
          <p:cNvSpPr/>
          <p:nvPr/>
        </p:nvSpPr>
        <p:spPr>
          <a:xfrm>
            <a:off x="228600" y="155448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2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C1hdr"/>
          <p:cNvSpPr/>
          <p:nvPr/>
        </p:nvSpPr>
        <p:spPr>
          <a:xfrm>
            <a:off x="228600" y="1554480"/>
            <a:ext cx="4069080" cy="292608"/>
          </a:xfrm>
          <a:prstGeom prst="rect">
            <a:avLst/>
          </a:prstGeom>
          <a:solidFill>
            <a:srgbClr val="FFC220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C1ttl"/>
          <p:cNvSpPr/>
          <p:nvPr/>
        </p:nvSpPr>
        <p:spPr>
          <a:xfrm>
            <a:off x="274320" y="1572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761"/>
                </a:solidFill>
                <a:latin typeface="Calibri" pitchFamily="34" charset="0"/>
              </a:rPr>
              <a:t>Jours fériés (Holiday_Flag)</a:t>
            </a:r>
          </a:p>
        </p:txBody>
      </p:sp>
      <p:sp>
        <p:nvSpPr>
          <p:cNvPr id="13" name="C1stat"/>
          <p:cNvSpPr/>
          <p:nvPr/>
        </p:nvSpPr>
        <p:spPr>
          <a:xfrm>
            <a:off x="274320" y="1884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FFC220"/>
                </a:solidFill>
                <a:latin typeface="Calibri" pitchFamily="34" charset="0"/>
              </a:rPr>
              <a:t>+7,5%</a:t>
            </a:r>
          </a:p>
        </p:txBody>
      </p:sp>
      <p:sp>
        <p:nvSpPr>
          <p:cNvPr id="14" name="C1txt"/>
          <p:cNvSpPr/>
          <p:nvPr/>
        </p:nvSpPr>
        <p:spPr>
          <a:xfrm>
            <a:off x="1920240" y="18843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Concentrer les budgets promotionnels sur les semaines de fêtes. Planifier les campagnes en avance.</a:t>
            </a:r>
          </a:p>
        </p:txBody>
      </p:sp>
      <p:sp>
        <p:nvSpPr>
          <p:cNvPr id="20" name="C2bg"/>
          <p:cNvSpPr/>
          <p:nvPr/>
        </p:nvSpPr>
        <p:spPr>
          <a:xfrm>
            <a:off x="4845960" y="155448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C2hdr"/>
          <p:cNvSpPr/>
          <p:nvPr/>
        </p:nvSpPr>
        <p:spPr>
          <a:xfrm>
            <a:off x="4845960" y="1554480"/>
            <a:ext cx="4069080" cy="292608"/>
          </a:xfrm>
          <a:prstGeom prst="rect">
            <a:avLst/>
          </a:prstGeom>
          <a:solidFill>
            <a:srgbClr val="E85D4A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C2ttl"/>
          <p:cNvSpPr/>
          <p:nvPr/>
        </p:nvSpPr>
        <p:spPr>
          <a:xfrm>
            <a:off x="4891680" y="1572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IPC - Indice des Prix à la Consommation</a:t>
            </a:r>
          </a:p>
        </p:txBody>
      </p:sp>
      <p:sp>
        <p:nvSpPr>
          <p:cNvPr id="23" name="C2stat"/>
          <p:cNvSpPr/>
          <p:nvPr/>
        </p:nvSpPr>
        <p:spPr>
          <a:xfrm>
            <a:off x="4891680" y="1884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5D4A"/>
                </a:solidFill>
                <a:latin typeface="Calibri" pitchFamily="34" charset="0"/>
              </a:rPr>
              <a:t>r = -0,29</a:t>
            </a:r>
          </a:p>
        </p:txBody>
      </p:sp>
      <p:sp>
        <p:nvSpPr>
          <p:cNvPr id="24" name="C2txt"/>
          <p:cNvSpPr/>
          <p:nvPr/>
        </p:nvSpPr>
        <p:spPr>
          <a:xfrm>
            <a:off x="6537960" y="18843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Renforcer les offres prix lors des phases d'inflation. Adapter le positionnement sur les produits essentiels.</a:t>
            </a:r>
          </a:p>
        </p:txBody>
      </p:sp>
      <p:sp>
        <p:nvSpPr>
          <p:cNvPr id="30" name="C3bg"/>
          <p:cNvSpPr/>
          <p:nvPr/>
        </p:nvSpPr>
        <p:spPr>
          <a:xfrm>
            <a:off x="228600" y="301752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C3hdr"/>
          <p:cNvSpPr/>
          <p:nvPr/>
        </p:nvSpPr>
        <p:spPr>
          <a:xfrm>
            <a:off x="228600" y="3017520"/>
            <a:ext cx="4069080" cy="292608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C3ttl"/>
          <p:cNvSpPr/>
          <p:nvPr/>
        </p:nvSpPr>
        <p:spPr>
          <a:xfrm>
            <a:off x="27432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Chômage (Unemployment)</a:t>
            </a:r>
          </a:p>
        </p:txBody>
      </p:sp>
      <p:sp>
        <p:nvSpPr>
          <p:cNvPr id="33" name="C3stat"/>
          <p:cNvSpPr/>
          <p:nvPr/>
        </p:nvSpPr>
        <p:spPr>
          <a:xfrm>
            <a:off x="274320" y="33474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1E2761"/>
                </a:solidFill>
                <a:latin typeface="Calibri" pitchFamily="34" charset="0"/>
              </a:rPr>
              <a:t>Négatif</a:t>
            </a:r>
          </a:p>
        </p:txBody>
      </p:sp>
      <p:sp>
        <p:nvSpPr>
          <p:cNvPr id="34" name="C3txt"/>
          <p:cNvSpPr/>
          <p:nvPr/>
        </p:nvSpPr>
        <p:spPr>
          <a:xfrm>
            <a:off x="1920240" y="3347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Intensifier les promotions dans les bassins d'emploi fragilisés. Adapter la stratégie par zone géographique.</a:t>
            </a:r>
          </a:p>
        </p:txBody>
      </p:sp>
      <p:sp>
        <p:nvSpPr>
          <p:cNvPr id="40" name="C4bg"/>
          <p:cNvSpPr/>
          <p:nvPr/>
        </p:nvSpPr>
        <p:spPr>
          <a:xfrm>
            <a:off x="4845960" y="301752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C4hdr"/>
          <p:cNvSpPr/>
          <p:nvPr/>
        </p:nvSpPr>
        <p:spPr>
          <a:xfrm>
            <a:off x="4845960" y="3017520"/>
            <a:ext cx="4069080" cy="292608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C4ttl"/>
          <p:cNvSpPr/>
          <p:nvPr/>
        </p:nvSpPr>
        <p:spPr>
          <a:xfrm>
            <a:off x="489168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Clé de lecture - combinaison des signaux</a:t>
            </a:r>
          </a:p>
        </p:txBody>
      </p:sp>
      <p:sp>
        <p:nvSpPr>
          <p:cNvPr id="43" name="C4txt"/>
          <p:cNvSpPr/>
          <p:nvPr/>
        </p:nvSpPr>
        <p:spPr>
          <a:xfrm>
            <a:off x="4891680" y="33474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Aucun indicateur n'agit seul. Fêtes + chômage élevé + inflation = stratégie promotionnelle spécifique, différente d'une zone à fort emploi.</a:t>
            </a:r>
          </a:p>
        </p:txBody>
      </p:sp>
      <p:sp>
        <p:nvSpPr>
          <p:cNvPr id="50" name="Footer"/>
          <p:cNvSpPr/>
          <p:nvPr/>
        </p:nvSpPr>
        <p:spPr>
          <a:xfrm>
            <a:off x="228600" y="475596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i="1" noProof="0" dirty="0">
                <a:solidFill>
                  <a:srgbClr val="6B7280"/>
                </a:solidFill>
                <a:latin typeface="Calibri" pitchFamily="34" charset="0"/>
              </a:rPr>
              <a:t>Source : modèle Lasso (alpha = 1000, R² test = 0,9438) - 71 observations après prétraitement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fr-F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0" y="2240280"/>
            <a:ext cx="2743200" cy="365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fr-F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supervisé  -  Walmart Weekly Sales Prédiction</a:t>
            </a:r>
            <a:endParaRPr lang="fr-FR" sz="1200" noProof="0" dirty="0">
              <a:solidFill>
                <a:srgbClr val="00B0F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0.9438</a:t>
            </a:r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Lasso</a:t>
            </a:r>
            <a:endParaRPr lang="fr-F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265176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6517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114 353 $</a:t>
            </a:r>
            <a:endParaRPr lang="fr-F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26517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6344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135 369 $</a:t>
            </a:r>
            <a:endParaRPr lang="fr-F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667512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(a=1000)</a:t>
            </a:r>
            <a:endParaRPr lang="fr-F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667512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fr-FR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1417</Words>
  <Application>Microsoft Office PowerPoint</Application>
  <PresentationFormat>Affichage à l'écran (16:9)</PresentationFormat>
  <Paragraphs>266</Paragraphs>
  <Slides>12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- Prediction des ventes hebdomadaires</dc:title>
  <dc:subject>PptxGenJS Presentation</dc:subject>
  <dc:creator>PptxGenJS</dc:creator>
  <cp:lastModifiedBy>Aicha FATHELLAH</cp:lastModifiedBy>
  <cp:revision>12</cp:revision>
  <dcterms:created xsi:type="dcterms:W3CDTF">2026-05-13T19:11:33Z</dcterms:created>
  <dcterms:modified xsi:type="dcterms:W3CDTF">2026-05-14T19:10:51Z</dcterms:modified>
</cp:coreProperties>
</file>