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R² Test</c:v>
                </c:pt>
              </c:strCache>
            </c:strRef>
          </c:tx>
          <c:spPr>
            <a:solidFill>
              <a:srgbClr val="4472C4"/>
            </a:solidFill>
            <a:effectLst/>
          </c:spPr>
          <c:invertIfNegative val="0"/>
          <c:dLbls>
            <c:numFmt formatCode="0.000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E293B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4472C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70AD47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FFC000"/>
              </a:solidFill>
              <a:effectLst/>
            </c:spPr>
          </c:dPt>
          <c:cat>
            <c:multiLvlStrRef>
              <c:f>Sheet1!$A$2:$A$4</c:f>
              <c:multiLvlStrCache>
                <c:ptCount val="3"/>
                <c:lvl>
                  <c:pt idx="0">
                    <c:v>Lin. Regression</c:v>
                  </c:pt>
                  <c:pt idx="1">
                    <c:v>Ridge (a=0.1)</c:v>
                  </c:pt>
                  <c:pt idx="2">
                    <c:v>Lasso (a=1000)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0.9313</c:v>
                </c:pt>
                <c:pt idx="1">
                  <c:v>0.9365</c:v>
                </c:pt>
                <c:pt idx="2">
                  <c:v>0.9438</c:v>
                </c:pt>
              </c:numCache>
            </c:numRef>
          </c:val>
        </c:ser>
        <c:dLbls>
          <c:numFmt formatCode="0.0000" sourceLinked="0"/>
          <c:txPr>
            <a:bodyPr/>
            <a:lstStyle/>
            <a:p>
              <a:pPr>
                <a:defRPr b="0" i="0" strike="noStrike" sz="1200" u="none">
                  <a:solidFill>
                    <a:srgbClr val="1E293B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374151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96"/>
          <c:min val="0.88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374151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MAE Test</c:v>
                </c:pt>
              </c:strCache>
            </c:strRef>
          </c:tx>
          <c:spPr>
            <a:solidFill>
              <a:srgbClr val="4472C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E293B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4472C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70AD47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FFC000"/>
              </a:solidFill>
              <a:effectLst/>
            </c:spPr>
          </c:dPt>
          <c:cat>
            <c:multiLvlStrRef>
              <c:f>Sheet1!$A$2:$A$4</c:f>
              <c:multiLvlStrCache>
                <c:ptCount val="3"/>
                <c:lvl>
                  <c:pt idx="0">
                    <c:v>Lin. Regression</c:v>
                  </c:pt>
                  <c:pt idx="1">
                    <c:v>Ridge (a=0.1)</c:v>
                  </c:pt>
                  <c:pt idx="2">
                    <c:v>Lasso (a=1000)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127770</c:v>
                </c:pt>
                <c:pt idx="1">
                  <c:v>117536</c:v>
                </c:pt>
                <c:pt idx="2">
                  <c:v>114353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1E293B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374151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100000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374151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chart" Target="/ppt/charts/chart2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FFC220"/>
          </a:solidFill>
          <a:ln w="12700">
            <a:solidFill>
              <a:srgbClr val="FFC22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097280"/>
            <a:ext cx="8229600" cy="2926080"/>
          </a:xfrm>
          <a:prstGeom prst="rect">
            <a:avLst/>
          </a:prstGeom>
          <a:solidFill>
            <a:srgbClr val="FFFFFF">
              <a:alpha val="92000"/>
            </a:srgbClr>
          </a:solidFill>
          <a:ln w="12700">
            <a:solidFill>
              <a:srgbClr val="CADCFC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548640" y="123444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800" kern="0" dirty="0">
                <a:solidFill>
                  <a:srgbClr val="FFC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WALMART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48640" y="1737360"/>
            <a:ext cx="8046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Prediction des ventes hebdomadaires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548640" y="256032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Projet Machine Learning supervise - Regression lineaire et regularisee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3200400" y="3063240"/>
            <a:ext cx="2743200" cy="36576"/>
          </a:xfrm>
          <a:prstGeom prst="rect">
            <a:avLst/>
          </a:prstGeom>
          <a:solidFill>
            <a:srgbClr val="0071CE"/>
          </a:solidFill>
          <a:ln w="12700">
            <a:solidFill>
              <a:srgbClr val="0071C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48640" y="320040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Stack technique : Python  |  pandas  |  scikit-learn  |  matplotlib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274320" y="4663440"/>
            <a:ext cx="8595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RNCP - Certification Data Analyst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73152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Sommaire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365760" y="914400"/>
            <a:ext cx="411480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365760" y="914400"/>
            <a:ext cx="438912" cy="658368"/>
          </a:xfrm>
          <a:prstGeom prst="rect">
            <a:avLst/>
          </a:prstGeom>
          <a:solidFill>
            <a:srgbClr val="0071CE"/>
          </a:solidFill>
          <a:ln w="12700">
            <a:solidFill>
              <a:srgbClr val="0071C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65760" y="1042416"/>
            <a:ext cx="43891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68680" y="1042416"/>
            <a:ext cx="35204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Contexte et objectifs du projet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65760" y="1810512"/>
            <a:ext cx="411480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365760" y="1810512"/>
            <a:ext cx="438912" cy="658368"/>
          </a:xfrm>
          <a:prstGeom prst="rect">
            <a:avLst/>
          </a:prstGeom>
          <a:solidFill>
            <a:srgbClr val="0071CE"/>
          </a:solidFill>
          <a:ln w="12700">
            <a:solidFill>
              <a:srgbClr val="0071C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65760" y="1938528"/>
            <a:ext cx="43891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868680" y="1938528"/>
            <a:ext cx="35204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Description du jeu de donnees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365760" y="2706624"/>
            <a:ext cx="411480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365760" y="2706624"/>
            <a:ext cx="438912" cy="658368"/>
          </a:xfrm>
          <a:prstGeom prst="rect">
            <a:avLst/>
          </a:prstGeom>
          <a:solidFill>
            <a:srgbClr val="0071CE"/>
          </a:solidFill>
          <a:ln w="12700">
            <a:solidFill>
              <a:srgbClr val="0071C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834640"/>
            <a:ext cx="43891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68680" y="2834640"/>
            <a:ext cx="35204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Analyse exploratoire - EDA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365760" y="3602736"/>
            <a:ext cx="411480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3602736"/>
            <a:ext cx="438912" cy="658368"/>
          </a:xfrm>
          <a:prstGeom prst="rect">
            <a:avLst/>
          </a:prstGeom>
          <a:solidFill>
            <a:srgbClr val="0071CE"/>
          </a:solidFill>
          <a:ln w="12700">
            <a:solidFill>
              <a:srgbClr val="0071C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3730752"/>
            <a:ext cx="43891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868680" y="3730752"/>
            <a:ext cx="35204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Pretraitement des donnees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4754880" y="914400"/>
            <a:ext cx="411480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4754880" y="914400"/>
            <a:ext cx="438912" cy="658368"/>
          </a:xfrm>
          <a:prstGeom prst="rect">
            <a:avLst/>
          </a:prstGeom>
          <a:solidFill>
            <a:srgbClr val="0071CE"/>
          </a:solidFill>
          <a:ln w="12700">
            <a:solidFill>
              <a:srgbClr val="0071C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754880" y="1042416"/>
            <a:ext cx="43891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5257800" y="1042416"/>
            <a:ext cx="35204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Modelisation - Regression lineaire (baseline)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4754880" y="1810512"/>
            <a:ext cx="411480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4754880" y="1810512"/>
            <a:ext cx="438912" cy="658368"/>
          </a:xfrm>
          <a:prstGeom prst="rect">
            <a:avLst/>
          </a:prstGeom>
          <a:solidFill>
            <a:srgbClr val="0071CE"/>
          </a:solidFill>
          <a:ln w="12700">
            <a:solidFill>
              <a:srgbClr val="0071CE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754880" y="1938528"/>
            <a:ext cx="43891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5257800" y="1938528"/>
            <a:ext cx="35204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Regularisation - Ridge et Lasso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4754880" y="2706624"/>
            <a:ext cx="411480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4754880" y="2706624"/>
            <a:ext cx="438912" cy="658368"/>
          </a:xfrm>
          <a:prstGeom prst="rect">
            <a:avLst/>
          </a:prstGeom>
          <a:solidFill>
            <a:srgbClr val="0071CE"/>
          </a:solidFill>
          <a:ln w="12700">
            <a:solidFill>
              <a:srgbClr val="0071CE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754880" y="2834640"/>
            <a:ext cx="43891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5257800" y="2834640"/>
            <a:ext cx="35204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Resultats et comparaison des modeles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4754880" y="3602736"/>
            <a:ext cx="411480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3" name="Shape 31"/>
          <p:cNvSpPr/>
          <p:nvPr/>
        </p:nvSpPr>
        <p:spPr>
          <a:xfrm>
            <a:off x="4754880" y="3602736"/>
            <a:ext cx="438912" cy="658368"/>
          </a:xfrm>
          <a:prstGeom prst="rect">
            <a:avLst/>
          </a:prstGeom>
          <a:solidFill>
            <a:srgbClr val="0071CE"/>
          </a:solidFill>
          <a:ln w="12700">
            <a:solidFill>
              <a:srgbClr val="0071CE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754880" y="3730752"/>
            <a:ext cx="43891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1400" dirty="0"/>
          </a:p>
        </p:txBody>
      </p:sp>
      <p:sp>
        <p:nvSpPr>
          <p:cNvPr id="35" name="Text 33"/>
          <p:cNvSpPr/>
          <p:nvPr/>
        </p:nvSpPr>
        <p:spPr>
          <a:xfrm>
            <a:off x="5257800" y="3730752"/>
            <a:ext cx="35204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Conclusions et recommandations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73152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01 - Contexte et objectifs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274320" y="914400"/>
            <a:ext cx="3931920" cy="3657600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274320" y="914400"/>
            <a:ext cx="3931920" cy="384048"/>
          </a:xfrm>
          <a:prstGeom prst="rect">
            <a:avLst/>
          </a:prstGeom>
          <a:solidFill>
            <a:srgbClr val="0071CE"/>
          </a:solidFill>
          <a:ln w="12700">
            <a:solidFill>
              <a:srgbClr val="0071C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20040" y="932688"/>
            <a:ext cx="3840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Contexte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11480" y="1371600"/>
            <a:ext cx="365760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Walmart Inc. est le premier distributeur mondial, fonde en 1962 par Sam Walton.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service marketing souhaite un modele capable d'estimer les ventes hebdomadaires de ses magasins.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tel modele permettrait de mieux comprendre l'influence des indicateurs economiques et d'optimiser les campagnes marketing.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0" y="914400"/>
            <a:ext cx="4206240" cy="3657600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572000" y="914400"/>
            <a:ext cx="4206240" cy="384048"/>
          </a:xfrm>
          <a:prstGeom prst="rect">
            <a:avLst/>
          </a:prstGeom>
          <a:solidFill>
            <a:srgbClr val="FFC220"/>
          </a:solidFill>
          <a:ln w="12700">
            <a:solidFill>
              <a:srgbClr val="FFC22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617720" y="932688"/>
            <a:ext cx="4114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Objectifs du projet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709160" y="1463040"/>
            <a:ext cx="822960" cy="347472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709160" y="1499616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Partie 1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5596128" y="1499616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EDA et pretraitement des donnees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709160" y="2194560"/>
            <a:ext cx="822960" cy="347472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709160" y="2231136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Partie 2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5596128" y="2231136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Modele de regression lineaire (baseline)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4709160" y="2926080"/>
            <a:ext cx="822960" cy="347472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709160" y="2962656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Partie 3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5596128" y="2962656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Regularisation Ridge et Lasso pour reduire l'overfitting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709160" y="3657600"/>
            <a:ext cx="822960" cy="347472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709160" y="3694176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Bonus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5596128" y="3694176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Optimisation de l'hyperparametre alpha via GridSearchCV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73152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02 - Description du jeu de donnees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274320" y="822960"/>
            <a:ext cx="1920240" cy="100584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274320" y="86868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FC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150</a:t>
            </a:r>
            <a:endParaRPr lang="en-US" sz="3200" dirty="0"/>
          </a:p>
        </p:txBody>
      </p:sp>
      <p:sp>
        <p:nvSpPr>
          <p:cNvPr id="6" name="Text 4"/>
          <p:cNvSpPr/>
          <p:nvPr/>
        </p:nvSpPr>
        <p:spPr>
          <a:xfrm>
            <a:off x="274320" y="1389888"/>
            <a:ext cx="1920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observations initiales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2423160" y="822960"/>
            <a:ext cx="1920240" cy="100584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2423160" y="86868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FC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3200" dirty="0"/>
          </a:p>
        </p:txBody>
      </p:sp>
      <p:sp>
        <p:nvSpPr>
          <p:cNvPr id="9" name="Text 7"/>
          <p:cNvSpPr/>
          <p:nvPr/>
        </p:nvSpPr>
        <p:spPr>
          <a:xfrm>
            <a:off x="2423160" y="1389888"/>
            <a:ext cx="1920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variables d'origine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4572000" y="822960"/>
            <a:ext cx="1920240" cy="100584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4572000" y="86868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FC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71</a:t>
            </a:r>
            <a:endParaRPr lang="en-US" sz="3200" dirty="0"/>
          </a:p>
        </p:txBody>
      </p:sp>
      <p:sp>
        <p:nvSpPr>
          <p:cNvPr id="12" name="Text 10"/>
          <p:cNvSpPr/>
          <p:nvPr/>
        </p:nvSpPr>
        <p:spPr>
          <a:xfrm>
            <a:off x="4572000" y="1389888"/>
            <a:ext cx="1920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observations apres nettoyage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6720840" y="822960"/>
            <a:ext cx="1920240" cy="100584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6720840" y="86868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FC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</a:t>
            </a:r>
            <a:endParaRPr lang="en-US" sz="3200" dirty="0"/>
          </a:p>
        </p:txBody>
      </p:sp>
      <p:sp>
        <p:nvSpPr>
          <p:cNvPr id="15" name="Text 13"/>
          <p:cNvSpPr/>
          <p:nvPr/>
        </p:nvSpPr>
        <p:spPr>
          <a:xfrm>
            <a:off x="6720840" y="1389888"/>
            <a:ext cx="1920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features apres preprocessing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274320" y="1965960"/>
            <a:ext cx="8595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Variables du dataset</a:t>
            </a:r>
            <a:endParaRPr lang="en-US" sz="14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2331720"/>
          <a:ext cx="8595360" cy="2560320"/>
        </p:xfrm>
        <a:graphic>
          <a:graphicData uri="http://schemas.openxmlformats.org/drawingml/2006/table">
            <a:tbl>
              <a:tblPr/>
              <a:tblGrid>
                <a:gridCol w="1463040"/>
                <a:gridCol w="1280160"/>
                <a:gridCol w="3657600"/>
                <a:gridCol w="1828800"/>
              </a:tblGrid>
              <a:tr h="2651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Variable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Type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Description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Role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Weekly_Sales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Numerique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Ventes hebdomadaires ($)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Target (y)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Store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Categorielle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Identifiant du magasin (19 magasins)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Feature X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Holiday_Flag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Categorielle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Presence d'un jour ferie (0 ou 1)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Feature X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Temperature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Numerique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Temperature regionale (degres F)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Feature X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Fuel_Price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Numerique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Prix du carburant ($)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Feature X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CPI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Numerique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Indice des prix a la consommation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Feature X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Unemployment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Numerique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Taux de chomage regional (%)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Feature X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Semaine - decomposee en Year/Month/Day/DayOfWeek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Feature X (transformee)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73152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03 - Analyse exploratoire (EDA)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228600" y="868680"/>
            <a:ext cx="4206240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228600" y="868680"/>
            <a:ext cx="73152" cy="1234440"/>
          </a:xfrm>
          <a:prstGeom prst="rect">
            <a:avLst/>
          </a:prstGeom>
          <a:solidFill>
            <a:srgbClr val="0071CE"/>
          </a:solidFill>
          <a:ln w="12700">
            <a:solidFill>
              <a:srgbClr val="0071C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65760" y="941832"/>
            <a:ext cx="3977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Graphique 1 - Distribution des ventes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365760" y="1252728"/>
            <a:ext cx="39776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Distribution asymetrique (270k$ a 2.8M$). Les extremes correspondent aux magasins les plus performants.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663440" y="868680"/>
            <a:ext cx="4206240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663440" y="868680"/>
            <a:ext cx="73152" cy="1234440"/>
          </a:xfrm>
          <a:prstGeom prst="rect">
            <a:avLst/>
          </a:prstGeom>
          <a:solidFill>
            <a:srgbClr val="0071CE"/>
          </a:solidFill>
          <a:ln w="12700">
            <a:solidFill>
              <a:srgbClr val="0071C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800600" y="941832"/>
            <a:ext cx="3977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Graphique 2 - Evolution temporelle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4800600" y="1252728"/>
            <a:ext cx="39776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Tendance haussiere et saisonnalite reguliere, justifiant l'extraction de features Year, Month, Day.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228600" y="2258568"/>
            <a:ext cx="4206240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228600" y="2258568"/>
            <a:ext cx="73152" cy="1234440"/>
          </a:xfrm>
          <a:prstGeom prst="rect">
            <a:avLst/>
          </a:prstGeom>
          <a:solidFill>
            <a:srgbClr val="0071CE"/>
          </a:solidFill>
          <a:ln w="12700">
            <a:solidFill>
              <a:srgbClr val="0071C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331720"/>
            <a:ext cx="3977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Graphique 3 - Heterogeneite inter-magasins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365760" y="2642616"/>
            <a:ext cx="39776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Certains magasins generent 3x plus de ventes. Store est la variable la plus determinante du modele.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663440" y="2258568"/>
            <a:ext cx="4206240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4663440" y="2258568"/>
            <a:ext cx="73152" cy="1234440"/>
          </a:xfrm>
          <a:prstGeom prst="rect">
            <a:avLst/>
          </a:prstGeom>
          <a:solidFill>
            <a:srgbClr val="0071CE"/>
          </a:solidFill>
          <a:ln w="12700">
            <a:solidFill>
              <a:srgbClr val="0071C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800600" y="2331720"/>
            <a:ext cx="3977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Graphique 4 - Indicateurs economiques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4800600" y="2642616"/>
            <a:ext cx="39776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Holiday +7.5% de ventes. CPI negatif (perte de pouvoir d'achat). Unemployment : tendance negative.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228600" y="3648456"/>
            <a:ext cx="4206240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228600" y="3648456"/>
            <a:ext cx="73152" cy="1234440"/>
          </a:xfrm>
          <a:prstGeom prst="rect">
            <a:avLst/>
          </a:prstGeom>
          <a:solidFill>
            <a:srgbClr val="0071CE"/>
          </a:solidFill>
          <a:ln w="12700">
            <a:solidFill>
              <a:srgbClr val="0071C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65760" y="3721608"/>
            <a:ext cx="3977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Graphique 5 - Matrice de correlation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365760" y="4032504"/>
            <a:ext cx="39776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Aucune variable isolee n'est fortement correlee a la cible (max |r| = 0.29). Combinaison necessaire.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4663440" y="3648456"/>
            <a:ext cx="4206240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4663440" y="3648456"/>
            <a:ext cx="73152" cy="1234440"/>
          </a:xfrm>
          <a:prstGeom prst="rect">
            <a:avLst/>
          </a:prstGeom>
          <a:solidFill>
            <a:srgbClr val="0071CE"/>
          </a:solidFill>
          <a:ln w="12700">
            <a:solidFill>
              <a:srgbClr val="0071CE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800600" y="3721608"/>
            <a:ext cx="3977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Graphique 6 - Correlation features vs target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4800600" y="4032504"/>
            <a:ext cx="39776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CPI (|r|=0.287) et Temperature (|r|=0.166) sont les plus correlees. Tous les |r| restent sous 0.30.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73152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04 - Pretraitement des donnees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274320" y="822960"/>
            <a:ext cx="3931920" cy="4023360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274320" y="822960"/>
            <a:ext cx="3931920" cy="384048"/>
          </a:xfrm>
          <a:prstGeom prst="rect">
            <a:avLst/>
          </a:prstGeom>
          <a:solidFill>
            <a:srgbClr val="0071CE"/>
          </a:solidFill>
          <a:ln w="12700">
            <a:solidFill>
              <a:srgbClr val="0071C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20040" y="841248"/>
            <a:ext cx="3840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Pretraitement avec pandas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11480" y="1353312"/>
            <a:ext cx="658368" cy="292608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11480" y="1380744"/>
            <a:ext cx="6583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Etape 1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143000" y="1353312"/>
            <a:ext cx="2926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Suppression des 14 lignes ou Weekly_Sales est manquant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(aucune imputation sur la variable cible)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11480" y="2450592"/>
            <a:ext cx="658368" cy="292608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11480" y="2478024"/>
            <a:ext cx="6583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Etape 2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1143000" y="2450592"/>
            <a:ext cx="2926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Decomposition de Date en 4 features : Year, Month, Day, DayOfWeek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11480" y="3547872"/>
            <a:ext cx="658368" cy="292608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11480" y="3575304"/>
            <a:ext cx="6583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Etape 3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1143000" y="3547872"/>
            <a:ext cx="2926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Retrait des outliers hors [X - 3sigma, X + 3sigma]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 Temperature, Fuel_Price, CPI, Unemployment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0" y="822960"/>
            <a:ext cx="4206240" cy="4023360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4572000" y="822960"/>
            <a:ext cx="4206240" cy="384048"/>
          </a:xfrm>
          <a:prstGeom prst="rect">
            <a:avLst/>
          </a:prstGeom>
          <a:solidFill>
            <a:srgbClr val="FFC220"/>
          </a:solidFill>
          <a:ln w="12700">
            <a:solidFill>
              <a:srgbClr val="FFC22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617720" y="841248"/>
            <a:ext cx="4114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Pretraitement avec scikit-learn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4709160" y="1353312"/>
            <a:ext cx="1188720" cy="292608"/>
          </a:xfrm>
          <a:prstGeom prst="rect">
            <a:avLst/>
          </a:prstGeom>
          <a:solidFill>
            <a:srgbClr val="0071CE"/>
          </a:solidFill>
          <a:ln w="12700">
            <a:solidFill>
              <a:srgbClr val="0071CE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709160" y="1380744"/>
            <a:ext cx="1188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OneHotEncoder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5961888" y="1353312"/>
            <a:ext cx="2651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Store (19 magasins - 1 = 18 cols)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Holiday_Flag (2 valeurs - 1 = 1 col)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drop='first' pour eviter la multicolinearite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4709160" y="2450592"/>
            <a:ext cx="1188720" cy="292608"/>
          </a:xfrm>
          <a:prstGeom prst="rect">
            <a:avLst/>
          </a:prstGeom>
          <a:solidFill>
            <a:srgbClr val="0071CE"/>
          </a:solidFill>
          <a:ln w="12700">
            <a:solidFill>
              <a:srgbClr val="0071CE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709160" y="2478024"/>
            <a:ext cx="1188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StandardScaler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5961888" y="2450592"/>
            <a:ext cx="2651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Temperature, Fuel_Price, CPI, Unemployment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Year, Month, Day, DayOfWeek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Centre (mean=0) et reduit (std=1)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4709160" y="3547872"/>
            <a:ext cx="1188720" cy="292608"/>
          </a:xfrm>
          <a:prstGeom prst="rect">
            <a:avLst/>
          </a:prstGeom>
          <a:solidFill>
            <a:srgbClr val="0071CE"/>
          </a:solidFill>
          <a:ln w="12700">
            <a:solidFill>
              <a:srgbClr val="0071CE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709160" y="3575304"/>
            <a:ext cx="1188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Resultat final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5961888" y="3547872"/>
            <a:ext cx="2651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X_train : (56, 27)  |  X_test : (15, 27)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 colonnes = 18 + 1 + 8 (coherent)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73152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05 - Modelisation - Regression lineaire (baseline)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274320" y="804672"/>
            <a:ext cx="1920240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274320" y="804672"/>
            <a:ext cx="1920240" cy="73152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91440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0.9865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274320" y="1389888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R² Train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423160" y="804672"/>
            <a:ext cx="1920240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2423160" y="804672"/>
            <a:ext cx="1920240" cy="73152"/>
          </a:xfrm>
          <a:prstGeom prst="rect">
            <a:avLst/>
          </a:prstGeom>
          <a:solidFill>
            <a:srgbClr val="0071CE"/>
          </a:solidFill>
          <a:ln w="12700">
            <a:solidFill>
              <a:srgbClr val="0071C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423160" y="91440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071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0.9313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2423160" y="1389888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R² Test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572000" y="804672"/>
            <a:ext cx="1920240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4572000" y="804672"/>
            <a:ext cx="1920240" cy="73152"/>
          </a:xfrm>
          <a:prstGeom prst="rect">
            <a:avLst/>
          </a:prstGeom>
          <a:solidFill>
            <a:srgbClr val="E85D4A"/>
          </a:solidFill>
          <a:ln w="12700">
            <a:solidFill>
              <a:srgbClr val="E85D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572000" y="91440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E85D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127 770 $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4572000" y="1389888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MAE Test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720840" y="804672"/>
            <a:ext cx="1920240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6720840" y="804672"/>
            <a:ext cx="1920240" cy="73152"/>
          </a:xfrm>
          <a:prstGeom prst="rect">
            <a:avLst/>
          </a:prstGeom>
          <a:solidFill>
            <a:srgbClr val="E85D4A"/>
          </a:solidFill>
          <a:ln w="12700">
            <a:solidFill>
              <a:srgbClr val="E85D4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720840" y="91440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E85D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149 685 $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6720840" y="1389888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RMSE Test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274320" y="1874520"/>
            <a:ext cx="8595360" cy="411480"/>
          </a:xfrm>
          <a:prstGeom prst="rect">
            <a:avLst/>
          </a:prstGeom>
          <a:solidFill>
            <a:srgbClr val="FEF3C7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65760" y="1920240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Ecart Train-Test : 0.9865 - 0.9313 = 0.0552 - Surapprentissage (overfitting) detecte - necessaire de regulariser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274320" y="2377440"/>
            <a:ext cx="4114800" cy="2468880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274320" y="2377440"/>
            <a:ext cx="4114800" cy="36576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20040" y="2404872"/>
            <a:ext cx="4023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variables - impact sur Weekly_Sales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365760" y="2852928"/>
            <a:ext cx="228600" cy="228600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58368" y="2852928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 Store (identite magasin)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3246120" y="2852928"/>
            <a:ext cx="1005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Dominant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365760" y="3172968"/>
            <a:ext cx="228600" cy="228600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58368" y="3172968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 Year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3246120" y="3172968"/>
            <a:ext cx="1005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Eleve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365760" y="3493008"/>
            <a:ext cx="228600" cy="228600"/>
          </a:xfrm>
          <a:prstGeom prst="rect">
            <a:avLst/>
          </a:prstGeom>
          <a:solidFill>
            <a:srgbClr val="E85D4A"/>
          </a:solidFill>
          <a:ln w="12700">
            <a:solidFill>
              <a:srgbClr val="E85D4A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58368" y="3493008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  Unemployment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3246120" y="3493008"/>
            <a:ext cx="1005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E85D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Modere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365760" y="3813048"/>
            <a:ext cx="228600" cy="228600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58368" y="3813048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 Month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3246120" y="3813048"/>
            <a:ext cx="1005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Modere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365760" y="4133088"/>
            <a:ext cx="228600" cy="228600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58368" y="4133088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 Holiday_Flag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3246120" y="4133088"/>
            <a:ext cx="1005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Faible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365760" y="4453128"/>
            <a:ext cx="228600" cy="228600"/>
          </a:xfrm>
          <a:prstGeom prst="rect">
            <a:avLst/>
          </a:prstGeom>
          <a:solidFill>
            <a:srgbClr val="E85D4A"/>
          </a:solidFill>
          <a:ln w="12700">
            <a:solidFill>
              <a:srgbClr val="E85D4A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58368" y="4453128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  CPI, Temperature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3246120" y="4453128"/>
            <a:ext cx="1005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E85D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Faible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4663440" y="2377440"/>
            <a:ext cx="4206240" cy="2468880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4" name="Shape 42"/>
          <p:cNvSpPr/>
          <p:nvPr/>
        </p:nvSpPr>
        <p:spPr>
          <a:xfrm>
            <a:off x="4663440" y="2377440"/>
            <a:ext cx="4206240" cy="36576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4709160" y="2404872"/>
            <a:ext cx="4114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Diagnostic du modele</a:t>
            </a:r>
            <a:endParaRPr lang="en-US" sz="1200" dirty="0"/>
          </a:p>
        </p:txBody>
      </p:sp>
      <p:sp>
        <p:nvSpPr>
          <p:cNvPr id="46" name="Text 44"/>
          <p:cNvSpPr/>
          <p:nvPr/>
        </p:nvSpPr>
        <p:spPr>
          <a:xfrm>
            <a:off x="4800600" y="2834640"/>
            <a:ext cx="393192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Predicted vs Actual :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predictions se regroupent autour de la droite parfaite (y=x), confirmant la performance globale du modele.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Analyse des residus :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residus sont distribues autour de 0 sans structure particuliere. Les hypotheses du modele lineaire sont respectees.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73152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06 - Regularisation - Ridge et Lasso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274320" y="804672"/>
            <a:ext cx="8595360" cy="594360"/>
          </a:xfrm>
          <a:prstGeom prst="rect">
            <a:avLst/>
          </a:prstGeom>
          <a:solidFill>
            <a:srgbClr val="1E2761">
              <a:alpha val="12000"/>
            </a:srgbClr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86868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regularisation penalise les grands coefficients pour reduire l'overfitting. L'hyperparametre alpha controle la force de la penalite : plus alpha est grand, plus les coefficients sont contraints.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274320" y="1508760"/>
            <a:ext cx="4114800" cy="3246120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274320" y="1508760"/>
            <a:ext cx="4114800" cy="384048"/>
          </a:xfrm>
          <a:prstGeom prst="rect">
            <a:avLst/>
          </a:prstGeom>
          <a:solidFill>
            <a:srgbClr val="0071CE"/>
          </a:solidFill>
          <a:ln w="12700">
            <a:solidFill>
              <a:srgbClr val="0071C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20040" y="152704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Ridge (L2) - Meilleur alpha = 0.1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11480" y="1965960"/>
            <a:ext cx="384048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Principe :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Penalise la somme des carres des coefficients (L2). Reduit tous les coefficients sans les annuler.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GridSearchCV (cv=5) :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Meilleur alpha = 0.1. Le R² chute rapidement au-dela : une regularisation trop forte conduit au sous-apprentissage.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Resultats :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R² Train : 0.9821  |  R² Test : 0.9365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MAE : 117 536 $  |  RMSE : 143 863 $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Ecart Train-Test : 0.0456 (reduit vs baseline)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663440" y="1508760"/>
            <a:ext cx="4206240" cy="3246120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663440" y="1508760"/>
            <a:ext cx="4206240" cy="384048"/>
          </a:xfrm>
          <a:prstGeom prst="rect">
            <a:avLst/>
          </a:prstGeom>
          <a:solidFill>
            <a:srgbClr val="FFC220"/>
          </a:solidFill>
          <a:ln w="12700">
            <a:solidFill>
              <a:srgbClr val="FFC22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709160" y="1527048"/>
            <a:ext cx="4114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Lasso (L1) - Meilleur alpha = 1000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4800600" y="1965960"/>
            <a:ext cx="393192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Principe :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Penalise la somme des valeurs absolues (L1). Peut annuler certains coefficients : selection automatique de variables.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GridSearchCV (cv=5) :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Meilleur alpha = 1000. Le R² augmente continuellement : la selection de variables ameliore la generalisation.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Resultats :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R² Train : 0.9844  |  R² Test : 0.9438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MAE : 114 353 $  |  RMSE : 135 369 $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Ecart Train-Test : 0.0406 (meilleur des 3)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73152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07 - Resultats et comparaison des modeles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274320" y="777240"/>
            <a:ext cx="8595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Tableau de performance comparatif</a:t>
            </a:r>
            <a:endParaRPr lang="en-US" sz="14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1097280"/>
          <a:ext cx="8595360" cy="1280160"/>
        </p:xfrm>
        <a:graphic>
          <a:graphicData uri="http://schemas.openxmlformats.org/drawingml/2006/table">
            <a:tbl>
              <a:tblPr/>
              <a:tblGrid>
                <a:gridCol w="2194560"/>
                <a:gridCol w="1188720"/>
                <a:gridCol w="1188720"/>
                <a:gridCol w="1463040"/>
                <a:gridCol w="1463040"/>
                <a:gridCol w="1371600"/>
              </a:tblGrid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Modele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R² Train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R² Test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MAE Test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RMSE Test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Ecart Train-Test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Regression Lineaire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0.9865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0.9313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127 770 $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149 685 $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E85D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0.0552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Ridge (alpha = 0.1)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0.9821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0.9365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117 536 $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143 863 $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59E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0.0456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Lasso (alpha = 1000)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FD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0.9844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FD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0596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0.9438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FD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0596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114 353 $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FD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0596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135 369 $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FD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0596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0.0406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FDF5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274320" y="251460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R² Test par modele</a:t>
            </a:r>
            <a:endParaRPr lang="en-US" sz="1200" dirty="0"/>
          </a:p>
        </p:txBody>
      </p:sp>
      <p:graphicFrame>
        <p:nvGraphicFramePr>
          <p:cNvPr id="7" name="Chart 0" descr=""/>
          <p:cNvGraphicFramePr/>
          <p:nvPr/>
        </p:nvGraphicFramePr>
        <p:xfrm>
          <a:off x="274320" y="2788920"/>
          <a:ext cx="4023360" cy="21031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8" name="Text 4"/>
          <p:cNvSpPr/>
          <p:nvPr/>
        </p:nvSpPr>
        <p:spPr>
          <a:xfrm>
            <a:off x="4754880" y="251460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MAE Test par modele ($)</a:t>
            </a:r>
            <a:endParaRPr lang="en-US" sz="1200" dirty="0"/>
          </a:p>
        </p:txBody>
      </p:sp>
      <p:graphicFrame>
        <p:nvGraphicFramePr>
          <p:cNvPr id="9" name="Chart 1" descr=""/>
          <p:cNvGraphicFramePr/>
          <p:nvPr/>
        </p:nvGraphicFramePr>
        <p:xfrm>
          <a:off x="4754880" y="2788920"/>
          <a:ext cx="4114800" cy="21031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73152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08 - Conclusions et recommandations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274320" y="804672"/>
            <a:ext cx="8595360" cy="640080"/>
          </a:xfrm>
          <a:prstGeom prst="rect">
            <a:avLst/>
          </a:prstGeom>
          <a:solidFill>
            <a:srgbClr val="059669">
              <a:alpha val="12000"/>
            </a:srgbClr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86868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65F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Modele recommande : Lasso (alpha = 1000) - Meilleur R² Test (0.9438), MAE et RMSE les plus faibles, overfitting le plus reduit, selection automatique de variables.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274320" y="1554480"/>
            <a:ext cx="4023360" cy="3291840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274320" y="1554480"/>
            <a:ext cx="4023360" cy="384048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20040" y="1572768"/>
            <a:ext cx="3931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Variables les plus importantes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11480" y="2048256"/>
            <a:ext cx="320040" cy="320040"/>
          </a:xfrm>
          <a:prstGeom prst="rect">
            <a:avLst/>
          </a:prstGeom>
          <a:solidFill>
            <a:srgbClr val="FFC220"/>
          </a:solidFill>
          <a:ln w="12700">
            <a:solidFill>
              <a:srgbClr val="FFC22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11480" y="2084832"/>
            <a:ext cx="3200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795528" y="2048256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Store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795528" y="2322576"/>
            <a:ext cx="3337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Facteur dominant - heterogeneite forte entre magasins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411480" y="2596896"/>
            <a:ext cx="320040" cy="320040"/>
          </a:xfrm>
          <a:prstGeom prst="rect">
            <a:avLst/>
          </a:prstGeom>
          <a:solidFill>
            <a:srgbClr val="0071CE"/>
          </a:solidFill>
          <a:ln w="12700">
            <a:solidFill>
              <a:srgbClr val="0071C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11480" y="2633472"/>
            <a:ext cx="3200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795528" y="2596896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Year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795528" y="2871216"/>
            <a:ext cx="3337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Tendance haussiere des ventes dans le temps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411480" y="3145536"/>
            <a:ext cx="320040" cy="320040"/>
          </a:xfrm>
          <a:prstGeom prst="rect">
            <a:avLst/>
          </a:prstGeom>
          <a:solidFill>
            <a:srgbClr val="E85D4A"/>
          </a:solidFill>
          <a:ln w="12700">
            <a:solidFill>
              <a:srgbClr val="E85D4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11480" y="3182112"/>
            <a:ext cx="3200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795528" y="3145536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Unemployment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795528" y="3419856"/>
            <a:ext cx="3337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Correlation negative - chomage eleve = ventes faibles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411480" y="3694176"/>
            <a:ext cx="320040" cy="320040"/>
          </a:xfrm>
          <a:prstGeom prst="rect">
            <a:avLst/>
          </a:prstGeom>
          <a:solidFill>
            <a:srgbClr val="0071CE"/>
          </a:solidFill>
          <a:ln w="12700">
            <a:solidFill>
              <a:srgbClr val="0071C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11480" y="3730752"/>
            <a:ext cx="3200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795528" y="3694176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795528" y="3968496"/>
            <a:ext cx="3337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Saisonnalite mensuelle des ventes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411480" y="4242816"/>
            <a:ext cx="320040" cy="320040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11480" y="4279392"/>
            <a:ext cx="3200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795528" y="4242816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Holiday_Flag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795528" y="4517136"/>
            <a:ext cx="3337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Semaines de fetes : +7.5% de ventes en moyenne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4572000" y="1554480"/>
            <a:ext cx="4297680" cy="3291840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4572000" y="1554480"/>
            <a:ext cx="4297680" cy="384048"/>
          </a:xfrm>
          <a:prstGeom prst="rect">
            <a:avLst/>
          </a:prstGeom>
          <a:solidFill>
            <a:srgbClr val="FFC220"/>
          </a:solidFill>
          <a:ln w="12700">
            <a:solidFill>
              <a:srgbClr val="FFC22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617720" y="1572768"/>
            <a:ext cx="4206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Limites et perspectives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4709160" y="2029968"/>
            <a:ext cx="4023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85D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Limites :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4709160" y="2304288"/>
            <a:ext cx="4069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Dataset reduit (71 obs. apres nettoyage) - resultats a confirmer sur plus de donnees</a:t>
            </a:r>
            <a:endParaRPr lang="en-US" sz="1050" dirty="0"/>
          </a:p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grille alpha Lasso (max 1000) pourrait etre elargie pour confirmer l'optimum</a:t>
            </a:r>
            <a:endParaRPr lang="en-US" sz="1050" dirty="0"/>
          </a:p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regression lineaire suppose une relation lineaire entre X et y</a:t>
            </a:r>
            <a:endParaRPr lang="en-US" sz="1050" dirty="0"/>
          </a:p>
        </p:txBody>
      </p:sp>
      <p:sp>
        <p:nvSpPr>
          <p:cNvPr id="34" name="Text 32"/>
          <p:cNvSpPr/>
          <p:nvPr/>
        </p:nvSpPr>
        <p:spPr>
          <a:xfrm>
            <a:off x="4709160" y="3401568"/>
            <a:ext cx="4023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Perspectives :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4709160" y="3675888"/>
            <a:ext cx="4069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Tester des modeles non lineaires : Random Forest, XGBoost</a:t>
            </a:r>
            <a:endParaRPr lang="en-US" sz="1050" dirty="0"/>
          </a:p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Enrichir le dataset avec des donnees externes (meteo, evenements)</a:t>
            </a:r>
            <a:endParaRPr lang="en-US" sz="1050" dirty="0"/>
          </a:p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Mettre en production via une API pour prediction en temps reel</a:t>
            </a:r>
            <a:endParaRPr lang="en-US" sz="10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FFC220"/>
          </a:solidFill>
          <a:ln w="12700">
            <a:solidFill>
              <a:srgbClr val="FFC22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280160"/>
            <a:ext cx="8229600" cy="2560320"/>
          </a:xfrm>
          <a:prstGeom prst="rect">
            <a:avLst/>
          </a:prstGeom>
          <a:solidFill>
            <a:srgbClr val="FFFFFF">
              <a:alpha val="92000"/>
            </a:srgbClr>
          </a:solidFill>
          <a:ln w="12700">
            <a:solidFill>
              <a:srgbClr val="CADCFC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548640" y="1463040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Merci pour votre attention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3200400" y="2240280"/>
            <a:ext cx="2743200" cy="36576"/>
          </a:xfrm>
          <a:prstGeom prst="rect">
            <a:avLst/>
          </a:prstGeom>
          <a:solidFill>
            <a:srgbClr val="FFC220"/>
          </a:solidFill>
          <a:ln w="12700">
            <a:solidFill>
              <a:srgbClr val="FFC22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237744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FFC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 ?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548640" y="292608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Projet Machine Learning supervise  -  Walmart Weekly Sales Prediction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40080" y="3931920"/>
            <a:ext cx="1828800" cy="822960"/>
          </a:xfrm>
          <a:prstGeom prst="rect">
            <a:avLst/>
          </a:prstGeom>
          <a:solidFill>
            <a:srgbClr val="0071CE">
              <a:alpha val="20000"/>
            </a:srgbClr>
          </a:solidFill>
          <a:ln w="12700">
            <a:solidFill>
              <a:srgbClr val="0071C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0080" y="3977640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C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0.9438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640080" y="4407408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R² Test Lasso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2651760" y="3931920"/>
            <a:ext cx="1828800" cy="822960"/>
          </a:xfrm>
          <a:prstGeom prst="rect">
            <a:avLst/>
          </a:prstGeom>
          <a:solidFill>
            <a:srgbClr val="0071CE">
              <a:alpha val="20000"/>
            </a:srgbClr>
          </a:solidFill>
          <a:ln w="12700">
            <a:solidFill>
              <a:srgbClr val="0071C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651760" y="3977640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C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114 353 $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2651760" y="4407408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MAE Test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663440" y="3931920"/>
            <a:ext cx="1828800" cy="822960"/>
          </a:xfrm>
          <a:prstGeom prst="rect">
            <a:avLst/>
          </a:prstGeom>
          <a:solidFill>
            <a:srgbClr val="0071CE">
              <a:alpha val="20000"/>
            </a:srgbClr>
          </a:solidFill>
          <a:ln w="12700">
            <a:solidFill>
              <a:srgbClr val="0071CE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663440" y="3977640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C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135 369 $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4663440" y="4407408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RMSE Test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6675120" y="3931920"/>
            <a:ext cx="1828800" cy="822960"/>
          </a:xfrm>
          <a:prstGeom prst="rect">
            <a:avLst/>
          </a:prstGeom>
          <a:solidFill>
            <a:srgbClr val="0071CE">
              <a:alpha val="20000"/>
            </a:srgbClr>
          </a:solidFill>
          <a:ln w="12700">
            <a:solidFill>
              <a:srgbClr val="0071C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675120" y="3977640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C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Lasso (a=1000)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6675120" y="4407408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Modele retenu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Walmart - Prediction des ventes hebdomadaires</dc:title>
  <dc:subject>PptxGenJS Presentation</dc:subject>
  <dc:creator>PptxGenJS</dc:creator>
  <cp:lastModifiedBy>PptxGenJS</cp:lastModifiedBy>
  <cp:revision>1</cp:revision>
  <dcterms:created xsi:type="dcterms:W3CDTF">2026-05-13T19:11:33Z</dcterms:created>
  <dcterms:modified xsi:type="dcterms:W3CDTF">2026-05-13T19:11:33Z</dcterms:modified>
</cp:coreProperties>
</file>