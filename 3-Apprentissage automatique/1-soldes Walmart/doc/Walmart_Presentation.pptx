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 Test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C76C-4B0A-B7DE-4DF07E3449ED}"/>
              </c:ext>
            </c:extLst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76C-4B0A-B7DE-4DF07E3449ED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76C-4B0A-B7DE-4DF07E3449ED}"/>
              </c:ext>
            </c:extLst>
          </c:dPt>
          <c:dLbls>
            <c:numFmt formatCode="0.0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Lin. Regression</c:v>
                </c:pt>
                <c:pt idx="1">
                  <c:v>Ridge (a=0.1)</c:v>
                </c:pt>
                <c:pt idx="2">
                  <c:v>Lasso (a=1000)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0.93130000000000002</c:v>
                </c:pt>
                <c:pt idx="1">
                  <c:v>0.9365</c:v>
                </c:pt>
                <c:pt idx="2">
                  <c:v>0.94379999999999997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C76C-4B0A-B7DE-4DF07E3449E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96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Test</c:v>
                </c:pt>
              </c:strCache>
            </c:strRef>
          </c:tx>
          <c:spPr>
            <a:solidFill>
              <a:srgbClr val="4472C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B725-4C6A-8ABC-6A6CE8994CEB}"/>
              </c:ext>
            </c:extLst>
          </c:dPt>
          <c:dPt>
            <c:idx val="1"/>
            <c:invertIfNegative val="0"/>
            <c:bubble3D val="0"/>
            <c:spPr>
              <a:solidFill>
                <a:srgbClr val="70AD4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725-4C6A-8ABC-6A6CE8994CEB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725-4C6A-8ABC-6A6CE8994C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fr-F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Lin. Regression</c:v>
                </c:pt>
                <c:pt idx="1">
                  <c:v>Ridge (a=0.1)</c:v>
                </c:pt>
                <c:pt idx="2">
                  <c:v>Lasso (a=1000)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127770</c:v>
                </c:pt>
                <c:pt idx="1">
                  <c:v>117536</c:v>
                </c:pt>
                <c:pt idx="2">
                  <c:v>114353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725-4C6A-8ABC-6A6CE8994C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10000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195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108710"/>
            <a:ext cx="8229600" cy="292608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300" b="1" kern="0" spc="800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</a:t>
            </a:r>
            <a:endParaRPr lang="fr-FR" sz="1300" noProof="0" dirty="0"/>
          </a:p>
        </p:txBody>
      </p:sp>
      <p:sp>
        <p:nvSpPr>
          <p:cNvPr id="5" name="Text 3"/>
          <p:cNvSpPr/>
          <p:nvPr/>
        </p:nvSpPr>
        <p:spPr>
          <a:xfrm>
            <a:off x="548640" y="173736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des ventes hebdomadaires</a:t>
            </a:r>
            <a:endParaRPr lang="fr-FR" sz="3400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560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supervisé - Régression linéaire et régularisée</a:t>
            </a:r>
            <a:endParaRPr lang="fr-FR" sz="1500" noProof="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36576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technique : Python  |  pandas  |  scikit-learn  |  matplotlib</a:t>
            </a:r>
            <a:endParaRPr lang="fr-FR" sz="1200" noProof="0" dirty="0"/>
          </a:p>
        </p:txBody>
      </p:sp>
      <p:sp>
        <p:nvSpPr>
          <p:cNvPr id="9" name="Text 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fr-FR" sz="10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104241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fr-F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868680" y="10424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et objectifs du projet</a:t>
            </a:r>
            <a:endParaRPr lang="fr-F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65760" y="18105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365760" y="1810512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fr-FR" sz="1400" noProof="0" dirty="0"/>
          </a:p>
        </p:txBody>
      </p:sp>
      <p:sp>
        <p:nvSpPr>
          <p:cNvPr id="11" name="Text 9"/>
          <p:cNvSpPr/>
          <p:nvPr/>
        </p:nvSpPr>
        <p:spPr>
          <a:xfrm>
            <a:off x="868680" y="19385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du jeu de données</a:t>
            </a:r>
            <a:endParaRPr lang="fr-F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365760" y="27066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365760" y="2706624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fr-FR" sz="1400" noProof="0" dirty="0"/>
          </a:p>
        </p:txBody>
      </p:sp>
      <p:sp>
        <p:nvSpPr>
          <p:cNvPr id="15" name="Text 13"/>
          <p:cNvSpPr/>
          <p:nvPr/>
        </p:nvSpPr>
        <p:spPr>
          <a:xfrm>
            <a:off x="868680" y="2834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exploratoire - EDA</a:t>
            </a:r>
            <a:endParaRPr lang="fr-F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365760" y="360273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365760" y="3602736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365760" y="3730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fr-FR" sz="1400" noProof="0" dirty="0"/>
          </a:p>
        </p:txBody>
      </p:sp>
      <p:sp>
        <p:nvSpPr>
          <p:cNvPr id="19" name="Text 17"/>
          <p:cNvSpPr/>
          <p:nvPr/>
        </p:nvSpPr>
        <p:spPr>
          <a:xfrm>
            <a:off x="868680" y="37307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des données</a:t>
            </a:r>
            <a:endParaRPr lang="fr-F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4754880" y="914400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4754880" y="914400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754880" y="104241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fr-FR" sz="1400" noProof="0" dirty="0"/>
          </a:p>
        </p:txBody>
      </p:sp>
      <p:sp>
        <p:nvSpPr>
          <p:cNvPr id="23" name="Text 21"/>
          <p:cNvSpPr/>
          <p:nvPr/>
        </p:nvSpPr>
        <p:spPr>
          <a:xfrm>
            <a:off x="5257800" y="1042416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Modélisation - Régression linéaire (baseline)</a:t>
            </a:r>
            <a:endParaRPr lang="fr-FR" sz="1200" noProof="0" dirty="0"/>
          </a:p>
        </p:txBody>
      </p:sp>
      <p:sp>
        <p:nvSpPr>
          <p:cNvPr id="24" name="Shape 22"/>
          <p:cNvSpPr/>
          <p:nvPr/>
        </p:nvSpPr>
        <p:spPr>
          <a:xfrm>
            <a:off x="4754880" y="1810512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4754880" y="1810512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754880" y="1938528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fr-FR" sz="1400" noProof="0" dirty="0"/>
          </a:p>
        </p:txBody>
      </p:sp>
      <p:sp>
        <p:nvSpPr>
          <p:cNvPr id="27" name="Text 25"/>
          <p:cNvSpPr/>
          <p:nvPr/>
        </p:nvSpPr>
        <p:spPr>
          <a:xfrm>
            <a:off x="5257800" y="1938528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- Ridge et Lasso</a:t>
            </a:r>
            <a:endParaRPr lang="fr-FR" sz="1200" noProof="0" dirty="0"/>
          </a:p>
        </p:txBody>
      </p:sp>
      <p:sp>
        <p:nvSpPr>
          <p:cNvPr id="28" name="Shape 26"/>
          <p:cNvSpPr/>
          <p:nvPr/>
        </p:nvSpPr>
        <p:spPr>
          <a:xfrm>
            <a:off x="4754880" y="2706624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Shape 27"/>
          <p:cNvSpPr/>
          <p:nvPr/>
        </p:nvSpPr>
        <p:spPr>
          <a:xfrm>
            <a:off x="4754880" y="2706624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Text 28"/>
          <p:cNvSpPr/>
          <p:nvPr/>
        </p:nvSpPr>
        <p:spPr>
          <a:xfrm>
            <a:off x="4754880" y="2834640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fr-FR" sz="1400" noProof="0" dirty="0"/>
          </a:p>
        </p:txBody>
      </p:sp>
      <p:sp>
        <p:nvSpPr>
          <p:cNvPr id="31" name="Text 29"/>
          <p:cNvSpPr/>
          <p:nvPr/>
        </p:nvSpPr>
        <p:spPr>
          <a:xfrm>
            <a:off x="5257800" y="2834640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et comparaison des modèles</a:t>
            </a:r>
            <a:endParaRPr lang="fr-FR" sz="1200" noProof="0" dirty="0"/>
          </a:p>
        </p:txBody>
      </p:sp>
      <p:sp>
        <p:nvSpPr>
          <p:cNvPr id="32" name="Shape 30"/>
          <p:cNvSpPr/>
          <p:nvPr/>
        </p:nvSpPr>
        <p:spPr>
          <a:xfrm>
            <a:off x="4754880" y="3602736"/>
            <a:ext cx="411480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3" name="Shape 31"/>
          <p:cNvSpPr/>
          <p:nvPr/>
        </p:nvSpPr>
        <p:spPr>
          <a:xfrm>
            <a:off x="4754880" y="3602736"/>
            <a:ext cx="438912" cy="65836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4" name="Text 32"/>
          <p:cNvSpPr/>
          <p:nvPr/>
        </p:nvSpPr>
        <p:spPr>
          <a:xfrm>
            <a:off x="4754880" y="3730752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fr-FR" sz="1400" noProof="0" dirty="0"/>
          </a:p>
        </p:txBody>
      </p:sp>
      <p:sp>
        <p:nvSpPr>
          <p:cNvPr id="35" name="Text 33"/>
          <p:cNvSpPr/>
          <p:nvPr/>
        </p:nvSpPr>
        <p:spPr>
          <a:xfrm>
            <a:off x="5257800" y="3730752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fr-FR" sz="12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et recommandations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Contexte et objectifs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8404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93268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fr-FR" sz="1400" noProof="0" dirty="0"/>
          </a:p>
        </p:txBody>
      </p:sp>
      <p:sp>
        <p:nvSpPr>
          <p:cNvPr id="7" name="Text 5"/>
          <p:cNvSpPr/>
          <p:nvPr/>
        </p:nvSpPr>
        <p:spPr>
          <a:xfrm>
            <a:off x="411480" y="1371600"/>
            <a:ext cx="36576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Walmart Inc. est le premier distributeur mondial, fondé en 1962 par Sam Walton.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service marketing souhaite un modèle capable d'estimer les ventes hebdomadaires de ses magasins.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200" noProof="0" dirty="0"/>
          </a:p>
          <a:p>
            <a:pPr marL="0" indent="0">
              <a:buNone/>
            </a:pPr>
            <a:r>
              <a:rPr lang="fr-FR" sz="12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tel modèle permettrait de mieux comprendre l'influence des indicateurs économiques et d'optimiser les campagnes marketing.</a:t>
            </a:r>
            <a:endParaRPr lang="fr-F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4572000" y="914400"/>
            <a:ext cx="420624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20624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617720" y="93268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du projet</a:t>
            </a:r>
            <a:endParaRPr lang="fr-FR" sz="1400" noProof="0" dirty="0"/>
          </a:p>
        </p:txBody>
      </p:sp>
      <p:sp>
        <p:nvSpPr>
          <p:cNvPr id="11" name="Shape 9"/>
          <p:cNvSpPr/>
          <p:nvPr/>
        </p:nvSpPr>
        <p:spPr>
          <a:xfrm>
            <a:off x="4709160" y="146304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709160" y="14996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1</a:t>
            </a:r>
            <a:endParaRPr lang="fr-FR" sz="900" noProof="0" dirty="0"/>
          </a:p>
        </p:txBody>
      </p:sp>
      <p:sp>
        <p:nvSpPr>
          <p:cNvPr id="13" name="Text 11"/>
          <p:cNvSpPr/>
          <p:nvPr/>
        </p:nvSpPr>
        <p:spPr>
          <a:xfrm>
            <a:off x="5596128" y="14996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et prétraitement des données</a:t>
            </a:r>
            <a:endParaRPr lang="fr-FR" sz="1100" noProof="0" dirty="0"/>
          </a:p>
        </p:txBody>
      </p:sp>
      <p:sp>
        <p:nvSpPr>
          <p:cNvPr id="14" name="Shape 12"/>
          <p:cNvSpPr/>
          <p:nvPr/>
        </p:nvSpPr>
        <p:spPr>
          <a:xfrm>
            <a:off x="4709160" y="219456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4709160" y="22311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2</a:t>
            </a:r>
            <a:endParaRPr lang="fr-F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5596128" y="223113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de régression linéaire (baseline)</a:t>
            </a:r>
            <a:endParaRPr lang="fr-FR" sz="1100" noProof="0" dirty="0"/>
          </a:p>
        </p:txBody>
      </p:sp>
      <p:sp>
        <p:nvSpPr>
          <p:cNvPr id="17" name="Shape 15"/>
          <p:cNvSpPr/>
          <p:nvPr/>
        </p:nvSpPr>
        <p:spPr>
          <a:xfrm>
            <a:off x="4709160" y="292608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709160" y="296265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 3</a:t>
            </a:r>
            <a:endParaRPr lang="fr-FR" sz="900" noProof="0" dirty="0"/>
          </a:p>
        </p:txBody>
      </p:sp>
      <p:sp>
        <p:nvSpPr>
          <p:cNvPr id="19" name="Text 17"/>
          <p:cNvSpPr/>
          <p:nvPr/>
        </p:nvSpPr>
        <p:spPr>
          <a:xfrm>
            <a:off x="5596128" y="29626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Régularisation Ridge et Lasso pour réduire l'</a:t>
            </a:r>
            <a:r>
              <a:rPr lang="fr-FR" sz="1100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</a:t>
            </a:r>
            <a:endParaRPr lang="fr-FR" sz="1100" noProof="0" dirty="0"/>
          </a:p>
        </p:txBody>
      </p:sp>
      <p:sp>
        <p:nvSpPr>
          <p:cNvPr id="20" name="Shape 18"/>
          <p:cNvSpPr/>
          <p:nvPr/>
        </p:nvSpPr>
        <p:spPr>
          <a:xfrm>
            <a:off x="4709160" y="3657600"/>
            <a:ext cx="82296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4709160" y="369417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</a:t>
            </a:r>
            <a:endParaRPr lang="fr-FR" sz="900" noProof="0" dirty="0"/>
          </a:p>
        </p:txBody>
      </p:sp>
      <p:sp>
        <p:nvSpPr>
          <p:cNvPr id="22" name="Text 20"/>
          <p:cNvSpPr/>
          <p:nvPr/>
        </p:nvSpPr>
        <p:spPr>
          <a:xfrm>
            <a:off x="5596128" y="369417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Optimisation de l'hyperparamètre alpha via GridSearchCV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Description du jeu de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27432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</a:t>
            </a:r>
            <a:endParaRPr lang="fr-FR" sz="3200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initiales</a:t>
            </a:r>
            <a:endParaRPr lang="fr-FR" sz="900" noProof="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242316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fr-FR" sz="3200" noProof="0" dirty="0"/>
          </a:p>
        </p:txBody>
      </p:sp>
      <p:sp>
        <p:nvSpPr>
          <p:cNvPr id="9" name="Text 7"/>
          <p:cNvSpPr/>
          <p:nvPr/>
        </p:nvSpPr>
        <p:spPr>
          <a:xfrm>
            <a:off x="242316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d'origine</a:t>
            </a:r>
            <a:endParaRPr lang="fr-FR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457200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fr-FR" sz="3200" noProof="0" dirty="0"/>
          </a:p>
        </p:txBody>
      </p:sp>
      <p:sp>
        <p:nvSpPr>
          <p:cNvPr id="12" name="Text 10"/>
          <p:cNvSpPr/>
          <p:nvPr/>
        </p:nvSpPr>
        <p:spPr>
          <a:xfrm>
            <a:off x="457200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après nettoyage</a:t>
            </a:r>
            <a:endParaRPr lang="fr-FR" sz="900" noProof="0" dirty="0"/>
          </a:p>
        </p:txBody>
      </p:sp>
      <p:sp>
        <p:nvSpPr>
          <p:cNvPr id="13" name="Shape 11"/>
          <p:cNvSpPr/>
          <p:nvPr/>
        </p:nvSpPr>
        <p:spPr>
          <a:xfrm>
            <a:off x="6720840" y="822960"/>
            <a:ext cx="1920240" cy="10058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6720840" y="8686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fr-FR" sz="3200" noProof="0" dirty="0"/>
          </a:p>
        </p:txBody>
      </p:sp>
      <p:sp>
        <p:nvSpPr>
          <p:cNvPr id="15" name="Text 13"/>
          <p:cNvSpPr/>
          <p:nvPr/>
        </p:nvSpPr>
        <p:spPr>
          <a:xfrm>
            <a:off x="6720840" y="13898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après preprocessing</a:t>
            </a:r>
            <a:endParaRPr lang="fr-FR" sz="900" noProof="0" dirty="0"/>
          </a:p>
        </p:txBody>
      </p:sp>
      <p:sp>
        <p:nvSpPr>
          <p:cNvPr id="16" name="Text 14"/>
          <p:cNvSpPr/>
          <p:nvPr/>
        </p:nvSpPr>
        <p:spPr>
          <a:xfrm>
            <a:off x="274320" y="196596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du dataset</a:t>
            </a:r>
            <a:endParaRPr lang="fr-FR" sz="140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0895307"/>
              </p:ext>
            </p:extLst>
          </p:nvPr>
        </p:nvGraphicFramePr>
        <p:xfrm>
          <a:off x="274320" y="2331720"/>
          <a:ext cx="8229600" cy="2517648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Rôle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Weekly_Sales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Ventes hebdomadaires ($)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(y)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Identifiant du magasin (19 magasins)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Holiday_Flag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Catégorielle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Présence d'un jour férié (0 ou 1)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Température régionale (degrés F)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Fuel_Price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Prix du carburant ($)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CPI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Indice des prix à la consommation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Unemployment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Numérique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Taux de chômage régional (%)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Semaine - décomposée en Year/Month/Day (DayOfWeek écartée - variance nulle)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0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X (transformée)</a:t>
                      </a:r>
                      <a:endParaRPr lang="fr-FR" sz="10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Analyse exploratoire (EDA)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28600" y="8686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28600" y="868680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6576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1 - Distribution des ventes</a:t>
            </a:r>
            <a:endParaRPr lang="fr-FR" sz="1000" noProof="0" dirty="0"/>
          </a:p>
        </p:txBody>
      </p:sp>
      <p:sp>
        <p:nvSpPr>
          <p:cNvPr id="7" name="Text 5"/>
          <p:cNvSpPr/>
          <p:nvPr/>
        </p:nvSpPr>
        <p:spPr>
          <a:xfrm>
            <a:off x="365760" y="12527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bimodale (270k$ à 2,8M$), médiane ~1,2M$.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Deux groupes de magasins aux profils très distincts. Moustache droite allongée : hétérogénéité inter-magasins réelle.</a:t>
            </a:r>
            <a:endParaRPr lang="fr-FR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4663440" y="868680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4663440" y="868680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800600" y="941832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2 - Evolution temporelle</a:t>
            </a:r>
            <a:endParaRPr lang="fr-FR" sz="1000" noProof="0" dirty="0"/>
          </a:p>
        </p:txBody>
      </p:sp>
      <p:sp>
        <p:nvSpPr>
          <p:cNvPr id="11" name="Text 9"/>
          <p:cNvSpPr/>
          <p:nvPr/>
        </p:nvSpPr>
        <p:spPr>
          <a:xfrm>
            <a:off x="4800600" y="1252728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haussière et saisonnalité régulière, justifiant l'extraction de features Year, Month, Day.</a:t>
            </a:r>
            <a:endParaRPr lang="fr-F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228600" y="225856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228600" y="2258568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3 - Hétérogénéité inter-magasins</a:t>
            </a:r>
            <a:endParaRPr lang="fr-FR" sz="1000" noProof="0" dirty="0"/>
          </a:p>
        </p:txBody>
      </p:sp>
      <p:sp>
        <p:nvSpPr>
          <p:cNvPr id="15" name="Text 13"/>
          <p:cNvSpPr/>
          <p:nvPr/>
        </p:nvSpPr>
        <p:spPr>
          <a:xfrm>
            <a:off x="365760" y="264261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Certains magasins génèrent 3x plus de ventes. 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est la variable la plus déterminante du modèle.</a:t>
            </a:r>
            <a:endParaRPr lang="fr-FR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4663440" y="2258568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4663440" y="2258568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800600" y="233172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4 - Indicateurs économiques</a:t>
            </a:r>
            <a:endParaRPr lang="fr-FR" sz="1000" noProof="0" dirty="0"/>
          </a:p>
        </p:txBody>
      </p:sp>
      <p:sp>
        <p:nvSpPr>
          <p:cNvPr id="19" name="Text 17"/>
          <p:cNvSpPr/>
          <p:nvPr/>
        </p:nvSpPr>
        <p:spPr>
          <a:xfrm>
            <a:off x="4800600" y="2642616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Fêtes : +7,5% de ventes. IPC (CPI) : r = -0,29 - hausse = perte de pouvoir d'achat = baisse des ventes. Chômage élevé : tendance négative marquée sur les ventes.</a:t>
            </a:r>
            <a:endParaRPr lang="fr-FR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228600" y="364845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Shape 19"/>
          <p:cNvSpPr/>
          <p:nvPr/>
        </p:nvSpPr>
        <p:spPr>
          <a:xfrm>
            <a:off x="228600" y="3648456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365760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5 - Matrice de corrélation</a:t>
            </a:r>
            <a:endParaRPr lang="fr-FR" sz="1000" noProof="0" dirty="0"/>
          </a:p>
        </p:txBody>
      </p:sp>
      <p:sp>
        <p:nvSpPr>
          <p:cNvPr id="23" name="Text 21"/>
          <p:cNvSpPr/>
          <p:nvPr/>
        </p:nvSpPr>
        <p:spPr>
          <a:xfrm>
            <a:off x="365760" y="40325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variable isolée n'est fortement corrélée a la cible (max |r| = 0.29). Combinaison nécessaire.</a:t>
            </a:r>
            <a:endParaRPr lang="fr-FR" sz="1000" noProof="0" dirty="0"/>
          </a:p>
        </p:txBody>
      </p:sp>
      <p:sp>
        <p:nvSpPr>
          <p:cNvPr id="24" name="Shape 22"/>
          <p:cNvSpPr/>
          <p:nvPr/>
        </p:nvSpPr>
        <p:spPr>
          <a:xfrm>
            <a:off x="4663440" y="3648456"/>
            <a:ext cx="42062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5" name="Shape 23"/>
          <p:cNvSpPr/>
          <p:nvPr/>
        </p:nvSpPr>
        <p:spPr>
          <a:xfrm>
            <a:off x="4663440" y="3648456"/>
            <a:ext cx="73152" cy="12344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800600" y="372160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 6 - Corrélation Features vs Target</a:t>
            </a:r>
            <a:endParaRPr lang="fr-F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4800600" y="4032504"/>
            <a:ext cx="3977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 (|r|=0.287) et Température (|r|=0.166) sont les plus corrélées. </a:t>
            </a:r>
          </a:p>
          <a:p>
            <a:pPr marL="0" indent="0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Tous les |r| restent sous 0.30.</a:t>
            </a:r>
            <a:endParaRPr lang="fr-FR" sz="10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</a:t>
            </a: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fr-FR" sz="2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93192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3931920" cy="38404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320040" y="8412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avec pandas</a:t>
            </a:r>
            <a:endParaRPr lang="fr-F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411480" y="1353312"/>
            <a:ext cx="65836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411480" y="138074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1</a:t>
            </a:r>
            <a:endParaRPr lang="fr-FR" sz="900" noProof="0" dirty="0"/>
          </a:p>
        </p:txBody>
      </p:sp>
      <p:sp>
        <p:nvSpPr>
          <p:cNvPr id="9" name="Text 7"/>
          <p:cNvSpPr/>
          <p:nvPr/>
        </p:nvSpPr>
        <p:spPr>
          <a:xfrm>
            <a:off x="1143000" y="135331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des 14 lignes ou Weekly_Sales est manquant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(aucune imputation sur la variable cible)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11480" y="2450592"/>
            <a:ext cx="65836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Text 9"/>
          <p:cNvSpPr/>
          <p:nvPr/>
        </p:nvSpPr>
        <p:spPr>
          <a:xfrm>
            <a:off x="411480" y="247802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2</a:t>
            </a:r>
            <a:endParaRPr lang="fr-FR" sz="900" noProof="0" dirty="0"/>
          </a:p>
        </p:txBody>
      </p:sp>
      <p:sp>
        <p:nvSpPr>
          <p:cNvPr id="12" name="Text 10"/>
          <p:cNvSpPr/>
          <p:nvPr/>
        </p:nvSpPr>
        <p:spPr>
          <a:xfrm>
            <a:off x="1143000" y="245059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Décomposition de Date en 3 features : Year, Month, Day (DayOfWeek écartée - variance nulle)</a:t>
            </a:r>
            <a:endParaRPr lang="fr-FR" sz="1100" noProof="0" dirty="0"/>
          </a:p>
        </p:txBody>
      </p:sp>
      <p:sp>
        <p:nvSpPr>
          <p:cNvPr id="13" name="Shape 11"/>
          <p:cNvSpPr/>
          <p:nvPr/>
        </p:nvSpPr>
        <p:spPr>
          <a:xfrm>
            <a:off x="411480" y="3547872"/>
            <a:ext cx="658368" cy="2926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11480" y="3575304"/>
            <a:ext cx="6583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tape 3</a:t>
            </a:r>
            <a:endParaRPr lang="fr-FR" sz="900" noProof="0" dirty="0"/>
          </a:p>
        </p:txBody>
      </p:sp>
      <p:sp>
        <p:nvSpPr>
          <p:cNvPr id="15" name="Text 13"/>
          <p:cNvSpPr/>
          <p:nvPr/>
        </p:nvSpPr>
        <p:spPr>
          <a:xfrm>
            <a:off x="1143000" y="3547872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Retrait des outliers hors [X - 3sigma, X + 3sigma]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 Temperature, Fuel_Price, CPI, Unemployment</a:t>
            </a:r>
            <a:endParaRPr lang="fr-FR" sz="1100" noProof="0" dirty="0"/>
          </a:p>
        </p:txBody>
      </p:sp>
      <p:sp>
        <p:nvSpPr>
          <p:cNvPr id="16" name="Shape 14"/>
          <p:cNvSpPr/>
          <p:nvPr/>
        </p:nvSpPr>
        <p:spPr>
          <a:xfrm>
            <a:off x="4572000" y="822960"/>
            <a:ext cx="42062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4572000" y="822960"/>
            <a:ext cx="420624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617720" y="8412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Prétraitement avec scikit-learn</a:t>
            </a:r>
            <a:endParaRPr lang="fr-FR" sz="1300" noProof="0" dirty="0"/>
          </a:p>
        </p:txBody>
      </p:sp>
      <p:sp>
        <p:nvSpPr>
          <p:cNvPr id="19" name="Shape 17"/>
          <p:cNvSpPr/>
          <p:nvPr/>
        </p:nvSpPr>
        <p:spPr>
          <a:xfrm>
            <a:off x="4709160" y="1353312"/>
            <a:ext cx="1188720" cy="29260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Text 18"/>
          <p:cNvSpPr/>
          <p:nvPr/>
        </p:nvSpPr>
        <p:spPr>
          <a:xfrm>
            <a:off x="4709160" y="138074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</a:t>
            </a:r>
            <a:endParaRPr lang="fr-FR" sz="900" noProof="0" dirty="0"/>
          </a:p>
        </p:txBody>
      </p:sp>
      <p:sp>
        <p:nvSpPr>
          <p:cNvPr id="21" name="Text 19"/>
          <p:cNvSpPr/>
          <p:nvPr/>
        </p:nvSpPr>
        <p:spPr>
          <a:xfrm>
            <a:off x="5961888" y="135331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(19 magasins - 1 = 18 cols)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Holiday_Flag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 valeurs - 1 = 1 col)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drop='first' pour éviter la multi colinéarité</a:t>
            </a:r>
            <a:endParaRPr lang="fr-F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4709160" y="2450592"/>
            <a:ext cx="1188720" cy="29260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Text 21"/>
          <p:cNvSpPr/>
          <p:nvPr/>
        </p:nvSpPr>
        <p:spPr>
          <a:xfrm>
            <a:off x="4709160" y="247802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</a:t>
            </a:r>
            <a:endParaRPr lang="fr-FR" sz="900" noProof="0" dirty="0"/>
          </a:p>
        </p:txBody>
      </p:sp>
      <p:sp>
        <p:nvSpPr>
          <p:cNvPr id="24" name="Text 22"/>
          <p:cNvSpPr/>
          <p:nvPr/>
        </p:nvSpPr>
        <p:spPr>
          <a:xfrm>
            <a:off x="5961888" y="245059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Temperature, Fuel_Price, CPI, Unemployment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Day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(</a:t>
            </a: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=0) et réduit (std=1)</a:t>
            </a:r>
            <a:endParaRPr lang="fr-FR" sz="1100" noProof="0" dirty="0"/>
          </a:p>
        </p:txBody>
      </p:sp>
      <p:sp>
        <p:nvSpPr>
          <p:cNvPr id="25" name="Shape 23"/>
          <p:cNvSpPr/>
          <p:nvPr/>
        </p:nvSpPr>
        <p:spPr>
          <a:xfrm>
            <a:off x="4709160" y="3547872"/>
            <a:ext cx="1188720" cy="29260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709160" y="3575304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final</a:t>
            </a:r>
            <a:endParaRPr lang="fr-FR" sz="900" noProof="0" dirty="0"/>
          </a:p>
        </p:txBody>
      </p:sp>
      <p:sp>
        <p:nvSpPr>
          <p:cNvPr id="27" name="Text 25"/>
          <p:cNvSpPr/>
          <p:nvPr/>
        </p:nvSpPr>
        <p:spPr>
          <a:xfrm>
            <a:off x="5961888" y="3547872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X_train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(56, 26)  |  </a:t>
            </a:r>
            <a:r>
              <a:rPr lang="fr-FR" sz="1100" noProof="0" dirty="0" err="1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X_test</a:t>
            </a: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(15, 26)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colonnes = 18 + 1 + 7 (cohérent)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Modélisation - Régression linéaire (baseline)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192024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0.9865</a:t>
            </a:r>
            <a:endParaRPr lang="fr-FR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27432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</a:t>
            </a:r>
            <a:endParaRPr lang="fr-FR" sz="1000" noProof="0" dirty="0"/>
          </a:p>
        </p:txBody>
      </p:sp>
      <p:sp>
        <p:nvSpPr>
          <p:cNvPr id="8" name="Shape 6"/>
          <p:cNvSpPr/>
          <p:nvPr/>
        </p:nvSpPr>
        <p:spPr>
          <a:xfrm>
            <a:off x="242316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2423160" y="804672"/>
            <a:ext cx="1920240" cy="73152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242316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0071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0.9313</a:t>
            </a:r>
            <a:endParaRPr lang="fr-FR" sz="2200" noProof="0" dirty="0"/>
          </a:p>
        </p:txBody>
      </p:sp>
      <p:sp>
        <p:nvSpPr>
          <p:cNvPr id="11" name="Text 9"/>
          <p:cNvSpPr/>
          <p:nvPr/>
        </p:nvSpPr>
        <p:spPr>
          <a:xfrm>
            <a:off x="242316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fr-FR" sz="1000" noProof="0" dirty="0"/>
          </a:p>
        </p:txBody>
      </p:sp>
      <p:sp>
        <p:nvSpPr>
          <p:cNvPr id="12" name="Shape 10"/>
          <p:cNvSpPr/>
          <p:nvPr/>
        </p:nvSpPr>
        <p:spPr>
          <a:xfrm>
            <a:off x="457200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4572000" y="804672"/>
            <a:ext cx="1920240" cy="73152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57200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127 770 $</a:t>
            </a:r>
            <a:endParaRPr lang="fr-FR" sz="2200" noProof="0" dirty="0"/>
          </a:p>
        </p:txBody>
      </p:sp>
      <p:sp>
        <p:nvSpPr>
          <p:cNvPr id="15" name="Text 13"/>
          <p:cNvSpPr/>
          <p:nvPr/>
        </p:nvSpPr>
        <p:spPr>
          <a:xfrm>
            <a:off x="457200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</a:t>
            </a:r>
            <a:endParaRPr lang="fr-FR" sz="1000" noProof="0" dirty="0"/>
          </a:p>
        </p:txBody>
      </p:sp>
      <p:sp>
        <p:nvSpPr>
          <p:cNvPr id="16" name="Shape 14"/>
          <p:cNvSpPr/>
          <p:nvPr/>
        </p:nvSpPr>
        <p:spPr>
          <a:xfrm>
            <a:off x="6720840" y="804672"/>
            <a:ext cx="19202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7" name="Shape 15"/>
          <p:cNvSpPr/>
          <p:nvPr/>
        </p:nvSpPr>
        <p:spPr>
          <a:xfrm>
            <a:off x="6720840" y="804672"/>
            <a:ext cx="1920240" cy="73152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720840" y="9144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2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149 685 $</a:t>
            </a:r>
            <a:endParaRPr lang="fr-FR" sz="2200" noProof="0" dirty="0"/>
          </a:p>
        </p:txBody>
      </p:sp>
      <p:sp>
        <p:nvSpPr>
          <p:cNvPr id="19" name="Text 17"/>
          <p:cNvSpPr/>
          <p:nvPr/>
        </p:nvSpPr>
        <p:spPr>
          <a:xfrm>
            <a:off x="6720840" y="13898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0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fr-FR" sz="1000" noProof="0" dirty="0"/>
          </a:p>
        </p:txBody>
      </p:sp>
      <p:sp>
        <p:nvSpPr>
          <p:cNvPr id="20" name="Shape 18"/>
          <p:cNvSpPr/>
          <p:nvPr/>
        </p:nvSpPr>
        <p:spPr>
          <a:xfrm>
            <a:off x="274320" y="1874520"/>
            <a:ext cx="859536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Text 19"/>
          <p:cNvSpPr/>
          <p:nvPr/>
        </p:nvSpPr>
        <p:spPr>
          <a:xfrm>
            <a:off x="365760" y="1920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</a:t>
            </a:r>
            <a:r>
              <a:rPr lang="fr-FR" sz="1100" b="1" noProof="0" dirty="0" err="1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r>
              <a:rPr lang="fr-FR" sz="1100" b="1" noProof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Train-Test : 0.9865 - 0.9313 = 0.0552 - Surapprentissage (overfitting) détecté - nécessaire de régulariser</a:t>
            </a:r>
            <a:endParaRPr lang="fr-FR" sz="1100" noProof="0" dirty="0"/>
          </a:p>
        </p:txBody>
      </p:sp>
      <p:sp>
        <p:nvSpPr>
          <p:cNvPr id="22" name="Shape 20"/>
          <p:cNvSpPr/>
          <p:nvPr/>
        </p:nvSpPr>
        <p:spPr>
          <a:xfrm>
            <a:off x="274320" y="2377440"/>
            <a:ext cx="411480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3" name="Shape 21"/>
          <p:cNvSpPr/>
          <p:nvPr/>
        </p:nvSpPr>
        <p:spPr>
          <a:xfrm>
            <a:off x="274320" y="2377440"/>
            <a:ext cx="411480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4" name="Text 22"/>
          <p:cNvSpPr/>
          <p:nvPr/>
        </p:nvSpPr>
        <p:spPr>
          <a:xfrm>
            <a:off x="320040" y="240487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variables - impact sur </a:t>
            </a:r>
            <a:r>
              <a:rPr lang="fr-FR" sz="12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Weekly_Sales</a:t>
            </a:r>
            <a:endParaRPr lang="fr-FR" sz="1200" noProof="0" dirty="0"/>
          </a:p>
        </p:txBody>
      </p:sp>
      <p:sp>
        <p:nvSpPr>
          <p:cNvPr id="25" name="Shape 23"/>
          <p:cNvSpPr/>
          <p:nvPr/>
        </p:nvSpPr>
        <p:spPr>
          <a:xfrm>
            <a:off x="365760" y="285292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658368" y="28529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Store (identité magasin)</a:t>
            </a:r>
            <a:endParaRPr lang="fr-FR" sz="1000" noProof="0" dirty="0"/>
          </a:p>
        </p:txBody>
      </p:sp>
      <p:sp>
        <p:nvSpPr>
          <p:cNvPr id="27" name="Text 25"/>
          <p:cNvSpPr/>
          <p:nvPr/>
        </p:nvSpPr>
        <p:spPr>
          <a:xfrm>
            <a:off x="3246120" y="28529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Dominant</a:t>
            </a:r>
            <a:endParaRPr lang="fr-FR" sz="1000" noProof="0" dirty="0"/>
          </a:p>
        </p:txBody>
      </p:sp>
      <p:sp>
        <p:nvSpPr>
          <p:cNvPr id="28" name="Shape 26"/>
          <p:cNvSpPr/>
          <p:nvPr/>
        </p:nvSpPr>
        <p:spPr>
          <a:xfrm>
            <a:off x="365760" y="317296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9" name="Text 27"/>
          <p:cNvSpPr/>
          <p:nvPr/>
        </p:nvSpPr>
        <p:spPr>
          <a:xfrm>
            <a:off x="658368" y="31729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Year</a:t>
            </a:r>
            <a:endParaRPr lang="fr-FR" sz="1000" noProof="0" dirty="0"/>
          </a:p>
        </p:txBody>
      </p:sp>
      <p:sp>
        <p:nvSpPr>
          <p:cNvPr id="30" name="Text 28"/>
          <p:cNvSpPr/>
          <p:nvPr/>
        </p:nvSpPr>
        <p:spPr>
          <a:xfrm>
            <a:off x="3246120" y="31729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Elevé</a:t>
            </a:r>
            <a:endParaRPr lang="fr-FR" sz="1000" noProof="0" dirty="0"/>
          </a:p>
        </p:txBody>
      </p:sp>
      <p:sp>
        <p:nvSpPr>
          <p:cNvPr id="31" name="Shape 29"/>
          <p:cNvSpPr/>
          <p:nvPr/>
        </p:nvSpPr>
        <p:spPr>
          <a:xfrm>
            <a:off x="365760" y="3493008"/>
            <a:ext cx="228600" cy="2286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Text 30"/>
          <p:cNvSpPr/>
          <p:nvPr/>
        </p:nvSpPr>
        <p:spPr>
          <a:xfrm>
            <a:off x="658368" y="349300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Unemployment</a:t>
            </a:r>
            <a:endParaRPr lang="fr-FR" sz="1000" noProof="0" dirty="0"/>
          </a:p>
        </p:txBody>
      </p:sp>
      <p:sp>
        <p:nvSpPr>
          <p:cNvPr id="33" name="Text 31"/>
          <p:cNvSpPr/>
          <p:nvPr/>
        </p:nvSpPr>
        <p:spPr>
          <a:xfrm>
            <a:off x="3246120" y="349300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fr-FR" sz="1000" noProof="0" dirty="0"/>
          </a:p>
        </p:txBody>
      </p:sp>
      <p:sp>
        <p:nvSpPr>
          <p:cNvPr id="34" name="Shape 32"/>
          <p:cNvSpPr/>
          <p:nvPr/>
        </p:nvSpPr>
        <p:spPr>
          <a:xfrm>
            <a:off x="365760" y="381304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5" name="Text 33"/>
          <p:cNvSpPr/>
          <p:nvPr/>
        </p:nvSpPr>
        <p:spPr>
          <a:xfrm>
            <a:off x="658368" y="381304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Month</a:t>
            </a:r>
            <a:endParaRPr lang="fr-FR" sz="1000" noProof="0" dirty="0"/>
          </a:p>
        </p:txBody>
      </p:sp>
      <p:sp>
        <p:nvSpPr>
          <p:cNvPr id="36" name="Text 34"/>
          <p:cNvSpPr/>
          <p:nvPr/>
        </p:nvSpPr>
        <p:spPr>
          <a:xfrm>
            <a:off x="3246120" y="38130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fr-FR" sz="1000" noProof="0" dirty="0"/>
          </a:p>
        </p:txBody>
      </p:sp>
      <p:sp>
        <p:nvSpPr>
          <p:cNvPr id="37" name="Shape 35"/>
          <p:cNvSpPr/>
          <p:nvPr/>
        </p:nvSpPr>
        <p:spPr>
          <a:xfrm>
            <a:off x="365760" y="4133088"/>
            <a:ext cx="228600" cy="2286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8" name="Text 36"/>
          <p:cNvSpPr/>
          <p:nvPr/>
        </p:nvSpPr>
        <p:spPr>
          <a:xfrm>
            <a:off x="658368" y="413308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Holiday_Flag</a:t>
            </a:r>
            <a:endParaRPr lang="fr-FR" sz="1000" noProof="0" dirty="0"/>
          </a:p>
        </p:txBody>
      </p:sp>
      <p:sp>
        <p:nvSpPr>
          <p:cNvPr id="39" name="Text 37"/>
          <p:cNvSpPr/>
          <p:nvPr/>
        </p:nvSpPr>
        <p:spPr>
          <a:xfrm>
            <a:off x="3246120" y="413308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fr-FR" sz="1000" noProof="0" dirty="0"/>
          </a:p>
        </p:txBody>
      </p:sp>
      <p:sp>
        <p:nvSpPr>
          <p:cNvPr id="40" name="Shape 38"/>
          <p:cNvSpPr/>
          <p:nvPr/>
        </p:nvSpPr>
        <p:spPr>
          <a:xfrm>
            <a:off x="365760" y="4453128"/>
            <a:ext cx="228600" cy="22860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Text 39"/>
          <p:cNvSpPr/>
          <p:nvPr/>
        </p:nvSpPr>
        <p:spPr>
          <a:xfrm>
            <a:off x="658368" y="445312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 CPI, Temperature</a:t>
            </a:r>
            <a:endParaRPr lang="fr-FR" sz="1000" noProof="0" dirty="0"/>
          </a:p>
        </p:txBody>
      </p:sp>
      <p:sp>
        <p:nvSpPr>
          <p:cNvPr id="42" name="Text 40"/>
          <p:cNvSpPr/>
          <p:nvPr/>
        </p:nvSpPr>
        <p:spPr>
          <a:xfrm>
            <a:off x="3246120" y="445312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fr-FR" sz="10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Faible</a:t>
            </a:r>
            <a:endParaRPr lang="fr-FR" sz="1000" noProof="0" dirty="0"/>
          </a:p>
        </p:txBody>
      </p:sp>
      <p:sp>
        <p:nvSpPr>
          <p:cNvPr id="43" name="Shape 41"/>
          <p:cNvSpPr/>
          <p:nvPr/>
        </p:nvSpPr>
        <p:spPr>
          <a:xfrm>
            <a:off x="4663440" y="2377440"/>
            <a:ext cx="420624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4" name="Shape 42"/>
          <p:cNvSpPr/>
          <p:nvPr/>
        </p:nvSpPr>
        <p:spPr>
          <a:xfrm>
            <a:off x="4663440" y="2377440"/>
            <a:ext cx="420624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5" name="Text 43"/>
          <p:cNvSpPr/>
          <p:nvPr/>
        </p:nvSpPr>
        <p:spPr>
          <a:xfrm>
            <a:off x="4709160" y="240487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 du modèle</a:t>
            </a:r>
            <a:endParaRPr lang="fr-FR" sz="1200" noProof="0" dirty="0"/>
          </a:p>
        </p:txBody>
      </p:sp>
      <p:sp>
        <p:nvSpPr>
          <p:cNvPr id="46" name="Text 44"/>
          <p:cNvSpPr/>
          <p:nvPr/>
        </p:nvSpPr>
        <p:spPr>
          <a:xfrm>
            <a:off x="4800600" y="2834640"/>
            <a:ext cx="3931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 Actual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prédictions se regroupent autour de la droite parfaite (y=x), confirmant la performance globale du modèle.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résidus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résidus sont distribués autour de 0 sans structure particulière. Les hypothèses du modèle linéaire sont respectées.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Régularisation - Ridge et Lasso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594360"/>
          </a:xfrm>
          <a:prstGeom prst="rect">
            <a:avLst/>
          </a:prstGeom>
          <a:solidFill>
            <a:srgbClr val="1E2761">
              <a:alpha val="12000"/>
            </a:srgbClr>
          </a:solidFill>
          <a:ln w="127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i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régularisation pénalise les grands coefficients pour réduire l'overfitting. </a:t>
            </a:r>
          </a:p>
          <a:p>
            <a:pPr marL="0" indent="0">
              <a:buNone/>
            </a:pPr>
            <a:r>
              <a:rPr lang="fr-FR" sz="1100" i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L'hyperparamètre alpha contrôle la force de la pénalité : plus alpha est grand, plus les </a:t>
            </a:r>
            <a:r>
              <a:rPr lang="fr-FR" sz="1100" i="1" noProof="0" dirty="0" err="1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coéfficients</a:t>
            </a:r>
            <a:r>
              <a:rPr lang="fr-FR" sz="1100" i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sont contraints.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508760"/>
            <a:ext cx="41148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384048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52704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(L2) - Meilleur alpha = 0.1</a:t>
            </a:r>
            <a:endParaRPr lang="fr-FR" sz="1300" noProof="0" dirty="0"/>
          </a:p>
        </p:txBody>
      </p:sp>
      <p:sp>
        <p:nvSpPr>
          <p:cNvPr id="9" name="Text 7"/>
          <p:cNvSpPr/>
          <p:nvPr/>
        </p:nvSpPr>
        <p:spPr>
          <a:xfrm>
            <a:off x="411480" y="196596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la somme des carres des coefficients (L2). Réduit tous les coefficients sans les annuler.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(cv=5)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alpha = 0.1. Le R² chute rapidement au-delà : une régularisation trop forte conduit au sous-apprentissage.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: 0.9821  |  R² Test : 0.9365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: 117 536 $  |  RMSE : 143 863 $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Train-Test : 0.0456 (réduit vs Baseline)</a:t>
            </a:r>
            <a:endParaRPr lang="fr-FR" sz="1100" noProof="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20624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20624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4709160" y="152704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(L1) - Meilleur alpha = 1000</a:t>
            </a:r>
            <a:endParaRPr lang="fr-FR" sz="1300" noProof="0" dirty="0"/>
          </a:p>
        </p:txBody>
      </p:sp>
      <p:sp>
        <p:nvSpPr>
          <p:cNvPr id="13" name="Text 11"/>
          <p:cNvSpPr/>
          <p:nvPr/>
        </p:nvSpPr>
        <p:spPr>
          <a:xfrm>
            <a:off x="4800600" y="1965960"/>
            <a:ext cx="39319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Pénalise la somme des valeurs absolues (L1). Peut annuler certains coefficients : sélection automatique de variables.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GridSearchCV (cv=5)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alpha = 1000. Le R² augmente jusqu’au bord de la grille : élargir la recherche (5 000, 10 000) pour confirmer l’optimum global.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b="1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: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Train : 0.9844  |  R² Test : 0.9438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: 114 353 $  |  RMSE : 135 369 $</a:t>
            </a:r>
            <a:endParaRPr lang="fr-FR" sz="1100" noProof="0" dirty="0"/>
          </a:p>
          <a:p>
            <a:pPr marL="0" indent="0">
              <a:buNone/>
            </a:pPr>
            <a:r>
              <a:rPr lang="fr-FR" sz="110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Ecart Train-Test : 0.0406 (meilleur des 3)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Résultats et comparaison des modèles</a:t>
            </a:r>
            <a:endParaRPr lang="fr-FR" sz="2200" noProof="0" dirty="0"/>
          </a:p>
        </p:txBody>
      </p:sp>
      <p:sp>
        <p:nvSpPr>
          <p:cNvPr id="4" name="Text 2"/>
          <p:cNvSpPr/>
          <p:nvPr/>
        </p:nvSpPr>
        <p:spPr>
          <a:xfrm>
            <a:off x="274320" y="77724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performance comparatif</a:t>
            </a:r>
            <a:endParaRPr lang="fr-FR" sz="14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8952003"/>
              </p:ext>
            </p:extLst>
          </p:nvPr>
        </p:nvGraphicFramePr>
        <p:xfrm>
          <a:off x="274320" y="1097280"/>
          <a:ext cx="8869680" cy="117043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Modèle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Train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 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Ecart Train-Test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Régression Linéaire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0.9865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0.9313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127 770 $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149 685 $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E85D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0.0552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 (alpha = 0.1)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0.9821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0.9365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117 536 $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143 863 $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0.0456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1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Lasso (alpha = 1000)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0.9844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0.9438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114 353 $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135 369 $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100" b="1" noProof="0" dirty="0">
                          <a:solidFill>
                            <a:srgbClr val="0596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0.0406</a:t>
                      </a:r>
                      <a:endParaRPr lang="fr-FR" sz="11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D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274320" y="2514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 par modèle</a:t>
            </a:r>
            <a:endParaRPr lang="fr-FR" sz="1200" noProof="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274320" y="2788920"/>
          <a:ext cx="40233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Text 4"/>
          <p:cNvSpPr/>
          <p:nvPr/>
        </p:nvSpPr>
        <p:spPr>
          <a:xfrm>
            <a:off x="4754880" y="2514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 par modèle ($)</a:t>
            </a:r>
            <a:endParaRPr lang="fr-FR" sz="1200" noProof="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4754880" y="2788920"/>
          <a:ext cx="411480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Conclusions et recommandations</a:t>
            </a:r>
            <a:endParaRPr lang="fr-FR" sz="2200" noProof="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8595360" cy="640080"/>
          </a:xfrm>
          <a:prstGeom prst="rect">
            <a:avLst/>
          </a:prstGeom>
          <a:solidFill>
            <a:srgbClr val="059669">
              <a:alpha val="12000"/>
            </a:srgbClr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recommandé : Lasso (alpha = 1000) - Meilleur R² Test (0.9438), MAE et RMSE les plus faibles, overfitting le plus réduit, sélection automatique de variables.</a:t>
            </a:r>
            <a:endParaRPr lang="fr-FR" sz="1100" noProof="0" dirty="0"/>
          </a:p>
        </p:txBody>
      </p:sp>
      <p:sp>
        <p:nvSpPr>
          <p:cNvPr id="6" name="Shape 4"/>
          <p:cNvSpPr/>
          <p:nvPr/>
        </p:nvSpPr>
        <p:spPr>
          <a:xfrm>
            <a:off x="274320" y="1554480"/>
            <a:ext cx="402336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7" name="Shape 5"/>
          <p:cNvSpPr/>
          <p:nvPr/>
        </p:nvSpPr>
        <p:spPr>
          <a:xfrm>
            <a:off x="274320" y="1554480"/>
            <a:ext cx="4023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8" name="Text 6"/>
          <p:cNvSpPr/>
          <p:nvPr/>
        </p:nvSpPr>
        <p:spPr>
          <a:xfrm>
            <a:off x="320040" y="15727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les plus importantes</a:t>
            </a:r>
            <a:endParaRPr lang="fr-FR" sz="1300" noProof="0" dirty="0"/>
          </a:p>
        </p:txBody>
      </p:sp>
      <p:sp>
        <p:nvSpPr>
          <p:cNvPr id="9" name="Shape 7"/>
          <p:cNvSpPr/>
          <p:nvPr/>
        </p:nvSpPr>
        <p:spPr>
          <a:xfrm>
            <a:off x="411480" y="2048256"/>
            <a:ext cx="320040" cy="32004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fr-FR" sz="1200" noProof="0" dirty="0"/>
          </a:p>
        </p:txBody>
      </p:sp>
      <p:sp>
        <p:nvSpPr>
          <p:cNvPr id="11" name="Text 9"/>
          <p:cNvSpPr/>
          <p:nvPr/>
        </p:nvSpPr>
        <p:spPr>
          <a:xfrm>
            <a:off x="795528" y="204825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fr-FR" sz="1100" noProof="0" dirty="0"/>
          </a:p>
        </p:txBody>
      </p:sp>
      <p:sp>
        <p:nvSpPr>
          <p:cNvPr id="12" name="Text 10"/>
          <p:cNvSpPr/>
          <p:nvPr/>
        </p:nvSpPr>
        <p:spPr>
          <a:xfrm>
            <a:off x="795528" y="232257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 dominant - hétérogénéité forte entre magasins</a:t>
            </a:r>
            <a:endParaRPr lang="fr-FR" sz="950" noProof="0" dirty="0"/>
          </a:p>
        </p:txBody>
      </p:sp>
      <p:sp>
        <p:nvSpPr>
          <p:cNvPr id="13" name="Shape 11"/>
          <p:cNvSpPr/>
          <p:nvPr/>
        </p:nvSpPr>
        <p:spPr>
          <a:xfrm>
            <a:off x="411480" y="2596896"/>
            <a:ext cx="320040" cy="3200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411480" y="263347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fr-FR" sz="1200" noProof="0" dirty="0"/>
          </a:p>
        </p:txBody>
      </p:sp>
      <p:sp>
        <p:nvSpPr>
          <p:cNvPr id="15" name="Text 13"/>
          <p:cNvSpPr/>
          <p:nvPr/>
        </p:nvSpPr>
        <p:spPr>
          <a:xfrm>
            <a:off x="795528" y="25968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fr-FR" sz="1100" noProof="0" dirty="0"/>
          </a:p>
        </p:txBody>
      </p:sp>
      <p:sp>
        <p:nvSpPr>
          <p:cNvPr id="16" name="Text 14"/>
          <p:cNvSpPr/>
          <p:nvPr/>
        </p:nvSpPr>
        <p:spPr>
          <a:xfrm>
            <a:off x="795528" y="287121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Tendance haussière des ventes dans le temps</a:t>
            </a:r>
            <a:endParaRPr lang="fr-FR" sz="950" noProof="0" dirty="0"/>
          </a:p>
        </p:txBody>
      </p:sp>
      <p:sp>
        <p:nvSpPr>
          <p:cNvPr id="17" name="Shape 15"/>
          <p:cNvSpPr/>
          <p:nvPr/>
        </p:nvSpPr>
        <p:spPr>
          <a:xfrm>
            <a:off x="411480" y="3145536"/>
            <a:ext cx="320040" cy="320040"/>
          </a:xfrm>
          <a:prstGeom prst="rect">
            <a:avLst/>
          </a:prstGeom>
          <a:solidFill>
            <a:srgbClr val="E85D4A"/>
          </a:solidFill>
          <a:ln w="12700">
            <a:solidFill>
              <a:srgbClr val="E85D4A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411480" y="318211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fr-FR" sz="1200" noProof="0" dirty="0"/>
          </a:p>
        </p:txBody>
      </p:sp>
      <p:sp>
        <p:nvSpPr>
          <p:cNvPr id="19" name="Text 17"/>
          <p:cNvSpPr/>
          <p:nvPr/>
        </p:nvSpPr>
        <p:spPr>
          <a:xfrm>
            <a:off x="795528" y="314553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Unemployment</a:t>
            </a:r>
            <a:endParaRPr lang="fr-FR" sz="1100" noProof="0" dirty="0"/>
          </a:p>
        </p:txBody>
      </p:sp>
      <p:sp>
        <p:nvSpPr>
          <p:cNvPr id="20" name="Text 18"/>
          <p:cNvSpPr/>
          <p:nvPr/>
        </p:nvSpPr>
        <p:spPr>
          <a:xfrm>
            <a:off x="795528" y="341985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Corrélation négative - chômage élevé = ventes faibles</a:t>
            </a:r>
            <a:endParaRPr lang="fr-FR" sz="950" noProof="0" dirty="0"/>
          </a:p>
        </p:txBody>
      </p:sp>
      <p:sp>
        <p:nvSpPr>
          <p:cNvPr id="21" name="Shape 19"/>
          <p:cNvSpPr/>
          <p:nvPr/>
        </p:nvSpPr>
        <p:spPr>
          <a:xfrm>
            <a:off x="411480" y="3694176"/>
            <a:ext cx="320040" cy="320040"/>
          </a:xfrm>
          <a:prstGeom prst="rect">
            <a:avLst/>
          </a:prstGeom>
          <a:solidFill>
            <a:srgbClr val="0071CE"/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Text 20"/>
          <p:cNvSpPr/>
          <p:nvPr/>
        </p:nvSpPr>
        <p:spPr>
          <a:xfrm>
            <a:off x="411480" y="373075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fr-FR" sz="1200" noProof="0" dirty="0"/>
          </a:p>
        </p:txBody>
      </p:sp>
      <p:sp>
        <p:nvSpPr>
          <p:cNvPr id="23" name="Text 21"/>
          <p:cNvSpPr/>
          <p:nvPr/>
        </p:nvSpPr>
        <p:spPr>
          <a:xfrm>
            <a:off x="795528" y="3694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</a:t>
            </a:r>
            <a:endParaRPr lang="fr-FR" sz="1100" noProof="0" dirty="0"/>
          </a:p>
        </p:txBody>
      </p:sp>
      <p:sp>
        <p:nvSpPr>
          <p:cNvPr id="24" name="Text 22"/>
          <p:cNvSpPr/>
          <p:nvPr/>
        </p:nvSpPr>
        <p:spPr>
          <a:xfrm>
            <a:off x="795528" y="396849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Saisonnalité mensuelle des ventes</a:t>
            </a:r>
            <a:endParaRPr lang="fr-FR" sz="950" noProof="0" dirty="0"/>
          </a:p>
        </p:txBody>
      </p:sp>
      <p:sp>
        <p:nvSpPr>
          <p:cNvPr id="25" name="Shape 23"/>
          <p:cNvSpPr/>
          <p:nvPr/>
        </p:nvSpPr>
        <p:spPr>
          <a:xfrm>
            <a:off x="411480" y="4242816"/>
            <a:ext cx="320040" cy="3200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6" name="Text 24"/>
          <p:cNvSpPr/>
          <p:nvPr/>
        </p:nvSpPr>
        <p:spPr>
          <a:xfrm>
            <a:off x="411480" y="4279392"/>
            <a:ext cx="320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fr-FR" sz="1200" noProof="0" dirty="0"/>
          </a:p>
        </p:txBody>
      </p:sp>
      <p:sp>
        <p:nvSpPr>
          <p:cNvPr id="27" name="Text 25"/>
          <p:cNvSpPr/>
          <p:nvPr/>
        </p:nvSpPr>
        <p:spPr>
          <a:xfrm>
            <a:off x="795528" y="42428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Holiday_Flag</a:t>
            </a:r>
            <a:endParaRPr lang="fr-FR" sz="1100" noProof="0" dirty="0"/>
          </a:p>
        </p:txBody>
      </p:sp>
      <p:sp>
        <p:nvSpPr>
          <p:cNvPr id="28" name="Text 26"/>
          <p:cNvSpPr/>
          <p:nvPr/>
        </p:nvSpPr>
        <p:spPr>
          <a:xfrm>
            <a:off x="795528" y="4517136"/>
            <a:ext cx="3337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50" noProof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Semaines de fêtes : +7.5% de ventes en moyenne</a:t>
            </a:r>
            <a:endParaRPr lang="fr-FR" sz="950" noProof="0" dirty="0"/>
          </a:p>
        </p:txBody>
      </p:sp>
      <p:sp>
        <p:nvSpPr>
          <p:cNvPr id="29" name="Shape 27"/>
          <p:cNvSpPr/>
          <p:nvPr/>
        </p:nvSpPr>
        <p:spPr>
          <a:xfrm>
            <a:off x="4572000" y="1554480"/>
            <a:ext cx="42976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0" name="Shape 28"/>
          <p:cNvSpPr/>
          <p:nvPr/>
        </p:nvSpPr>
        <p:spPr>
          <a:xfrm>
            <a:off x="4572000" y="1554480"/>
            <a:ext cx="4297680" cy="384048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Text 29"/>
          <p:cNvSpPr/>
          <p:nvPr/>
        </p:nvSpPr>
        <p:spPr>
          <a:xfrm>
            <a:off x="4617720" y="157276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et perspectives</a:t>
            </a:r>
            <a:endParaRPr lang="fr-FR" sz="1300" noProof="0" dirty="0"/>
          </a:p>
        </p:txBody>
      </p:sp>
      <p:sp>
        <p:nvSpPr>
          <p:cNvPr id="32" name="Text 30"/>
          <p:cNvSpPr/>
          <p:nvPr/>
        </p:nvSpPr>
        <p:spPr>
          <a:xfrm>
            <a:off x="4709160" y="20299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E85D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 :</a:t>
            </a:r>
            <a:endParaRPr lang="fr-FR" sz="1200" noProof="0" dirty="0"/>
          </a:p>
        </p:txBody>
      </p:sp>
      <p:sp>
        <p:nvSpPr>
          <p:cNvPr id="33" name="Text 31"/>
          <p:cNvSpPr/>
          <p:nvPr/>
        </p:nvSpPr>
        <p:spPr>
          <a:xfrm>
            <a:off x="4709160" y="23042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réduit (71 obs. après nettoyage) - résultats à confirmer sur plus de données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grille alpha Lasso (max 1000) pourrait être élargie pour confirmer l'optimum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régression linéaire suppose une relation linéaire entre X et y</a:t>
            </a:r>
            <a:endParaRPr lang="fr-FR" sz="1050" noProof="0" dirty="0"/>
          </a:p>
        </p:txBody>
      </p:sp>
      <p:sp>
        <p:nvSpPr>
          <p:cNvPr id="34" name="Text 32"/>
          <p:cNvSpPr/>
          <p:nvPr/>
        </p:nvSpPr>
        <p:spPr>
          <a:xfrm>
            <a:off x="4709160" y="34015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200" b="1" noProof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Perspectives :</a:t>
            </a:r>
            <a:endParaRPr lang="fr-FR" sz="1200" noProof="0" dirty="0"/>
          </a:p>
        </p:txBody>
      </p:sp>
      <p:sp>
        <p:nvSpPr>
          <p:cNvPr id="35" name="Text 33"/>
          <p:cNvSpPr/>
          <p:nvPr/>
        </p:nvSpPr>
        <p:spPr>
          <a:xfrm>
            <a:off x="4709160" y="3675888"/>
            <a:ext cx="4069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des modèles non linéaires : Random Forest, XGBoost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Enrichir le dataset avec des données externes (météo, évènements)</a:t>
            </a:r>
            <a:endParaRPr lang="fr-FR" sz="1050" noProof="0" dirty="0"/>
          </a:p>
          <a:p>
            <a:pPr marL="342900" indent="-342900">
              <a:buSzPct val="100000"/>
              <a:buChar char="•"/>
            </a:pPr>
            <a:r>
              <a:rPr lang="fr-FR" sz="1050" noProof="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production via une API pour prédiction en temps réel</a:t>
            </a:r>
            <a:endParaRPr lang="fr-FR" sz="10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itle"/>
          <p:cNvSpPr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200" b="1" noProof="0" dirty="0">
                <a:solidFill>
                  <a:srgbClr val="FFFFFF"/>
                </a:solidFill>
                <a:latin typeface="Calibri" pitchFamily="34" charset="0"/>
              </a:rPr>
              <a:t>09 - Implications pour le service marketing</a:t>
            </a:r>
          </a:p>
        </p:txBody>
      </p:sp>
      <p:sp>
        <p:nvSpPr>
          <p:cNvPr id="4" name="SubBanner"/>
          <p:cNvSpPr/>
          <p:nvPr/>
        </p:nvSpPr>
        <p:spPr>
          <a:xfrm>
            <a:off x="274320" y="804672"/>
            <a:ext cx="8595360" cy="548640"/>
          </a:xfrm>
          <a:prstGeom prst="rect">
            <a:avLst/>
          </a:prstGeom>
          <a:solidFill>
            <a:srgbClr val="0071CE">
              <a:alpha val="12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ubText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000" b="1" noProof="0" dirty="0">
                <a:solidFill>
                  <a:srgbClr val="0071CE"/>
                </a:solidFill>
                <a:latin typeface="Calibri" pitchFamily="34" charset="0"/>
              </a:rPr>
              <a:t>Le modèle Lasso quantifie l'influence des indicateurs économiques - leviers actionables pour planifier les campagnes</a:t>
            </a:r>
          </a:p>
        </p:txBody>
      </p:sp>
      <p:sp>
        <p:nvSpPr>
          <p:cNvPr id="10" name="C1bg"/>
          <p:cNvSpPr/>
          <p:nvPr/>
        </p:nvSpPr>
        <p:spPr>
          <a:xfrm>
            <a:off x="228600" y="155448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22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C1hdr"/>
          <p:cNvSpPr/>
          <p:nvPr/>
        </p:nvSpPr>
        <p:spPr>
          <a:xfrm>
            <a:off x="228600" y="1554480"/>
            <a:ext cx="4069080" cy="292608"/>
          </a:xfrm>
          <a:prstGeom prst="rect">
            <a:avLst/>
          </a:prstGeom>
          <a:solidFill>
            <a:srgbClr val="FFC220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C1ttl"/>
          <p:cNvSpPr/>
          <p:nvPr/>
        </p:nvSpPr>
        <p:spPr>
          <a:xfrm>
            <a:off x="274320" y="1572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1E2761"/>
                </a:solidFill>
                <a:latin typeface="Calibri" pitchFamily="34" charset="0"/>
              </a:rPr>
              <a:t>Jours fériés (Holiday_Flag)</a:t>
            </a:r>
          </a:p>
        </p:txBody>
      </p:sp>
      <p:sp>
        <p:nvSpPr>
          <p:cNvPr id="13" name="C1stat"/>
          <p:cNvSpPr/>
          <p:nvPr/>
        </p:nvSpPr>
        <p:spPr>
          <a:xfrm>
            <a:off x="274320" y="1884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FFC220"/>
                </a:solidFill>
                <a:latin typeface="Calibri" pitchFamily="34" charset="0"/>
              </a:rPr>
              <a:t>+7,5%</a:t>
            </a:r>
          </a:p>
        </p:txBody>
      </p:sp>
      <p:sp>
        <p:nvSpPr>
          <p:cNvPr id="14" name="C1txt"/>
          <p:cNvSpPr/>
          <p:nvPr/>
        </p:nvSpPr>
        <p:spPr>
          <a:xfrm>
            <a:off x="1920240" y="18843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Concentrer les budgets promotionnels sur les semaines de fêtes. Planifier les campagnes en avance.</a:t>
            </a:r>
          </a:p>
        </p:txBody>
      </p:sp>
      <p:sp>
        <p:nvSpPr>
          <p:cNvPr id="20" name="C2bg"/>
          <p:cNvSpPr/>
          <p:nvPr/>
        </p:nvSpPr>
        <p:spPr>
          <a:xfrm>
            <a:off x="4845960" y="155448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4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1" name="C2hdr"/>
          <p:cNvSpPr/>
          <p:nvPr/>
        </p:nvSpPr>
        <p:spPr>
          <a:xfrm>
            <a:off x="4845960" y="1554480"/>
            <a:ext cx="4069080" cy="292608"/>
          </a:xfrm>
          <a:prstGeom prst="rect">
            <a:avLst/>
          </a:prstGeom>
          <a:solidFill>
            <a:srgbClr val="E85D4A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22" name="C2ttl"/>
          <p:cNvSpPr/>
          <p:nvPr/>
        </p:nvSpPr>
        <p:spPr>
          <a:xfrm>
            <a:off x="4891680" y="157276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IPC - Indice des Prix à la Consommation</a:t>
            </a:r>
          </a:p>
        </p:txBody>
      </p:sp>
      <p:sp>
        <p:nvSpPr>
          <p:cNvPr id="23" name="C2stat"/>
          <p:cNvSpPr/>
          <p:nvPr/>
        </p:nvSpPr>
        <p:spPr>
          <a:xfrm>
            <a:off x="4891680" y="1884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2600" b="1" noProof="0" dirty="0">
                <a:solidFill>
                  <a:srgbClr val="E85D4A"/>
                </a:solidFill>
                <a:latin typeface="Calibri" pitchFamily="34" charset="0"/>
              </a:rPr>
              <a:t>r = -0,29</a:t>
            </a:r>
          </a:p>
        </p:txBody>
      </p:sp>
      <p:sp>
        <p:nvSpPr>
          <p:cNvPr id="24" name="C2txt"/>
          <p:cNvSpPr/>
          <p:nvPr/>
        </p:nvSpPr>
        <p:spPr>
          <a:xfrm>
            <a:off x="6537960" y="188438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Renforcer les offres prix lors des phases d'inflation. Adapter le positionnement sur les produits essentiels.</a:t>
            </a:r>
          </a:p>
        </p:txBody>
      </p:sp>
      <p:sp>
        <p:nvSpPr>
          <p:cNvPr id="30" name="C3bg"/>
          <p:cNvSpPr/>
          <p:nvPr/>
        </p:nvSpPr>
        <p:spPr>
          <a:xfrm>
            <a:off x="228600" y="301752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31" name="C3hdr"/>
          <p:cNvSpPr/>
          <p:nvPr/>
        </p:nvSpPr>
        <p:spPr>
          <a:xfrm>
            <a:off x="228600" y="3017520"/>
            <a:ext cx="4069080" cy="292608"/>
          </a:xfrm>
          <a:prstGeom prst="rect">
            <a:avLst/>
          </a:prstGeom>
          <a:solidFill>
            <a:srgbClr val="1E2761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2" name="C3ttl"/>
          <p:cNvSpPr/>
          <p:nvPr/>
        </p:nvSpPr>
        <p:spPr>
          <a:xfrm>
            <a:off x="274320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Chômage (Unemployment)</a:t>
            </a:r>
          </a:p>
        </p:txBody>
      </p:sp>
      <p:sp>
        <p:nvSpPr>
          <p:cNvPr id="33" name="C3stat"/>
          <p:cNvSpPr/>
          <p:nvPr/>
        </p:nvSpPr>
        <p:spPr>
          <a:xfrm>
            <a:off x="274320" y="33474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900" b="1" noProof="0" dirty="0">
                <a:solidFill>
                  <a:srgbClr val="1E2761"/>
                </a:solidFill>
                <a:latin typeface="Calibri" pitchFamily="34" charset="0"/>
              </a:rPr>
              <a:t>Négatif</a:t>
            </a:r>
          </a:p>
        </p:txBody>
      </p:sp>
      <p:sp>
        <p:nvSpPr>
          <p:cNvPr id="34" name="C3txt"/>
          <p:cNvSpPr/>
          <p:nvPr/>
        </p:nvSpPr>
        <p:spPr>
          <a:xfrm>
            <a:off x="1920240" y="3347424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Intensifier les promotions dans les bassins d'emploi fragilisés. Adapter la stratégie par zone géographique.</a:t>
            </a:r>
          </a:p>
        </p:txBody>
      </p:sp>
      <p:sp>
        <p:nvSpPr>
          <p:cNvPr id="40" name="C4bg"/>
          <p:cNvSpPr/>
          <p:nvPr/>
        </p:nvSpPr>
        <p:spPr>
          <a:xfrm>
            <a:off x="4845960" y="3017520"/>
            <a:ext cx="4069080" cy="1280160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1" name="C4hdr"/>
          <p:cNvSpPr/>
          <p:nvPr/>
        </p:nvSpPr>
        <p:spPr>
          <a:xfrm>
            <a:off x="4845960" y="3017520"/>
            <a:ext cx="4069080" cy="292608"/>
          </a:xfrm>
          <a:prstGeom prst="rect">
            <a:avLst/>
          </a:prstGeom>
          <a:solidFill>
            <a:srgbClr val="059669"/>
          </a:solidFill>
          <a:ln w="0">
            <a:noFill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42" name="C4ttl"/>
          <p:cNvSpPr/>
          <p:nvPr/>
        </p:nvSpPr>
        <p:spPr>
          <a:xfrm>
            <a:off x="4891680" y="3035808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100" b="1" noProof="0" dirty="0">
                <a:solidFill>
                  <a:srgbClr val="FFFFFF"/>
                </a:solidFill>
                <a:latin typeface="Calibri" pitchFamily="34" charset="0"/>
              </a:rPr>
              <a:t>Clé de lecture - combinaison des signaux</a:t>
            </a:r>
          </a:p>
        </p:txBody>
      </p:sp>
      <p:sp>
        <p:nvSpPr>
          <p:cNvPr id="43" name="C4txt"/>
          <p:cNvSpPr/>
          <p:nvPr/>
        </p:nvSpPr>
        <p:spPr>
          <a:xfrm>
            <a:off x="4891680" y="3347424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900" noProof="0" dirty="0">
                <a:solidFill>
                  <a:srgbClr val="374151"/>
                </a:solidFill>
                <a:latin typeface="Calibri" pitchFamily="34" charset="0"/>
              </a:rPr>
              <a:t>Aucun indicateur n'agit seul. Fêtes + chômage élevé + inflation = stratégie promotionnelle spécifique, différente d'une zone à fort emploi.</a:t>
            </a:r>
          </a:p>
        </p:txBody>
      </p:sp>
      <p:sp>
        <p:nvSpPr>
          <p:cNvPr id="50" name="Footer"/>
          <p:cNvSpPr/>
          <p:nvPr/>
        </p:nvSpPr>
        <p:spPr>
          <a:xfrm>
            <a:off x="228600" y="4755960"/>
            <a:ext cx="8686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750" i="1" noProof="0" dirty="0">
                <a:solidFill>
                  <a:srgbClr val="6B7280"/>
                </a:solidFill>
                <a:latin typeface="Calibri" pitchFamily="34" charset="0"/>
              </a:rPr>
              <a:t>Source : modèle Lasso (alpha = 1000, R² test = 0,9438) - 71 observations après prétraitement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8229600" cy="2560320"/>
          </a:xfrm>
          <a:prstGeom prst="rect">
            <a:avLst/>
          </a:prstGeom>
          <a:solidFill>
            <a:srgbClr val="FFFFFF">
              <a:alpha val="92000"/>
            </a:srgbClr>
          </a:solidFill>
          <a:ln w="12700">
            <a:solidFill>
              <a:srgbClr val="CADCF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3200" b="1" noProof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fr-F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3200400" y="2240280"/>
            <a:ext cx="2743200" cy="36576"/>
          </a:xfrm>
          <a:prstGeom prst="rect">
            <a:avLst/>
          </a:prstGeom>
          <a:solidFill>
            <a:srgbClr val="FFC220"/>
          </a:solidFill>
          <a:ln w="12700">
            <a:solidFill>
              <a:srgbClr val="FFC220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2000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fr-F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200" i="1" noProof="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Machine Learning supervisé  -  Walmart Weekly Sales Prédiction</a:t>
            </a:r>
            <a:endParaRPr lang="fr-FR" sz="1200" noProof="0" dirty="0">
              <a:solidFill>
                <a:srgbClr val="00B0F0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9" name="Text 7"/>
          <p:cNvSpPr/>
          <p:nvPr/>
        </p:nvSpPr>
        <p:spPr>
          <a:xfrm>
            <a:off x="64008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0.9438</a:t>
            </a:r>
            <a:endParaRPr lang="fr-F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64008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 Lasso</a:t>
            </a:r>
            <a:endParaRPr lang="fr-FR" sz="900" noProof="0" dirty="0"/>
          </a:p>
        </p:txBody>
      </p:sp>
      <p:sp>
        <p:nvSpPr>
          <p:cNvPr id="11" name="Shape 9"/>
          <p:cNvSpPr/>
          <p:nvPr/>
        </p:nvSpPr>
        <p:spPr>
          <a:xfrm>
            <a:off x="265176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265176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114 353 $</a:t>
            </a:r>
            <a:endParaRPr lang="fr-F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265176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Test</a:t>
            </a:r>
            <a:endParaRPr lang="fr-FR" sz="900" noProof="0" dirty="0"/>
          </a:p>
        </p:txBody>
      </p:sp>
      <p:sp>
        <p:nvSpPr>
          <p:cNvPr id="14" name="Shape 12"/>
          <p:cNvSpPr/>
          <p:nvPr/>
        </p:nvSpPr>
        <p:spPr>
          <a:xfrm>
            <a:off x="466344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135 369 $</a:t>
            </a:r>
            <a:endParaRPr lang="fr-FR" sz="1500" noProof="0" dirty="0"/>
          </a:p>
        </p:txBody>
      </p:sp>
      <p:sp>
        <p:nvSpPr>
          <p:cNvPr id="16" name="Text 14"/>
          <p:cNvSpPr/>
          <p:nvPr/>
        </p:nvSpPr>
        <p:spPr>
          <a:xfrm>
            <a:off x="466344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Test</a:t>
            </a:r>
            <a:endParaRPr lang="fr-FR" sz="900" noProof="0" dirty="0"/>
          </a:p>
        </p:txBody>
      </p:sp>
      <p:sp>
        <p:nvSpPr>
          <p:cNvPr id="17" name="Shape 15"/>
          <p:cNvSpPr/>
          <p:nvPr/>
        </p:nvSpPr>
        <p:spPr>
          <a:xfrm>
            <a:off x="6675120" y="3931920"/>
            <a:ext cx="1828800" cy="822960"/>
          </a:xfrm>
          <a:prstGeom prst="rect">
            <a:avLst/>
          </a:prstGeom>
          <a:solidFill>
            <a:srgbClr val="0071CE">
              <a:alpha val="20000"/>
            </a:srgbClr>
          </a:solidFill>
          <a:ln w="12700">
            <a:solidFill>
              <a:srgbClr val="0071C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6"/>
          <p:cNvSpPr/>
          <p:nvPr/>
        </p:nvSpPr>
        <p:spPr>
          <a:xfrm>
            <a:off x="6675120" y="3977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C2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Lasso (a=1000)</a:t>
            </a:r>
            <a:endParaRPr lang="fr-FR" sz="1500" noProof="0" dirty="0"/>
          </a:p>
        </p:txBody>
      </p:sp>
      <p:sp>
        <p:nvSpPr>
          <p:cNvPr id="19" name="Text 17"/>
          <p:cNvSpPr/>
          <p:nvPr/>
        </p:nvSpPr>
        <p:spPr>
          <a:xfrm>
            <a:off x="6675120" y="44074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900" noProof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retenu</a:t>
            </a:r>
            <a:endParaRPr lang="fr-FR" sz="9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</TotalTime>
  <Words>1440</Words>
  <Application>Microsoft Office PowerPoint</Application>
  <PresentationFormat>Affichage à l'écran (16:9)</PresentationFormat>
  <Paragraphs>266</Paragraphs>
  <Slides>12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Walmart - Prediction des ventes hebdomadaires</dc:title>
  <dc:subject>PptxGenJS Presentation</dc:subject>
  <dc:creator>PptxGenJS</dc:creator>
  <cp:lastModifiedBy>Aicha FATHELLAH</cp:lastModifiedBy>
  <cp:revision>14</cp:revision>
  <dcterms:created xsi:type="dcterms:W3CDTF">2026-05-13T19:11:33Z</dcterms:created>
  <dcterms:modified xsi:type="dcterms:W3CDTF">2026-06-29T15:47:48Z</dcterms:modified>
</cp:coreProperties>
</file>