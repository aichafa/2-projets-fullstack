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8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8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Distribution variable cible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B9BD5"/>
              </a:solidFill>
              <a:effectLst/>
            </c:spPr>
          </c:dPt>
          <c:dPt>
            <c:idx val="1"/>
            <c:bubble3D val="0"/>
            <c:spPr>
              <a:solidFill>
                <a:srgbClr val="ED7D3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Non converti (96,8%)</c:v>
                </c:pt>
                <c:pt idx="1">
                  <c:v>Converti (3,2%)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275400</c:v>
                </c:pt>
                <c:pt idx="1">
                  <c:v>9180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Arial"/>
              </a:rPr>
              <a:t>Taux de conversion par segment de pages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conversion (%)</c:v>
                </c:pt>
              </c:strCache>
            </c:strRef>
          </c:tx>
          <c:spPr>
            <a:solidFill>
              <a:srgbClr val="1A6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6B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B5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D7D3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430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1-3 pages</c:v>
                  </c:pt>
                  <c:pt idx="1">
                    <c:v>4-7 pages</c:v>
                  </c:pt>
                  <c:pt idx="2">
                    <c:v>8-15 pages</c:v>
                  </c:pt>
                  <c:pt idx="3">
                    <c:v>16+ pages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0.3</c:v>
                </c:pt>
                <c:pt idx="2">
                  <c:v>10.9</c:v>
                </c:pt>
                <c:pt idx="3">
                  <c:v>94.3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Taux de conversion par pays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(%)</c:v>
                </c:pt>
              </c:strCache>
            </c:strRef>
          </c:tx>
          <c:spPr>
            <a:solidFill>
              <a:srgbClr val="1A6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6B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B5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9BD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BD5E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Germany</c:v>
                  </c:pt>
                  <c:pt idx="1">
                    <c:v>UK</c:v>
                  </c:pt>
                  <c:pt idx="2">
                    <c:v>US</c:v>
                  </c:pt>
                  <c:pt idx="3">
                    <c:v>China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6.2</c:v>
                </c:pt>
                <c:pt idx="1">
                  <c:v>5.2</c:v>
                </c:pt>
                <c:pt idx="2">
                  <c:v>3.8</c:v>
                </c:pt>
                <c:pt idx="3">
                  <c:v>0.1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Taux de conversion par source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(%)</c:v>
                </c:pt>
              </c:strCache>
            </c:strRef>
          </c:tx>
          <c:spPr>
            <a:solidFill>
              <a:srgbClr val="1A6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6B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B5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9BD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Ads</c:v>
                  </c:pt>
                  <c:pt idx="1">
                    <c:v>Seo</c:v>
                  </c:pt>
                  <c:pt idx="2">
                    <c:v>Direct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3.5</c:v>
                </c:pt>
                <c:pt idx="1">
                  <c:v>3.3</c:v>
                </c:pt>
                <c:pt idx="2">
                  <c:v>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Taux de conversion new_user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(%)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D7D3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9BD5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Utilisateur existant (0)</c:v>
                  </c:pt>
                  <c:pt idx="1">
                    <c:v>Nouvel utilisateur (1)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7.2</c:v>
                </c:pt>
                <c:pt idx="1">
                  <c:v>1.4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Score F1 par modèle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F1</c:v>
                </c:pt>
              </c:strCache>
            </c:strRef>
          </c:tx>
          <c:spPr>
            <a:solidFill>
              <a:srgbClr val="5B9BD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9BD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6B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D7D3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Régression Logistique</c:v>
                  </c:pt>
                  <c:pt idx="1">
                    <c:v>Random Forest</c:v>
                  </c:pt>
                  <c:pt idx="2">
                    <c:v>Gradient Boosting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0.512</c:v>
                </c:pt>
                <c:pt idx="1">
                  <c:v>0.555</c:v>
                </c:pt>
                <c:pt idx="2">
                  <c:v>0.757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Importance par impureté de Gini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BD5E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BD5E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6B8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6B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D7D3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source</c:v>
                  </c:pt>
                  <c:pt idx="1">
                    <c:v>age</c:v>
                  </c:pt>
                  <c:pt idx="2">
                    <c:v>country</c:v>
                  </c:pt>
                  <c:pt idx="3">
                    <c:v>new_user</c:v>
                  </c:pt>
                  <c:pt idx="4">
                    <c:v>total_pages_visited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0.0013</c:v>
                </c:pt>
                <c:pt idx="1">
                  <c:v>0.0254</c:v>
                </c:pt>
                <c:pt idx="2">
                  <c:v>0.0412</c:v>
                </c:pt>
                <c:pt idx="3">
                  <c:v>0.0567</c:v>
                </c:pt>
                <c:pt idx="4">
                  <c:v>0.8755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64008" cy="5143500"/>
          </a:xfrm>
          <a:prstGeom prst="rect">
            <a:avLst/>
          </a:prstGeom>
          <a:solidFill>
            <a:srgbClr val="2AB5A0"/>
          </a:solidFill>
          <a:ln w="12700">
            <a:solidFill>
              <a:srgbClr val="2AB5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49440" y="-1097280"/>
            <a:ext cx="4114800" cy="4114800"/>
          </a:xfrm>
          <a:prstGeom prst="ellipse">
            <a:avLst/>
          </a:prstGeom>
          <a:solidFill>
            <a:srgbClr val="1A6B8A">
              <a:alpha val="18000"/>
            </a:srgbClr>
          </a:solidFill>
          <a:ln w="12700">
            <a:solidFill>
              <a:srgbClr val="1A6B8A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2560320"/>
            <a:ext cx="2743200" cy="2743200"/>
          </a:xfrm>
          <a:prstGeom prst="ellipse">
            <a:avLst/>
          </a:prstGeom>
          <a:solidFill>
            <a:srgbClr val="2AB5A0">
              <a:alpha val="12000"/>
            </a:srgbClr>
          </a:solidFill>
          <a:ln w="12700">
            <a:solidFill>
              <a:srgbClr val="2AB5A0">
                <a:alpha val="2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6858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du Taux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Conversion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288036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des abonnements à la newsletter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Weekly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3931920"/>
            <a:ext cx="2926080" cy="59436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39319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 : Score F1   |   Gradient Boosting : F1 = 0,7569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594360" cy="658368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70432" y="95097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Données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1243584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projet, jeu de données, variables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8229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719072"/>
            <a:ext cx="594360" cy="658368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1907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70432" y="17556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(EDA)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04825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Distribution, corrélations, anomalies, visualisations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523744"/>
            <a:ext cx="8229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523744"/>
            <a:ext cx="594360" cy="658368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23744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70432" y="25603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70432" y="2852928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modèles comparés : Régression Logistique, Random Forest, Gradient Boosting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28416"/>
            <a:ext cx="8229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28416"/>
            <a:ext cx="594360" cy="658368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2841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70432" y="33649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Prédictions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365760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F1, ROC-AUC, prédictions sur le jeu de 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133088"/>
            <a:ext cx="8229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133088"/>
            <a:ext cx="594360" cy="658368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133088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70432" y="41696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70432" y="4462272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d'action pour améliorer le taux de conversion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Contexte &amp; Données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393192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3931920" cy="34747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686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du projet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611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www.datascienceweekly.org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 hebdomadaire sur la data science rédigée par des experts indépendants.
</a:t>
            </a:r>
            <a:pPr algn="l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Objectif : </a:t>
            </a:r>
            <a:pPr algn="l" indent="0" marL="0">
              <a:buNone/>
            </a:pP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Prédire si un visiteur va s'abonner à partir de son comportement de navigation.
</a:t>
            </a:r>
            <a:pPr algn="l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Compétition de type Kaggle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 imposée : Score F1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868680"/>
            <a:ext cx="420624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868680"/>
            <a:ext cx="4206240" cy="347472"/>
          </a:xfrm>
          <a:prstGeom prst="rect">
            <a:avLst/>
          </a:prstGeom>
          <a:solidFill>
            <a:srgbClr val="2AB5A0"/>
          </a:solidFill>
          <a:ln w="12700">
            <a:solidFill>
              <a:srgbClr val="2AB5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8686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du jeu de données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335024"/>
            <a:ext cx="3977640" cy="420624"/>
          </a:xfrm>
          <a:prstGeom prst="rect">
            <a:avLst/>
          </a:prstGeom>
          <a:solidFill>
            <a:srgbClr val="F0F4F8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6592" y="13533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36592" y="155448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Catégorielle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17920" y="1353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(China, Germany, UK, US)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847088"/>
            <a:ext cx="3977640" cy="420624"/>
          </a:xfrm>
          <a:prstGeom prst="rect">
            <a:avLst/>
          </a:prstGeom>
          <a:solidFill>
            <a:srgbClr val="F0F4F8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6592" y="186537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36592" y="206654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Numérique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0" y="186537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du visiteur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2359152"/>
            <a:ext cx="3977640" cy="420624"/>
          </a:xfrm>
          <a:prstGeom prst="rect">
            <a:avLst/>
          </a:prstGeom>
          <a:solidFill>
            <a:srgbClr val="F0F4F8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36592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new_user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36592" y="257860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Binaire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217920" y="2377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1=nouveau, 0=existant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2871216"/>
            <a:ext cx="3977640" cy="420624"/>
          </a:xfrm>
          <a:prstGeom prst="rect">
            <a:avLst/>
          </a:prstGeom>
          <a:solidFill>
            <a:srgbClr val="F0F4F8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28895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36592" y="309067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Catégorielle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217920" y="28895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/ Seo / Direct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63440" y="3383280"/>
            <a:ext cx="3977640" cy="420624"/>
          </a:xfrm>
          <a:prstGeom prst="rect">
            <a:avLst/>
          </a:prstGeom>
          <a:solidFill>
            <a:srgbClr val="F0F4F8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36592" y="3401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total_pages_visited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36592" y="360273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Numérique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217920" y="34015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vues en session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3895344"/>
            <a:ext cx="3977640" cy="420624"/>
          </a:xfrm>
          <a:prstGeom prst="rect">
            <a:avLst/>
          </a:prstGeom>
          <a:solidFill>
            <a:srgbClr val="FFF3E0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36592" y="3913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 ★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36592" y="411480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39136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1=abonné, 0=non abonné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Analyse Exploratoire — Déséquilibre &amp; Anomalie</a:t>
            </a:r>
            <a:endParaRPr lang="en-US" sz="2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777240"/>
          <a:ext cx="4114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754880" y="804672"/>
            <a:ext cx="13258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754880" y="804672"/>
            <a:ext cx="1325880" cy="109728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54880" y="8961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284 580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754880" y="13716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Visiteurs (train)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236208" y="804672"/>
            <a:ext cx="13258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36208" y="804672"/>
            <a:ext cx="1325880" cy="109728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36208" y="8961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3,2 %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236208" y="13716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conversion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717536" y="804672"/>
            <a:ext cx="13258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717536" y="804672"/>
            <a:ext cx="1325880" cy="109728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17536" y="8961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31 620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717536" y="13716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Visiteurs (test)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54880" y="1993392"/>
            <a:ext cx="4041648" cy="1280160"/>
          </a:xfrm>
          <a:prstGeom prst="rect">
            <a:avLst/>
          </a:prstGeom>
          <a:solidFill>
            <a:srgbClr val="FFF3E0"/>
          </a:solidFill>
          <a:ln w="12700">
            <a:solidFill>
              <a:srgbClr val="ED7D3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54880" y="1993392"/>
            <a:ext cx="4041648" cy="32004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54880" y="1993392"/>
            <a:ext cx="4041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 détectée : âge = 123 ans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864608" y="2359152"/>
            <a:ext cx="382219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lignes avec un âge aberrant (111 et 123 ans) — clairement une erreur de saisie (&lt; 0,001% des données). Ces lignes ont été supprimées pour ne pas biaiser le modèle.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0A2342">
              <a:alpha val="10000"/>
            </a:srgbClr>
          </a:solidFill>
          <a:ln w="10160">
            <a:solidFill>
              <a:srgbClr val="1A6B8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" y="406908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fort déséquilibre des classes (3,2% de positifs) impose l'utilisation du paramètre class_weight='balanced' pour la régression logistique et le Random Forest.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Analyse Exploratoire — Corrélations &amp; Pages visitées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393192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22960"/>
            <a:ext cx="3931920" cy="34747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avec converted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2618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total_pages_visited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0" cy="18288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2618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+0,53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828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(enc.)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2103120"/>
            <a:ext cx="0" cy="18288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828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+0,08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395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670048"/>
            <a:ext cx="0" cy="1828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39572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-0,09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29626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new_user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0" cy="1828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29626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-0,15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5295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(enc.)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803904"/>
            <a:ext cx="0" cy="18288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35295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-0,00</a:t>
            </a:r>
            <a:endParaRPr lang="en-US" sz="11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4572000" y="822960"/>
          <a:ext cx="42062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Analyse Exploratoire — Variables catégorielles</a:t>
            </a:r>
            <a:endParaRPr lang="en-US" sz="2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804672"/>
          <a:ext cx="2743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3337560" y="804672"/>
          <a:ext cx="2743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6309360" y="804672"/>
          <a:ext cx="24688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Shape 2"/>
          <p:cNvSpPr/>
          <p:nvPr/>
        </p:nvSpPr>
        <p:spPr>
          <a:xfrm>
            <a:off x="365760" y="3657600"/>
            <a:ext cx="4160520" cy="1005840"/>
          </a:xfrm>
          <a:prstGeom prst="rect">
            <a:avLst/>
          </a:prstGeom>
          <a:solidFill>
            <a:srgbClr val="FFF3E0"/>
          </a:solidFill>
          <a:ln w="10160">
            <a:solidFill>
              <a:srgbClr val="ED7D31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475488" y="37033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 : 0,1%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475488" y="395935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Internet restreint — probablement un problème de collecte.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4800600" y="3657600"/>
            <a:ext cx="4160520" cy="1005840"/>
          </a:xfrm>
          <a:prstGeom prst="rect">
            <a:avLst/>
          </a:prstGeom>
          <a:solidFill>
            <a:srgbClr val="E8F5E9"/>
          </a:solidFill>
          <a:ln w="10160">
            <a:solidFill>
              <a:srgbClr val="70AD47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4910328" y="37033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existants 5x plus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4910328" y="395935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new_user=0 → 7,2% vs new_user=1 → 1,4% : ils connaissent déjà le site.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Modélisation — 3 modèles comparés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2743200" cy="3886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22960"/>
            <a:ext cx="2743200" cy="384048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Logistique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1005840" cy="2286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max_iter=1000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class_weight='balanced'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: StandardScaler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3035808"/>
            <a:ext cx="1207008" cy="594360"/>
          </a:xfrm>
          <a:prstGeom prst="rect">
            <a:avLst/>
          </a:prstGeom>
          <a:solidFill>
            <a:srgbClr val="F0F4F8"/>
          </a:solidFill>
          <a:ln w="10160">
            <a:solidFill>
              <a:srgbClr val="5B9B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03580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32735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0,512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810512" y="3035808"/>
            <a:ext cx="1207008" cy="594360"/>
          </a:xfrm>
          <a:prstGeom prst="rect">
            <a:avLst/>
          </a:prstGeom>
          <a:solidFill>
            <a:srgbClr val="F0F4F8"/>
          </a:solidFill>
          <a:ln w="10160">
            <a:solidFill>
              <a:srgbClr val="1A6B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10512" y="303580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10512" y="32735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0,986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" y="373075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référence simple et interprétable.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91840" y="822960"/>
            <a:ext cx="2743200" cy="3886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0" y="822960"/>
            <a:ext cx="2743200" cy="384048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8229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1280160"/>
            <a:ext cx="1005840" cy="22860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2801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AMÉLIORÉ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3280" y="1572768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n_estimators=200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max_depth=10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min_samples_leaf=10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class_weight='balanced'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83280" y="3035808"/>
            <a:ext cx="1207008" cy="594360"/>
          </a:xfrm>
          <a:prstGeom prst="rect">
            <a:avLst/>
          </a:prstGeom>
          <a:solidFill>
            <a:srgbClr val="F0F4F8"/>
          </a:solidFill>
          <a:ln w="10160">
            <a:solidFill>
              <a:srgbClr val="1A6B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0" y="303580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32735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0,555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736592" y="3035808"/>
            <a:ext cx="1207008" cy="594360"/>
          </a:xfrm>
          <a:prstGeom prst="rect">
            <a:avLst/>
          </a:prstGeom>
          <a:solidFill>
            <a:srgbClr val="F0F4F8"/>
          </a:solidFill>
          <a:ln w="10160">
            <a:solidFill>
              <a:srgbClr val="1A6B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303580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36592" y="32735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0,984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3383280" y="373075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native des non-linéarités, robuste au bruit.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217920" y="822960"/>
            <a:ext cx="2743200" cy="3886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17920" y="822960"/>
            <a:ext cx="2743200" cy="384048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0" y="8229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1280160"/>
            <a:ext cx="1005840" cy="22860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12801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309360" y="1572768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n_estimators=200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learning_rate=0,05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max_depth=4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subsample=0,8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9360" y="3035808"/>
            <a:ext cx="1207008" cy="594360"/>
          </a:xfrm>
          <a:prstGeom prst="rect">
            <a:avLst/>
          </a:prstGeom>
          <a:solidFill>
            <a:srgbClr val="F0F4F8"/>
          </a:solidFill>
          <a:ln w="10160">
            <a:solidFill>
              <a:srgbClr val="ED7D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303580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32735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0,757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7662672" y="3035808"/>
            <a:ext cx="1207008" cy="594360"/>
          </a:xfrm>
          <a:prstGeom prst="rect">
            <a:avLst/>
          </a:prstGeom>
          <a:solidFill>
            <a:srgbClr val="F0F4F8"/>
          </a:solidFill>
          <a:ln w="10160">
            <a:solidFill>
              <a:srgbClr val="1A6B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62672" y="303580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662672" y="32735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0,986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6309360" y="373075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séquentielle, corrige les erreurs itérativement.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Résultats — Comparaison des performances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804672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822960"/>
            <a:ext cx="30175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760720" y="822960"/>
            <a:ext cx="137160" cy="114300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89320" y="9326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0,757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989320" y="14447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F1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89320" y="16733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760720" y="2148840"/>
            <a:ext cx="30175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760720" y="2148840"/>
            <a:ext cx="137160" cy="114300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89320" y="2258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0,986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5989320" y="27706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max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989320" y="299923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modèles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760720" y="3474720"/>
            <a:ext cx="30175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0" y="3474720"/>
            <a:ext cx="137160" cy="11430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5844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31 620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5989320" y="4096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Prédictions test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989320" y="43251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837 convertis prédits (2,65%)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65760" y="4133088"/>
            <a:ext cx="5029200" cy="566928"/>
          </a:xfrm>
          <a:prstGeom prst="rect">
            <a:avLst/>
          </a:prstGeom>
          <a:solidFill>
            <a:srgbClr val="0A2342">
              <a:alpha val="10000"/>
            </a:srgbClr>
          </a:solidFill>
          <a:ln w="10160">
            <a:solidFill>
              <a:srgbClr val="1A6B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5488" y="4133088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: +25 pts de F1 vs baseline. ROC-AUC &gt; 0,98 pour les 3 modèles.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Résultats — Importance des variables (Gradient Boosting)</a:t>
            </a:r>
            <a:endParaRPr lang="en-US" sz="2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804672"/>
          <a:ext cx="53035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804672"/>
            <a:ext cx="283464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943600" y="804672"/>
            <a:ext cx="2834640" cy="347472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8046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053328" y="12801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87,5 %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12801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total_pages_visited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053328" y="1554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Prédicteur quasi unique. Le comportement de navigation prime sur tout le reste.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053328" y="19202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5,7 %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66560" y="1920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new_user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053328" y="2194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existants convertissent 5x plus que les nouveaux.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053328" y="25603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4,1 %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766560" y="2560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053328" y="28346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Chine tire le score vers le bas (0,1% de conversion).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053328" y="320040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2,5 %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766560" y="32004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053328" y="34747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18-25 ans convertissent légèrement plus.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53328" y="384048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0,1 %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766560" y="38404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053328" y="41148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source du trafic a un impact négligeable.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Recommandations — Leviers d'action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1605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22960"/>
            <a:ext cx="384048" cy="201168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896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HAUTE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0972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Augmenter le nombre de pages visitées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417320"/>
            <a:ext cx="36118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levier n°1 (87,5% de l'importance). Mettre en place des liens recommandés, une sidebar d'articles récents et des aperçus de numéros précédents pour inciter les visiteurs à explorer davantage de contenu.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" y="256032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potentiel : très élevé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800600" y="822960"/>
            <a:ext cx="41605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822960"/>
            <a:ext cx="384048" cy="201168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82296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896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HAUTE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257800" y="10972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Cibler les utilisateurs existants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57800" y="1417320"/>
            <a:ext cx="36118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visiteurs déjà connus convertissent 5x plus (7,2% vs 1,4%). Mettre en place du retargeting pour inciter les visiteurs à revenir sur le site. Un visiteur qui revient est un futur abonné.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257800" y="256032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potentiel : élevé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65760" y="3017520"/>
            <a:ext cx="41605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017520"/>
            <a:ext cx="384048" cy="201168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0175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30906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MOYENNE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2296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Cibler la tranche 18-25 ans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3611880"/>
            <a:ext cx="36118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jeunes professionnels (étudiants, bootcamps data) représentent le segment qui convertit le mieux par tranche d'âge (5,1%). Orienter les campagnes vers LinkedIn et les formations data.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" y="475488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potentiel : modéré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800600" y="3017520"/>
            <a:ext cx="41605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3017520"/>
            <a:ext cx="384048" cy="20116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0175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257800" y="30906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BASSE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25780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Investiguer le cas Chine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57800" y="3611880"/>
            <a:ext cx="36118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taux de 0,1% en Chine semble lié à des contraintes techniques ou réglementaires (accès internet). Ce n'est probablement pas un problème de contenu mais d'accessibilité du site.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257800" y="475488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investiguer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64008" cy="5143500"/>
          </a:xfrm>
          <a:prstGeom prst="rect">
            <a:avLst/>
          </a:prstGeom>
          <a:solidFill>
            <a:srgbClr val="2AB5A0"/>
          </a:solidFill>
          <a:ln w="12700">
            <a:solidFill>
              <a:srgbClr val="2AB5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1A6B8A">
              <a:alpha val="15000"/>
            </a:srgbClr>
          </a:solidFill>
          <a:ln w="12700">
            <a:solidFill>
              <a:srgbClr val="1A6B8A">
                <a:alpha val="2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261872"/>
            <a:ext cx="804672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1A6B8A">
                <a:alpha val="4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B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261872"/>
            <a:ext cx="7406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retenu : F1 = 0,757 — meilleur score parmi les 3 modèles testés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011680"/>
            <a:ext cx="804672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1A6B8A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0116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B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011680"/>
            <a:ext cx="7406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total_pages_visited : prédicteur dominant à 87,5% d'importance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61488"/>
            <a:ext cx="804672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1A6B8A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76148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B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761488"/>
            <a:ext cx="7406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837 prédictions de conversion générées sur le jeu de test (31 620 visiteurs)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511296"/>
            <a:ext cx="804672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1A6B8A">
                <a:alpha val="4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51129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B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511296"/>
            <a:ext cx="7406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 prioritaire : augmenter l'engagement sur le site pour faire passer les visiteurs au-delà de 15 pages vues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617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Compétition de type Kaggle — Score F1 soumis au classement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64008" cy="5143500"/>
          </a:xfrm>
          <a:prstGeom prst="rect">
            <a:avLst/>
          </a:prstGeom>
          <a:solidFill>
            <a:srgbClr val="2AB5A0"/>
          </a:solidFill>
          <a:ln w="12700">
            <a:solidFill>
              <a:srgbClr val="2AB5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1A6B8A">
              <a:alpha val="15000"/>
            </a:srgbClr>
          </a:solidFill>
          <a:ln w="12700">
            <a:solidFill>
              <a:srgbClr val="1A6B8A">
                <a:alpha val="2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et robustesse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261872"/>
            <a:ext cx="804672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1A6B8A">
                <a:alpha val="4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B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261872"/>
            <a:ext cx="7406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croisée à 5 plis : Gradient Boosting confirmé meilleur modèle (F1 moyen 0,764)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011680"/>
            <a:ext cx="804672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1A6B8A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0116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B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011680"/>
            <a:ext cx="7406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Stabilité élevée : écart-type des scores de seulement 0,006 sur les 5 plis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61488"/>
            <a:ext cx="804672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1A6B8A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76148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B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761488"/>
            <a:ext cx="7406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surapprentissage : écarts entraînement / validation très faibles (0,0004 à 0,015)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511296"/>
            <a:ext cx="8046720" cy="59436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1A6B8A">
                <a:alpha val="4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51129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B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511296"/>
            <a:ext cx="7406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Encodage one-hot des variables catégorielles : aucun ordre artificiel introduit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617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croisée K-Fold et contrôle du surapprentissage entraînement / validation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Défi du Taux de Conversion - Data Science Weekly</dc:title>
  <dc:subject>PptxGenJS Presentation</dc:subject>
  <dc:creator>Analyse Data Science</dc:creator>
  <cp:lastModifiedBy>Analyse Data Science</cp:lastModifiedBy>
  <cp:revision>1</cp:revision>
  <dcterms:created xsi:type="dcterms:W3CDTF">2026-05-16T11:21:33Z</dcterms:created>
  <dcterms:modified xsi:type="dcterms:W3CDTF">2026-05-16T11:21:33Z</dcterms:modified>
</cp:coreProperties>
</file>