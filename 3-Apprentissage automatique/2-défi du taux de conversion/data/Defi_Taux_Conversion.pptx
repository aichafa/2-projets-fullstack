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Distribution variable cible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9BD5"/>
              </a:solidFill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 converti (96,8%)</c:v>
                </c:pt>
                <c:pt idx="1">
                  <c:v>Converti (3,2%)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275400</c:v>
                </c:pt>
                <c:pt idx="1">
                  <c:v>9180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Taux de conversion par segment de pages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conversion (%)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B5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430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1-3 pages</c:v>
                  </c:pt>
                  <c:pt idx="1">
                    <c:v>4-7 pages</c:v>
                  </c:pt>
                  <c:pt idx="2">
                    <c:v>8-15 pages</c:v>
                  </c:pt>
                  <c:pt idx="3">
                    <c:v>16+ pages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0.3</c:v>
                </c:pt>
                <c:pt idx="2">
                  <c:v>10.9</c:v>
                </c:pt>
                <c:pt idx="3">
                  <c:v>94.3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Taux de conversion par pays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B5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Germany</c:v>
                  </c:pt>
                  <c:pt idx="1">
                    <c:v>UK</c:v>
                  </c:pt>
                  <c:pt idx="2">
                    <c:v>US</c:v>
                  </c:pt>
                  <c:pt idx="3">
                    <c:v>China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</c:v>
                </c:pt>
                <c:pt idx="1">
                  <c:v>5.2</c:v>
                </c:pt>
                <c:pt idx="2">
                  <c:v>3.8</c:v>
                </c:pt>
                <c:pt idx="3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Taux de conversion par source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spPr>
            <a:solidFill>
              <a:srgbClr val="1A6B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B5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Ads</c:v>
                  </c:pt>
                  <c:pt idx="1">
                    <c:v>Seo</c:v>
                  </c:pt>
                  <c:pt idx="2">
                    <c:v>Direct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3.3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Taux de conversion new_user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Utilisateur existant (0)</c:v>
                  </c:pt>
                  <c:pt idx="1">
                    <c:v>Nouvel utilisateur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7.2</c:v>
                </c:pt>
                <c:pt idx="1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Score F1 par modèle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F1</c:v>
                </c:pt>
              </c:strCache>
            </c:strRef>
          </c:tx>
          <c:spPr>
            <a:solidFill>
              <a:srgbClr val="5B9BD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9BD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Régression Logistique</c:v>
                  </c:pt>
                  <c:pt idx="1">
                    <c:v>Random Forest</c:v>
                  </c:pt>
                  <c:pt idx="2">
                    <c:v>Gradient Boosting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0.497</c:v>
                </c:pt>
                <c:pt idx="1">
                  <c:v>0.559</c:v>
                </c:pt>
                <c:pt idx="2">
                  <c:v>0.756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Importance par impureté de Gini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6B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source</c:v>
                  </c:pt>
                  <c:pt idx="1">
                    <c:v>age</c:v>
                  </c:pt>
                  <c:pt idx="2">
                    <c:v>country</c:v>
                  </c:pt>
                  <c:pt idx="3">
                    <c:v>new_user</c:v>
                  </c:pt>
                  <c:pt idx="4">
                    <c:v>total_pages_visited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0.001</c:v>
                </c:pt>
                <c:pt idx="1">
                  <c:v>0.025</c:v>
                </c:pt>
                <c:pt idx="2">
                  <c:v>0.042</c:v>
                </c:pt>
                <c:pt idx="3">
                  <c:v>0.059</c:v>
                </c:pt>
                <c:pt idx="4">
                  <c:v>0.874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2AB5A0"/>
          </a:solidFill>
          <a:ln w="12700">
            <a:solidFill>
              <a:srgbClr val="2AB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1A6B8A">
              <a:alpha val="18000"/>
            </a:srgbClr>
          </a:solidFill>
          <a:ln w="12700">
            <a:solidFill>
              <a:srgbClr val="1A6B8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2AB5A0">
              <a:alpha val="12000"/>
            </a:srgbClr>
          </a:solidFill>
          <a:ln w="12700">
            <a:solidFill>
              <a:srgbClr val="2AB5A0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du Taux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Conversion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abonnements à la newsletter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Weekly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2926080" cy="594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931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: Score F1   |   Gradient Boosting : F1 = 0,7556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94360" cy="6583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70432" y="9509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Données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24358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projet, jeu de données, variables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19072"/>
            <a:ext cx="594360" cy="6583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17556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(EDA)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0482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corrélations, anomalies, visualisations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594360" cy="6583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2560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285292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modèles comparés : Régression Logistique, Random Forest, Gradient Boosting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28416"/>
            <a:ext cx="594360" cy="6583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2841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0432" y="33649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Prédictions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365760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F1, ROC-AUC, prédictions sur le jeu de 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33088"/>
            <a:ext cx="594360" cy="6583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3308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0432" y="41696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4622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Leviers d'action pour améliorer le taux de conversion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Contexte &amp;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www.datascienceweekly.org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hebdomadaire sur la data science rédigée par des experts indépendants.
</a:t>
            </a:r>
            <a:pPr algn="l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si un visiteur va s'abonner à partir de son comportement de navigation.
</a:t>
            </a:r>
            <a:pPr algn="l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 de type Kaggle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imposée : Score F1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062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68680"/>
            <a:ext cx="4206240" cy="347472"/>
          </a:xfrm>
          <a:prstGeom prst="rect">
            <a:avLst/>
          </a:prstGeom>
          <a:solidFill>
            <a:srgbClr val="2AB5A0"/>
          </a:solidFill>
          <a:ln w="12700">
            <a:solidFill>
              <a:srgbClr val="2AB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du jeu de données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35024"/>
            <a:ext cx="39776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3533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5544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17920" y="13533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(China, Germany, UK, US)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847088"/>
            <a:ext cx="39776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8653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36592" y="20665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17920" y="18653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visiteur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359152"/>
            <a:ext cx="39776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2377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new_user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6592" y="25786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17920" y="2377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1=nouveau, 0=existant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39776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889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30906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/ Seo / Direct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397764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401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36027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17920" y="3401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vues en session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895344"/>
            <a:ext cx="3977640" cy="420624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 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36592" y="4114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39136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1=abonné, 0=non abonné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Analyse Exploratoire — Déséquilibre &amp; Anomalie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804672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754880" y="804672"/>
            <a:ext cx="1325880" cy="1097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8961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284 580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754880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 (train)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36208" y="804672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36208" y="804672"/>
            <a:ext cx="1325880" cy="1097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8961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36208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717536" y="804672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17536" y="804672"/>
            <a:ext cx="1325880" cy="1097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17536" y="89611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31 620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17536" y="13716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Visiteurs (test)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993392"/>
            <a:ext cx="4041648" cy="1280160"/>
          </a:xfrm>
          <a:prstGeom prst="rect">
            <a:avLst/>
          </a:prstGeom>
          <a:solidFill>
            <a:srgbClr val="FFF3E0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993392"/>
            <a:ext cx="4041648" cy="3200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1993392"/>
            <a:ext cx="4041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détectée : âge = 123 ans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64608" y="2359152"/>
            <a:ext cx="382219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lignes avec un âge &gt; 80 ans dont une à 123 ans — clairement une erreur de saisie (&lt; 0,001% des données). Ces lignes ont été supprimées pour ne pas biaiser le modèle.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069080"/>
            <a:ext cx="8412480" cy="566928"/>
          </a:xfrm>
          <a:prstGeom prst="rect">
            <a:avLst/>
          </a:prstGeom>
          <a:solidFill>
            <a:srgbClr val="0A2342">
              <a:alpha val="10000"/>
            </a:srgbClr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0690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fort déséquilibre des classes (3,2% de positifs) impose l'utilisation du paramètre class_weight='balanced' dans tous les modèles.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Analyse Exploratoire — Corrélations &amp; Pages visitées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avec converted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0" cy="1828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261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+0,53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(enc.)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0" cy="1828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+0,08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70048"/>
            <a:ext cx="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3957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62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new_user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236976"/>
            <a:ext cx="0" cy="182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9626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(enc.)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803904"/>
            <a:ext cx="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5295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-0,00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0" y="822960"/>
          <a:ext cx="4206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Analyse Exploratoire — Variables catégorielles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04672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3337560" y="804672"/>
          <a:ext cx="2743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6309360" y="804672"/>
          <a:ext cx="2468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365760" y="3657600"/>
            <a:ext cx="4160520" cy="1005840"/>
          </a:xfrm>
          <a:prstGeom prst="rect">
            <a:avLst/>
          </a:prstGeom>
          <a:solidFill>
            <a:srgbClr val="FFF3E0"/>
          </a:solidFill>
          <a:ln w="10160">
            <a:solidFill>
              <a:srgbClr val="ED7D31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75488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 : 0,1%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75488" y="3959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Internet restreint — probablement un problème de collecte.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4800600" y="3657600"/>
            <a:ext cx="4160520" cy="1005840"/>
          </a:xfrm>
          <a:prstGeom prst="rect">
            <a:avLst/>
          </a:prstGeom>
          <a:solidFill>
            <a:srgbClr val="E8F5E9"/>
          </a:solidFill>
          <a:ln w="10160">
            <a:solidFill>
              <a:srgbClr val="70AD4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4910328" y="3703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existants 5x plus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910328" y="3959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new_user=0 → 7,2% vs new_user=1 → 1,4% : ils connaissent déjà le site.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Modélisation — 3 modèles comparés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4320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00584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: StandardScaler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1207008" cy="594360"/>
          </a:xfrm>
          <a:prstGeom prst="rect">
            <a:avLst/>
          </a:prstGeom>
          <a:solidFill>
            <a:srgbClr val="F0F4F8"/>
          </a:solidFill>
          <a:ln w="10160">
            <a:solidFill>
              <a:srgbClr val="5B9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35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0,497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10512" y="3035808"/>
            <a:ext cx="1207008" cy="594360"/>
          </a:xfrm>
          <a:prstGeom prst="rect">
            <a:avLst/>
          </a:prstGeom>
          <a:solidFill>
            <a:srgbClr val="F0F4F8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10512" y="3035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10512" y="3273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37307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référence simple et interprétable.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8229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822960"/>
            <a:ext cx="274320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1280160"/>
            <a:ext cx="1005840" cy="2286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AMÉLIORÉ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3280" y="157276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min_samples_leaf=10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3035808"/>
            <a:ext cx="1207008" cy="594360"/>
          </a:xfrm>
          <a:prstGeom prst="rect">
            <a:avLst/>
          </a:prstGeom>
          <a:solidFill>
            <a:srgbClr val="F0F4F8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035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3273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0,559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736592" y="3035808"/>
            <a:ext cx="1207008" cy="594360"/>
          </a:xfrm>
          <a:prstGeom prst="rect">
            <a:avLst/>
          </a:prstGeom>
          <a:solidFill>
            <a:srgbClr val="F0F4F8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35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6592" y="3273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3383280" y="37307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native des non-linéarités, robuste au bruit.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822960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822960"/>
            <a:ext cx="2743200" cy="38404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1280160"/>
            <a:ext cx="1005840" cy="2286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309360" y="1572768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n_estimators=200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learning_rate=0,05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subsample=0,8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09360" y="3035808"/>
            <a:ext cx="1207008" cy="594360"/>
          </a:xfrm>
          <a:prstGeom prst="rect">
            <a:avLst/>
          </a:prstGeom>
          <a:solidFill>
            <a:srgbClr val="F0F4F8"/>
          </a:solidFill>
          <a:ln w="10160">
            <a:solidFill>
              <a:srgbClr val="ED7D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035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273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0,756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662672" y="3035808"/>
            <a:ext cx="1207008" cy="594360"/>
          </a:xfrm>
          <a:prstGeom prst="rect">
            <a:avLst/>
          </a:prstGeom>
          <a:solidFill>
            <a:srgbClr val="F0F4F8"/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62672" y="30358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62672" y="327355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0,986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309360" y="373075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séquentielle, corrige les erreurs itérativement.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Résultats — Comparaison des performances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04672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22960"/>
            <a:ext cx="137160" cy="11430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9326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989320" y="1444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F1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148840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148840"/>
            <a:ext cx="137160" cy="11430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22585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0,986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98932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max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modèles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3474720"/>
            <a:ext cx="30175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474720"/>
            <a:ext cx="137160" cy="11430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584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31 620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5989320" y="4096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test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4325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 834 convertis prédits (2,6%)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65760" y="4133088"/>
            <a:ext cx="5029200" cy="566928"/>
          </a:xfrm>
          <a:prstGeom prst="rect">
            <a:avLst/>
          </a:prstGeom>
          <a:solidFill>
            <a:srgbClr val="0A2342">
              <a:alpha val="10000"/>
            </a:srgbClr>
          </a:solidFill>
          <a:ln w="10160">
            <a:solidFill>
              <a:srgbClr val="1A6B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13308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: +26 pts de F1 vs baseline. ROC-AUC &gt; 0,98 pour les 3 modèles.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Résultats — Importance des variables (Gradient Boosting)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04672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04672"/>
            <a:ext cx="28346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804672"/>
            <a:ext cx="283464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804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53328" y="12801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87,4 %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1280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053328" y="1554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Prédicteur quasi unique. Le comportement de navigation prime sur tout le reste.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053328" y="1920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5,9 %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0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new_user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53328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existants convertissent 5x plus que les nouveaux.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53328" y="2560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0" y="2560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053328" y="28346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Chine tire le score vers le bas (0,1% de conversion).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53328" y="320040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66560" y="3200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053328" y="34747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18-25 ans convertissent légèrement plus.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53328" y="38404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0,1 %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66560" y="3840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053328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source du trafic a un impact négligeable.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Recommandations — Leviers d'action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" cy="2011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Augmenter le nombre de pages visitées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levier n°1 (87,4% de l'importance). Mettre en place des liens recommandés, une sidebar d'articles récents et des aperçus de numéros précédents pour inciter les visiteurs à explorer davantage de contenu.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potentiel : très élevé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822960"/>
            <a:ext cx="384048" cy="2011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229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896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57800" y="1097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utilisateurs existants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141732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visiteurs déjà connus convertissent 5x plus (7,2% vs 1,4%). Mettre en place du retargeting pour inciter les visiteurs à revenir sur le site. Un visiteur qui revient est un futur abonné.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57800" y="25603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potentiel : élevé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017520"/>
            <a:ext cx="384048" cy="201168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3090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MOYENNE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la tranche 18-25 ans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jeunes professionnels (étudiants, bootcamps data) représentent le segment qui convertit le mieux par tranche d'âge (5,1%). Orienter les campagnes vers LinkedIn et les formations data.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potentiel : modéré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1605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017520"/>
            <a:ext cx="384048" cy="2011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01752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57800" y="30906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BASSE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57800" y="329184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Investiguer le cas Chine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3611880"/>
            <a:ext cx="3611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taux de 0,1% en Chine semble lié à des contraintes techniques ou réglementaires (accès internet). Ce n'est probablement pas un problème de contenu mais d'accessibilité du site.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47548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investiguer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64008" cy="5143500"/>
          </a:xfrm>
          <a:prstGeom prst="rect">
            <a:avLst/>
          </a:prstGeom>
          <a:solidFill>
            <a:srgbClr val="2AB5A0"/>
          </a:solidFill>
          <a:ln w="12700">
            <a:solidFill>
              <a:srgbClr val="2AB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A6B8A">
              <a:alpha val="15000"/>
            </a:srgbClr>
          </a:solidFill>
          <a:ln w="12700">
            <a:solidFill>
              <a:srgbClr val="1A6B8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A6B8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retenu : F1 = 0,756 — meilleur score parmi les 3 modèles testés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A6B8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1168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total_pages_visited : prédicteur dominant à 87,4% d'importance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61488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A6B8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6148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761488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 prédictions de conversion générées sur le jeu de test (31 620 visiteurs)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11296"/>
            <a:ext cx="804672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1A6B8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1129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Levier prioritaire : augmenter l'engagement sur le site pour faire passer les visiteurs au-delà de 15 pages vues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 de type Kaggle — Score F1 soumis au classement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Défi du Taux de Conversion - Data Science Weekly</dc:title>
  <dc:subject>PptxGenJS Presentation</dc:subject>
  <dc:creator>Analyse Data Science</dc:creator>
  <cp:lastModifiedBy>Analyse Data Science</cp:lastModifiedBy>
  <cp:revision>1</cp:revision>
  <dcterms:created xsi:type="dcterms:W3CDTF">2026-05-16T11:21:33Z</dcterms:created>
  <dcterms:modified xsi:type="dcterms:W3CDTF">2026-05-16T11:21:33Z</dcterms:modified>
</cp:coreProperties>
</file>